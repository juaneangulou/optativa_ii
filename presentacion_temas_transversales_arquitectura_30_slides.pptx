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87451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7C7D5"/>
                </a:solidFill>
                <a:latin typeface="Aptos"/>
              </a:defRPr>
            </a:pPr>
            <a:r>
              <a:t>ARQUITECTURA DE SOFTWARE  /  SESION COMPLEMENTARIA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317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B48"/>
                </a:solidFill>
                <a:latin typeface="Aptos Display"/>
              </a:defRPr>
            </a:pPr>
            <a:r>
              <a:t>30 temas transversales</a:t>
            </a:r>
            <a:br/>
            <a:r>
              <a:t>para conectar la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822191"/>
            <a:ext cx="8961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F3C"/>
                </a:solidFill>
                <a:latin typeface="Aptos"/>
              </a:defRPr>
            </a:pPr>
            <a:r>
              <a:rPr dirty="0"/>
              <a:t>Una </a:t>
            </a:r>
            <a:r>
              <a:rPr dirty="0" err="1"/>
              <a:t>mirada</a:t>
            </a:r>
            <a:r>
              <a:rPr dirty="0"/>
              <a:t> </a:t>
            </a:r>
            <a:r>
              <a:rPr dirty="0" err="1"/>
              <a:t>complementaria</a:t>
            </a:r>
            <a:r>
              <a:rPr dirty="0"/>
              <a:t> a los videos: </a:t>
            </a:r>
            <a:r>
              <a:rPr dirty="0" err="1"/>
              <a:t>gobierno</a:t>
            </a:r>
            <a:r>
              <a:rPr dirty="0"/>
              <a:t>, </a:t>
            </a:r>
            <a:r>
              <a:rPr dirty="0" err="1"/>
              <a:t>producto</a:t>
            </a:r>
            <a:r>
              <a:rPr dirty="0"/>
              <a:t>, personas, </a:t>
            </a:r>
            <a:r>
              <a:rPr dirty="0" err="1"/>
              <a:t>datos</a:t>
            </a:r>
            <a:r>
              <a:rPr dirty="0"/>
              <a:t>, </a:t>
            </a:r>
            <a:r>
              <a:rPr dirty="0" err="1"/>
              <a:t>costos</a:t>
            </a:r>
            <a:r>
              <a:rPr dirty="0"/>
              <a:t>, </a:t>
            </a:r>
            <a:r>
              <a:rPr dirty="0" err="1"/>
              <a:t>regulacion</a:t>
            </a:r>
            <a:r>
              <a:rPr dirty="0"/>
              <a:t>, </a:t>
            </a:r>
            <a:r>
              <a:rPr dirty="0" err="1"/>
              <a:t>sostenibilidad</a:t>
            </a:r>
            <a:r>
              <a:rPr dirty="0"/>
              <a:t> y </a:t>
            </a:r>
            <a:r>
              <a:rPr dirty="0" err="1"/>
              <a:t>aprendizaje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01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Gobierno tecnico sin burocracia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Hacer visible quien decide, con que evidencia y cuando revisar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02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el conjunto de reglas, responsables y espacios para tomar y revisar decisiones tecnicas.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Definir foros, niveles de decision y responsables por dominio.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Usar ADR, principios y excepciones como memoria operativa.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Medir el valor del gobierno por decisiones mas rapidas y reversibles.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Arquitectura y estrategia de 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La estructura tecnica debe proteger una apuesta de negocio concreta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03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conectar las decisiones de software con el valor, los usuarios y los objetivos del producto.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Traducir objetivos de producto en capacidades y restricciones tecnicas.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Priorizar arquitectura junto al roadmap, no despues de las funcionalidades.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Revisar si cada iniciativa aumenta valor, aprendizaje o capacidad de cambio.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Portafolio y racionalizacion de aplicaciones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No todo sistema merece crecer, migrarse o mantenerse igual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04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evaluar todas las aplicaciones para decidir en cuales invertir, cambiar, consolidar o retirar.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Clasificar aplicaciones por valor, riesgo, costo y salud tecnica.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Elegir entre invertir, modernizar, reemplazar, consolidar o retirar.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Evitar duplicar capacidades solo porque cada equipo optimiza localmente.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Arquitectura empresarial ligera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Conectar capacidades, procesos, datos y tecnologia sin crear mapas inmantenibles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05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una vista de alto nivel que relaciona capacidades del negocio, procesos, datos, aplicaciones y tecnologia.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Usar mapas de capacidades para conversar con negocio.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Relacionar capacidades con aplicaciones, equipos y riesgos.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Mantener el nivel de detalle que habilita decisiones reales.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FinOps y costo como atributo de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El costo operativo tambien tiene umbrales y escenarios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06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FinOps es la practica de gestionar el costo de tecnologia con colaboracion entre negocio, ingenieria y finanzas.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Asignar costo por producto, dominio, ambiente o unidad de negocio.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Observar costo por transaccion, usuario, pedido o evento.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Comparar elasticidad, rendimiento y resiliencia contra gasto sostenible.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Sostenibilidad del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La arquitectura puede reducir consumo sin sacrificar el servicio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07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disenar y operar software usando menos energia y recursos durante todo su ciclo de vida.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Medir computo, almacenamiento, transferencia y tiempo de ejecucion.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Preferir componentes eficientes y apagado de recursos no utilizados.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Incluir huella ambiental junto con costo y rendimiento en la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Accesibilidad desde la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La inclusion no debe depender de una correccion al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08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lograr que personas con distintas capacidades puedan usar el sistema y sus contenidos.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Incluir necesidades de personas con distintas capacidades en requisitos.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Proteger teclado, contraste, semantica, lectura y alternativas de contenido.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Validar accesibilidad con pruebas automatizadas y personas usuarias.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Privacidad por diseno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Minimizar datos es una decision estructural, no solo 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09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incorporar proteccion y minimizacion de datos desde el diseno, no como correccion posterior.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Recolectar solo lo necesario para una finalidad explicita.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Separar identidad, datos operativos y datos de analitica cuando corresponda.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Definir retencion, borrado, acceso y trazabilidad desde el modelo de datos.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Cumplimiento y evidencia auditable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Una regla que no puede demostrarse depende de la memoria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10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convertir leyes, politicas y normas en controles cuya ejecucion pueda demostrarse.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Traducir obligaciones regulatorias en controles verificables.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Conservar evidencia de accesos, cambios, aprobaciones y excepciones.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Diseñar auditoria proporcional al riesgo, no registros indiscriminados.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Amenazas de la cadena de suministro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El sistema tambien depende de paquetes, imagenes y proveedores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11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Son riesgos introducidos por dependencias externas, paquetes, imagenes, herramientas o proveedores.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Mantener inventario de componentes y versiones utilizadas.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Verificar origen, integridad, licencias y vulnerabilidades.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Preparar reemplazo o aislamiento para dependencias comprometidas.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Identidad, acceso y confianza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La frontera real del sistema incluye personas, servicios y dispositivos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12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comprobar quien solicita una accion y autorizar solo lo que necesita para realizarla.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Aplicar minimo privilegio y separar funciones sensibles.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Preferir identidad verificable de servicio a secretos compartidos.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Revisar permisos como parte del ciclo de vida, no solo al alta.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Gobierno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Los datos necesitan propietarios, definiciones y reglas de calidad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13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definir quien es responsable de los datos, que significan, como se protegen y como se comprueba su calidad.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Asignar ownership y custodios para datos criticos.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Definir significado, linaje, calidad y nivel de sensibilidad.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Resolver conflictos de definicion antes de construir integraciones.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Arquitectura analitica y operacional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Consultar historicos no debe degradar el camino transaccional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14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separar o coordinar el procesamiento de operaciones del negocio y el analisis historico.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Separar cargas de lectura intensiva de operaciones criticas.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Elegir frescura, consistencia y latencia segun la decision que se necesita.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Documentar origen y transformaciones para que el indicador sea confiable.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Calidad de decisiones con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Un tablero no corrige una metrica mal definida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15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usar mediciones definidas y confiables para elegir acciones, no solo para llenar tableros.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Acordar definiciones, unidad, ventana temporal y poblacion.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Distinguir metrica de vanidad, indicador operativo y resultado de negocio.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Validar que la medicion cambie una decision o comportamiento.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Experiencia de usuario y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La latencia y la incertidumbre se sienten como parte del producto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16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considerar como latencia, errores, disponibilidad y estados del sistema afectan a quien lo usa.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Diseñar estados de carga, error, reintento y trabajo offline cuando aplique.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Proteger los caminos criticos que afectan confianza y conversion.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Usar investigacion de usuarios para descubrir costos tecnicos invisibles.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Diseno de servicios internos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La arquitectura tambien debe cuidar a sus consumidores tecnicos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17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tratar APIs, librerias y plataformas para otros equipos como productos con usuarios y soporte.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Tratar APIs internas, librerias y plataformas como productos.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Publicar contratos, ejemplos, limites, soporte y ciclo de vida.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Medir adopcion, friccion y tiempo de integracion de los equipos.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Plataforma interna y golden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Estandarizar lo repetitivo libera energia para el problema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18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Una plataforma interna ofrece capacidades comunes; un golden path es el camino recomendado para usarlas.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Ofrecer caminos recomendados para desplegar, observar y asegurar servicios.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Permitir excepciones explicitas cuando el contexto las justifique.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Medir si la plataforma reduce carga cognitiva y tiempo de entrega.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Arquitectura y equipos: ley de Conway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Las comunicaciones de la organizacion aparecen en el 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19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La ley de Conway dice que los sistemas tienden a reflejar las estructuras de comunicacion de sus organizaciones.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Alinear limites de equipos con responsabilidades de dominio.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Reducir dependencias entre equipos que deben entregar con frecuencia.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Usar cambios organizacionales y tecnicos de forma coordinada.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Team Topologies aplicado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La forma de colaborar condiciona el flujo de cambio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20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un modelo para organizar equipos y sus interacciones de modo que el trabajo fluya con menos dependencias.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Distinguir equipos stream-aligned, plataforma y habilitadores.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Diseñar interacciones temporales y limites claros de responsabilidad.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Evitar plataformas que se convierten en cuellos de botella centrales.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Conocimiento y bus factor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Una arquitectura robusta no depende de una sola 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21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Bus factor es cuantas personas podrian ausentarse antes de que un componente quede sin conocimiento operativo suficiente.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Distribuir conocimiento mediante revisiones, pairing y documentacion breve.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Identificar componentes cuyo mantenimiento depende de un unico experto.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Practicar rotacion y simulaciones de ausencia en areas criticas.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Arquitectura para adquisiciones y licitaciones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Comprar tecnologia tambien es tomar decisiones de arquitectura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22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definir necesidades y criterios tecnicos para comprar soluciones comparables y verificables.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Convertir necesidades en capacidades, criterios y escenarios verificables.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Evitar especificaciones que nombren una solucion antes del problema.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Evaluar salida, portabilidad, datos, soporte y costo de cambio.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Vendor lock-in consciente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La dependencia puede ser una estrategia valida si se hace explicita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23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quedar dependiente de un proveedor; puede aceptarse si el beneficio, el costo y la salida estan explicitados.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Distinguir lock-in accidental de una eleccion con valor medible.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Definir que capacidades deben ser portables y cuales no.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Mantener datos, contratos y procesos de salida documentados.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Interoperabilidad y estandares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Los estandares reducen friccion cuando las fronteras son numerosas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24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Interoperabilidad es que sistemas diferentes puedan intercambiar datos y usarlos con el mismo significado.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Elegir formatos y protocolos por contexto, madurez y ecosistema.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Definir semantica comun, no solo una sintaxis compatible.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Probar interoperabilidad con consumidores reales y versiones reales.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Migraciones sin detener el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Cambiar una arquitectura es gestionar estados intermedios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25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cambiar una arquitectura gradualmente mientras la version actual y la nueva conviven de forma controlada.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Separar estado actual, estado objetivo y pasos verificables.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Mantener compatibilidad temporal y una estrategia de retiro.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Definir criterios para avanzar, pausar o revertir cada etapa.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Continuidad de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Disponibilidad no es lo mismo que capacidad de recuperacion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26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la capacidad de mantener o recuperar procesos criticos despues de una interrupcion.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Identificar procesos criticos, dependencias y tiempos tolerables.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Definir RTO, RPO y procedimientos que una persona pueda ejecutar.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Probar recuperacion con escenarios y no solo con documentos.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Gestion de incidentes y aprendizaje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Un incidente debe mejorar el sistema, no solo cerrarse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27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responder a fallas, reducir su impacto y convertir lo aprendido en mejoras permanentes.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Separar respuesta urgente de analisis posterior sin culpabilizar.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Conservar linea de tiempo, impacto, deteccion y decisiones tomadas.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Convertir hallazgos en cambios de arquitectura, pruebas o controles.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Etica de automatizacion e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Automatizar no elimina sesgos, responsabilidad ni necesidad de supervision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28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evaluar consecuencias, sesgos, limites y responsabilidad cuando una tecnologia toma o recomienda decisiones.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Definir usos permitidos, limites y casos que requieren revision humana.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Evaluar calidad, sesgo, explicabilidad, privacidad y seguridad del modelo.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Registrar datos, versiones y criterios para poder cuestionar el resultado.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Arquitectura para trabajo remoto y asincrono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La informacion debe viajar sin depender de reuniones constantes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29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organizar herramientas, informacion y decisiones para colaborar sin coincidir siempre en lugar u horario.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Preferir decisiones escritas, contexto accesible y acuerdos visibles.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Diseñar flujos de revision que toleren zonas horarias y pausas.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Medir tiempos de espera y cantidad de dependencias entre equipos.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41071" cy="685800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28600"/>
            <a:ext cx="73152" cy="502920"/>
          </a:xfrm>
          <a:prstGeom prst="rect">
            <a:avLst/>
          </a:prstGeom>
          <a:solidFill>
            <a:srgbClr val="DC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Madurez arquitectonica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66751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Madurar no es agregar ceremonias: es decidir mejor con menos sorpresa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DCAA41"/>
                </a:solidFill>
                <a:latin typeface="Aptos Display"/>
              </a:defRPr>
            </a:pPr>
            <a: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881360" cy="10972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TEMAS TRANSVERSALES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22B48"/>
                </a:solidFill>
                <a:latin typeface="Aptos"/>
              </a:defRPr>
            </a:pPr>
            <a:r>
              <a:t>30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835640" cy="42976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7E7E"/>
                </a:solidFill>
                <a:latin typeface="Aptos"/>
              </a:defRPr>
            </a:pPr>
            <a:r>
              <a:t>QUE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B48"/>
                </a:solidFill>
                <a:latin typeface="Aptos"/>
              </a:defRPr>
            </a:pPr>
            <a:r>
              <a:t>Es la capacidad de tomar decisiones consistentes, comprobarlas y aprender sin agregar ceremonias innecesarias.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Evaluar practica, evidencia y resultados, no cantidad de documentos.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Empezar por los riesgos que mas afectan al producto y a sus usuarios.</a:t>
            </a:r>
          </a:p>
          <a:p>
            <a:pPr>
              <a:spcAft>
                <a:spcPts val="1400"/>
              </a:spcAft>
              <a:defRPr sz="1700">
                <a:solidFill>
                  <a:srgbClr val="232F3C"/>
                </a:solidFill>
                <a:latin typeface="Aptos"/>
              </a:defRPr>
            </a:pPr>
            <a:r>
              <a:t>- Revisar periodicamente si el nivel de control sigue siendo proporcional.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2297</Words>
  <Application>Microsoft Office PowerPoint</Application>
  <PresentationFormat>Panorámica</PresentationFormat>
  <Paragraphs>295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Juan Esteban Angulo Uribe</cp:lastModifiedBy>
  <cp:revision>3</cp:revision>
  <dcterms:created xsi:type="dcterms:W3CDTF">2013-01-27T09:14:16Z</dcterms:created>
  <dcterms:modified xsi:type="dcterms:W3CDTF">2026-09-18T02:58:21Z</dcterms:modified>
  <cp:category/>
</cp:coreProperties>
</file>