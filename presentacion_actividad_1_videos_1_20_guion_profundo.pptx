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explicando que esta no es una presentacion resumen.</a:t>
            </a:r>
          </a:p>
          <a:p>
            <a:r>
              <a:t>Es un script de produccion para grabacion y clase.</a:t>
            </a:r>
          </a:p>
          <a:p>
            <a:r>
              <a:t>Aclarar que todo el contenido usa el problema oficial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Repetir este ritmo en los 20 videos para consistencia didactica.</a:t>
            </a:r>
          </a:p>
          <a:p>
            <a:r>
              <a:t>No cerrar video sin dejar entregable puntual.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hook literalmente en forma de pregunta.</a:t>
            </a:r>
          </a:p>
          <a:p>
            <a:r>
              <a:t>Explicar la idea central con un contraejemplo.</a:t>
            </a:r>
          </a:p>
          <a:p>
            <a:r>
              <a:t>Conectar con el caso oficial antes del minuto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pantalla la ruta de archivo donde guardar la evidencia.</a:t>
            </a:r>
          </a:p>
          <a:p>
            <a:r>
              <a:t>Cerrar con checklist rapido de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cierre debe dejar listo el puente para Actividad 2.</a:t>
            </a:r>
          </a:p>
          <a:p>
            <a:r>
              <a:t>Preguntar: que decision tomamos y por que?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Guion visual profundo - Actividad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Script de produccion para videos 1 al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62C33"/>
                </a:solidFill>
              </a:defRPr>
            </a:pPr>
            <a:r>
              <a:t>Objetivo: entrar en profundidad en cada tema con narrativa, ejemplo y practica.</a:t>
            </a:r>
          </a:p>
          <a:p>
            <a:pPr>
              <a:defRPr sz="2000">
                <a:solidFill>
                  <a:srgbClr val="262C33"/>
                </a:solidFill>
              </a:defRPr>
            </a:pPr>
            <a:r>
              <a:t>Caso obligatorio: Plataforma logistica compleja de ultima milla para retail digital.</a:t>
            </a:r>
          </a:p>
          <a:p>
            <a:pPr>
              <a:defRPr sz="2000">
                <a:solidFill>
                  <a:srgbClr val="262C33"/>
                </a:solidFill>
              </a:defRPr>
            </a:pPr>
            <a:r>
              <a:t>Formato por video: hook, explicacion, demostracion, ejercicio, evidencia.</a:t>
            </a:r>
          </a:p>
          <a:p>
            <a:pPr>
              <a:defRPr sz="2000">
                <a:solidFill>
                  <a:srgbClr val="262C33"/>
                </a:solidFill>
              </a:defRPr>
            </a:pPr>
            <a:r>
              <a:t>Resultado: base solida para construir las Actividades 2-5.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Guion maestro | Actividad 1 | Videos 1-20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Metodo de grabacion por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Plantilla operativa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62C33"/>
                </a:solidFill>
              </a:defRPr>
            </a:pPr>
            <a:r>
              <a:t>Min 0-2: Hook y contexto del problema.</a:t>
            </a:r>
          </a:p>
          <a:p>
            <a:pPr>
              <a:defRPr sz="2000">
                <a:solidFill>
                  <a:srgbClr val="262C33"/>
                </a:solidFill>
              </a:defRPr>
            </a:pPr>
            <a:r>
              <a:t>Min 2-8: Marco conceptual profundo.</a:t>
            </a:r>
          </a:p>
          <a:p>
            <a:pPr>
              <a:defRPr sz="2000">
                <a:solidFill>
                  <a:srgbClr val="262C33"/>
                </a:solidFill>
              </a:defRPr>
            </a:pPr>
            <a:r>
              <a:t>Min 8-13: Ejemplo aplicado al caso retail.</a:t>
            </a:r>
          </a:p>
          <a:p>
            <a:pPr>
              <a:defRPr sz="2000">
                <a:solidFill>
                  <a:srgbClr val="262C33"/>
                </a:solidFill>
              </a:defRPr>
            </a:pPr>
            <a:r>
              <a:t>Min 13-16: Ejercicio guiado y evidencia esperada.</a:t>
            </a:r>
          </a:p>
          <a:p>
            <a:pPr>
              <a:defRPr sz="2000">
                <a:solidFill>
                  <a:srgbClr val="262C33"/>
                </a:solidFill>
              </a:defRPr>
            </a:pPr>
            <a:r>
              <a:t>Min 16-18: Cierre con decision y transicion al siguiente video.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Guion maestro | Actividad 1 | Videos 1-20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1: Bienvenida: como pensar arquitectura en este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Que pasa cuando un equipo implementa rapido pero no puede cambiar nada al mes 2?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Enmarcar la ruta completa y el resultado esperado de la Actividad 1.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La arquitectura se aprende tomando decisiones con evidencia, no memorizando patrones.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Mapa del flujo pedido-inventario-ruta-entrega-incidencia en el caso retail.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 | Script narrativo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Crear una diapositiva con objetivo del producto, alcance MVP y 3 riesgos iniciales.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README inicial + objetivo de arquitectura de la actividad.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 | Practica y evidencia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2: La arquitectura como conjunto de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Si hoy eliges integracion sin contrato, cuanto costara cambiar proveedor despues?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Vincular cada decision tecnica con impacto en costo, riesgo y calidad.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Una decision arquitectonica define opciones futuras y limita otras.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Decision: monolito modular inicial vs servicios tempranos para pedidos y ruteo.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2 | Script narrativo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2: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Escribir ADR-001 con contexto, alternativa A/B y decision preliminar.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ADR-001 borrador.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2 | Practica y evidencia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3: El costo invisible de elegir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Cuanto cuesta una hora de caida en la ventana de mayor demanda?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Hacer visible el costo oculto de retrabajo, deuda y fallos operativos.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La deuda arquitectonica cobra intereses en cada cambio.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Sobrecarga en asignacion de rutas por no separar responsabilidades criticas.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3 | Script narrativo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3: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Construir matriz de costos ocultos: tecnico, operativo, reputacional.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Matriz de costos ocultos.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3 | Practica y evidencia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4: El arquitecto y las conversaciones dificiles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Como resolver seguridad vs velocidad sin paralizar entregas?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Entrenar el rol de facilitacion entre negocio, desarrollo y operaciones.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Arquitectura es conversacion estructurada sobre trade-offs.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Mesa de decision entre producto, operaciones y seguridad para picos de demanda.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4 | Script narrativo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4: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Mapa de actores con objetivos, tensiones y poder de decision.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Mapa de actores y conflictos.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4 | Practica y evidencia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5: Problema esencial vs detalle incidental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Tu equipo discute framework, pero ya validaron la restriccion de entrega?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Separar necesidad de negocio de preferencia tecnologica.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Primero el problema que duele, despues la tecnologia que ayuda.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Problema esencial: retrasos y poca trazabilidad; incidental: lenguaje y framework.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5 | Script narrativo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5: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Arbol de problema con causa-raiz y efectos medibles.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Arbol de problema validado.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5 | Practica y evidencia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6: Deuda tecnica y acoplamiento: senales tempranas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Si todo cambio toca 6 modulos, realmente tienes arquitectura?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Detectar sintomas de deterioro antes del colapso del equipo.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Acoplamiento alto reduce velocidad y aumenta riesgo en cada release.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Modulo de pedidos acoplado a pagos, notificaciones y ruteo en una sola capa.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6 | Script narrativo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6: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Matriz de riesgo tecnico con probabilidad, impacto y mitigacion.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Registro de riesgos tecnicos.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6 | Practica y evidencia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7: Del problema a las fronteras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Que parte del fallo es tuya y cual es del proveedor externo?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Delimitar fronteras del sistema y responsabilidades externas/internas.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Sin fronteras, no hay control de complejidad.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Contexto: app cliente, operador, repartidor, pagos, mapas, ERP inventario.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7 | Script narrativo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7: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Diagrama de contexto con interfaces y ownership.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Diagrama de contexto version 1.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7 | Practica y evidencia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8: Requisitos que cambian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Este requisito cambia una clase o cambia todo el sistema?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Priorizar requisitos de impacto estructural.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No todo requisito cambia arquitectura; algunos solo cambian UI.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RF critico: reasignacion de ruta ante incidente en menos de 30 segundos.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8 | Script narrativo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8: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Backlog priorizado por valor, riesgo y dependencia.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Tabla de requisitos priorizados.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8 | Practica y evidencia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9: Calidad medible: rendimiento, seguridad y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Que significa realmente rapido para el negocio?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Definir escenarios de calidad verificables.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Calidad sin metrica es opinion.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95% de creacion de pedido &lt;2s en hora pico con 3x carga.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9 | Script narrativo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9: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Redactar 4 escenarios de calidad (rendimiento, seguridad, disponibilidad, cambio).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Escenarios de calidad con metrica.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9 | Practica y evidencia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10: Costo total de operacion y costo de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Tu estimacion incluye soporte nocturno e incidentes?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Estimar costo de construir, operar y evolucionar.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La arquitectura mala parece barata al inicio y cara despues.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Comparar costo anual de monolito modular vs servicios por dominio.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10 | Script narrativo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10: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Modelo TCO con supuestos explicitos.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Modelo de costos y supuestos.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10 | Practica y evidencia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11: Disenar para la incertidumbre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Que decision puedes revertir en una semana y cual no?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Gestionar decisiones reversibles y experimentos tecnicos.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Arquitectura robusta aprende rapido y corrige temprano.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Probar estrategia de eventos en un flujo critico sin migrar todo el sistema.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11 | Script narrativo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11: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Registro de supuestos + gatillos de revision.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Registro de supuestos version 1.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11 | Practica y evidencia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12: Elegir estructura sin seguir modas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Microservicios por moda o por necesidad demostrada?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Evaluar opciones estructurales con criterios objetivos.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La mejor arquitectura es contextual, no universal.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Matriz de decision: capas, monolito modular, servicios por dominio.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12 | Script narrativo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12: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Ponderar criterios y puntuar alternativas.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Matriz de decision estructural.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12 | Practica y evidencia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13: Cliente-servidor y capas que si protegen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Tu controlador conoce SQL y reglas de negocio?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Definir responsabilidades limpias por capa.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Las capas solo ayudan si no se violan sus limites.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Flujo crear pedido: API -&gt; aplicacion -&gt; dominio -&gt; persistencia.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13 | Script narrativo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13: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Diagrama de capas con reglas de dependencia.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Reglas de capas del proyecto.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13 | Practica y evidencia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14: Monolito modular: empezar pequeno con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Como crecer sin romper todo en el primer pico?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Plantear un MVP modular evolucionable.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Modularidad temprana reduce costo de cambio futuro.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Modulos: pedidos, inventario, ruteo, incidencias, notificaciones.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14 | Script narrativo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14: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Mapa de modulos con ownership por equipo.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Mapa modular v1.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14 | Practica y evidencia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15: Servicios y contratos evolutivos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Puedes cambiar proveedor sin romper 4 consumidores?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Disenar contratos de interfaz estables y versionables.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Contrato claro &gt; tecnologia de moda.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Contrato de asignacion de repartidor con versionado y errores canonic os.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15 | Script narrativo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15: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Escribir contrato API/evento con ejemplos validos e invalidos.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Contrato de servicio inicial.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15 | Practica y evidencia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16: Eventos, consistencia y fallos parciales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Que ocurre si pago confirma y ruteo falla?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Introducir consistencia eventual con mecanismos de control.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Sistemas distribuidos fallan por partes: disena para recuperacion.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Flujo evento PedidoCreado -&gt; ReservaInventario -&gt; AsignacionRuta.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16 | Script narrativo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16: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Diagrama de eventos con reintentos e idempotencia.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Diagrama de eventos y compensacion.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16 | Practica y evidencia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17: Microservicios: cuando si y cuando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Tu equipo puede operar observabilidad, CI/CD y fallos distribuidos?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Evitar sobreingenieria con criterios de adopcion.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Microservicios sin capacidad operativa generan mas deuda que valor.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Checklist de readiness para separar servicios.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17 | Script narrativo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17: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Decision argumentada de adoptar o no microservicios ahora.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ADR de estilo estructural.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17 | Practica y evidencia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18: SOLID para reducir acoplamiento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Si cambias un proveedor, cuantas clases deberian tocarse?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Aplicar SOLID a decisiones de diseno real.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SOLID reduce fragilidad y mejora pruebas.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Refactor de servicio de pedidos con responsabilidades separadas.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18 | Script narrativo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18: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Refactor pequeno guiado + explicacion por principio.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Diff de refactor comentado.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18 | Practica y evidencia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19: Direccion de dependencias y limites del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Tu modelo de dominio importa librerias de base de datos?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Asegurar que el dominio no dependa de infraestructura.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La direccion de dependencias protege reglas de negocio.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Puertos y adaptadores para pagos y mapas.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19 | Script narrativo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19: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Definir puertos de salida y adaptadores de entrada.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Diagrama de dependencias permitido/prohibido.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19 | Practica y evidencia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20: Patrones que resuelven problemas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Storyboard narrativo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C33"/>
                </a:solidFill>
              </a:defRPr>
            </a:pPr>
            <a:r>
              <a:t>Hook: Necesitas Strategy, Adapter o solo claridad en una funcion?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Objetivo de aprendizaje: Seleccionar patrones por necesidad comprobada.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Idea central: Patron correcto en problema incorrecto sigue siendo mala decision.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Ejemplo oficial del curso: Comparar Adapter para mapas y Strategy para asignacion de ruta.</a:t>
            </a:r>
          </a:p>
          <a:p>
            <a:pPr>
              <a:defRPr sz="1700">
                <a:solidFill>
                  <a:srgbClr val="262C33"/>
                </a:solidFill>
              </a:defRPr>
            </a:pPr>
            <a:r>
              <a:t>Cierre del video: decision documentada en 1 parrafo.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20 | Script narrativo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Video 20: Produccion y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Guion tecnico de grabacion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C33"/>
                </a:solidFill>
              </a:defRPr>
            </a:pPr>
            <a:r>
              <a:t>Script de grabacion:</a:t>
            </a:r>
            <a:br/>
            <a:r>
              <a:t>  1) Problema concreto</a:t>
            </a:r>
            <a:br/>
            <a:r>
              <a:t>  2) Explicacion tecnica</a:t>
            </a:r>
            <a:br/>
            <a:r>
              <a:t>  3) Demostracion aplicada</a:t>
            </a:r>
            <a:br/>
            <a:r>
              <a:t>  4) Mini debate de trade-off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Ejercicio del estudiante: Tabla problema-&gt;patron-&gt;trade-off-&gt;costo de retiro.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Evidencia obligatoria: Catalogo de patrones adoptados con justificacion.</a:t>
            </a:r>
          </a:p>
          <a:p>
            <a:pPr>
              <a:defRPr sz="1600">
                <a:solidFill>
                  <a:srgbClr val="262C33"/>
                </a:solidFill>
              </a:defRPr>
            </a:pPr>
            <a:r>
              <a:t>Criterio de calidad: la evidencia debe justificar una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Video 20 | Practica y evidencia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Cierre de Actividad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2D57"/>
                </a:solidFill>
              </a:defRPr>
            </a:pPr>
            <a:r>
              <a:t>Entregable final que deja base solida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515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4D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2C33"/>
                </a:solidFill>
              </a:defRPr>
            </a:pPr>
            <a:r>
              <a:t>Repositorio con historia real de evolucion (no carga unica).</a:t>
            </a:r>
          </a:p>
          <a:p>
            <a:pPr>
              <a:defRPr sz="1800">
                <a:solidFill>
                  <a:srgbClr val="262C33"/>
                </a:solidFill>
              </a:defRPr>
            </a:pPr>
            <a:r>
              <a:t>Documento de contexto, riesgos y escenarios de calidad medibles.</a:t>
            </a:r>
          </a:p>
          <a:p>
            <a:pPr>
              <a:defRPr sz="1800">
                <a:solidFill>
                  <a:srgbClr val="262C33"/>
                </a:solidFill>
              </a:defRPr>
            </a:pPr>
            <a:r>
              <a:t>Matriz de alternativas con decision estructural justificada.</a:t>
            </a:r>
          </a:p>
          <a:p>
            <a:pPr>
              <a:defRPr sz="1800">
                <a:solidFill>
                  <a:srgbClr val="262C33"/>
                </a:solidFill>
              </a:defRPr>
            </a:pPr>
            <a:r>
              <a:t>ADR principal con trade-offs y plan de reevaluacion.</a:t>
            </a:r>
          </a:p>
          <a:p>
            <a:pPr>
              <a:defRPr sz="1800">
                <a:solidFill>
                  <a:srgbClr val="262C33"/>
                </a:solidFill>
              </a:defRPr>
            </a:pPr>
            <a:r>
              <a:t>Video de sustentacion 5-8 min apoyado en evidencia.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E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1197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Guion maestro | Actividad 1 | Videos 1-20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