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Una decision puede convertirse en un riesgo real</a:t>
            </a:r>
          </a:p>
        </p:txBody>
      </p:sp>
      <p:sp>
        <p:nvSpPr>
          <p:cNvPr id="5" name="Rounded Rectangle 4"/>
          <p:cNvSpPr/>
          <p:nvPr/>
        </p:nvSpPr>
        <p:spPr>
          <a:xfrm>
            <a:off x="594360" y="1234440"/>
            <a:ext cx="1097280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10424160" cy="640080"/>
          </a:xfrm>
          <a:prstGeom prst="rect">
            <a:avLst/>
          </a:prstGeom>
          <a:noFill/>
        </p:spPr>
        <p:txBody>
          <a:bodyPr wrap="none">
            <a:spAutoFit/>
          </a:bodyPr>
          <a:lstStyle/>
          <a:p>
            <a:pPr>
              <a:defRPr sz="2100" b="1">
                <a:solidFill>
                  <a:srgbClr val="103361"/>
                </a:solidFill>
              </a:defRPr>
            </a:pPr>
            <a:r>
              <a:t>Una decision puede convertirse en un riesgo real</a:t>
            </a:r>
          </a:p>
        </p:txBody>
      </p:sp>
      <p:sp>
        <p:nvSpPr>
          <p:cNvPr id="7" name="TextBox 6"/>
          <p:cNvSpPr txBox="1"/>
          <p:nvPr/>
        </p:nvSpPr>
        <p:spPr>
          <a:xfrm>
            <a:off x="868680" y="2240280"/>
            <a:ext cx="10424160" cy="3840480"/>
          </a:xfrm>
          <a:prstGeom prst="rect">
            <a:avLst/>
          </a:prstGeom>
          <a:noFill/>
        </p:spPr>
        <p:txBody>
          <a:bodyPr wrap="none">
            <a:spAutoFit/>
          </a:bodyPr>
          <a:lstStyle/>
          <a:p>
            <a:pPr>
              <a:defRPr sz="1700">
                <a:solidFill>
                  <a:srgbClr val="262C34"/>
                </a:solidFill>
              </a:defRPr>
            </a:pPr>
            <a:r>
              <a:t>La historia del Boeing 737 MAX muestra que la arquitectura de software no es un ejercicio abstracto. Cuando un sistema automatizado influye en una operacion critica, una decision de diseno puede afectar la seguridad, la confianza y la vida de las personas.</a:t>
            </a:r>
            <a:br/>
            <a:br/>
            <a:r>
              <a:t>Por eso, hablar de arquitectura implica hablar tambien de responsabilidad: que supuestos aceptamos, que informacion usamos y que mecanismos de proteccion decidimos incluir.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El caso Boeing 737 MAX: cuando un supuesto domina el sistema</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El caso Boeing 737 MAX: cuando un supuesto domina el sistema</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En los accidentes de 2018 y 2019, el sistema MCAS podia recibir informacion de un unico sensor de angulo de ataque. Al no contar con una redundancia suficiente ni con una validacion adecuada entre fuentes, una lectura incorrecta podia activar una respuesta automatica peligrosa.</a:t>
            </a:r>
            <a:br/>
            <a:br/>
            <a:r>
              <a:t>La leccion arquitectonica no consiste en reducir la tragedia a un error de programacion. El problema estuvo relacionado con decisiones de sistema: dependencia de una fuente unica, supuestos no suficientemente cuestionados y controles de seguridad insuficientes.</a:t>
            </a:r>
          </a:p>
        </p:txBody>
      </p:sp>
      <p:pic>
        <p:nvPicPr>
          <p:cNvPr id="8" name="Picture 7" descr="slide_02.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cabina y los controles muestran que el software automatizado participa en decisiones operativas que deben tener limites y supervision.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No fue solamente un bug</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No fue solamente un bug</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Un bug suele describirse como un comportamiento no intencional del software. En este caso, la reflexion es mas profunda: existian decisiones conscientes sobre como integrar el sistema, cuanto automatizar y que nivel de redundancia incorporar.</a:t>
            </a:r>
            <a:br/>
            <a:br/>
            <a:r>
              <a:t>Cuando una arquitectura prioriza rapidez, costo o compatibilidad comercial sobre seguridad y evidencia tecnica, el riesgo no desaparece. Simplemente queda oculto hasta que las condiciones reales lo hacen visible.</a:t>
            </a:r>
          </a:p>
        </p:txBody>
      </p:sp>
      <p:pic>
        <p:nvPicPr>
          <p:cNvPr id="8" name="Picture 7" descr="slide_03.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El sensor representa la fuente de datos que alimenta una decision automatica; si esa fuente falla, el sistema puede actuar sobre una premisa equivocada.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La arquitectura expresa prioridades</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La arquitectura expresa prioridades</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Toda arquitectura es una forma de ordenar prioridades. Si se privilegia reducir tiempos de entrega, se puede ganar velocidad inicial. Si se privilegia minimizar infraestructura, se puede reducir gasto. Pero cada beneficio tiene consecuencias que deben hacerse visibles.</a:t>
            </a:r>
            <a:br/>
            <a:br/>
            <a:r>
              <a:t>En sistemas criticos, la pregunta no es solo cuanto cuesta incorporar una proteccion, sino cuanto cuesta operar sin ella. La arquitectura responsable compara ambos lados antes de decidir.</a:t>
            </a:r>
          </a:p>
        </p:txBody>
      </p:sp>
      <p:pic>
        <p:nvPicPr>
          <p:cNvPr id="8" name="Picture 7" descr="slide_04.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El tablero de riesgos representa la necesidad de comparar rapidez y costo contra consecuencias de seguridad antes de aprobar una arquitectura.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Una sola fuente de informacion puede convertirse en un punto critico</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Una sola fuente de informacion puede convertirse en un punto critico</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Cuando una funcion importante depende de un unico sensor, servicio o repositorio de datos, ese elemento se transforma en un punto unico de falla. Si su informacion es incorrecta, el sistema puede tomar una decision incorrecta con apariencia de certeza.</a:t>
            </a:r>
            <a:br/>
            <a:br/>
            <a:r>
              <a:t>La redundancia no significa duplicar todo sin criterio. Significa contar con fuentes independientes, validar discrepancias y definir que debe hacer el sistema cuando la informacion no es confiable.</a:t>
            </a:r>
          </a:p>
        </p:txBody>
      </p:sp>
      <p:pic>
        <p:nvPicPr>
          <p:cNvPr id="8" name="Picture 7" descr="slide_05.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Los componentes duplicados representan redundancia: una funcion critica no deberia depender de un unico dato o punto de falla.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La automatizacion necesita limites</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La automatizacion necesita limites</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Automatizar una decision no elimina la responsabilidad de disenar sus condiciones de seguridad. Un sistema automatico debe saber cuando actuar, cuando pedir confirmacion y cuando ceder el control a una persona.</a:t>
            </a:r>
            <a:br/>
            <a:br/>
            <a:r>
              <a:t>La autonomia sin limites puede hacer que un error pequeno se convierta en una secuencia dificil de detener. Por eso, cada automatizacion necesita reglas de activacion, mecanismos de anulacion y comportamiento seguro ante incertidumbre.</a:t>
            </a:r>
          </a:p>
        </p:txBody>
      </p:sp>
      <p:pic>
        <p:nvPicPr>
          <p:cNvPr id="8" name="Picture 7" descr="slide_06.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Los controles de la cabina representan los limites, alertas y mecanismos de anulacion que una automatizacion responsable debe ofrecer.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Las decisiones arquitectonicas tienen consecuencias</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Las decisiones arquitectonicas tienen consecuencias</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Una eleccion de arquitectura puede afectar escalabilidad, seguridad, privacidad, accesibilidad, disponibilidad y cumplimiento. La consecuencia puede ser tecnica, economica, social o etica.</a:t>
            </a:r>
            <a:br/>
            <a:br/>
            <a:r>
              <a:t>Esto aplica a cualquier sector: aviacion, salud, banca, educacion o una startup. El contexto cambia, pero la responsabilidad permanece: construir sistemas cuyo comportamiento sea comprensible y controlable.</a:t>
            </a:r>
          </a:p>
        </p:txBody>
      </p:sp>
      <p:pic>
        <p:nvPicPr>
          <p:cNvPr id="8" name="Picture 7" descr="slide_07.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de ingenieria representa que las decisiones arquitectonicas deben evaluarse por sus efectos tecnicos, operativos, economicos y eticos.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El arquitecto no se limita a dibujar</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El arquitecto no se limita a dibujar</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El trabajo arquitectonico incluye abstraer complejidad, cuestionar supuestos, reconocer riesgos y negociar con las personas que tienen intereses sobre el sistema.</a:t>
            </a:r>
            <a:br/>
            <a:br/>
            <a:r>
              <a:t>Un diagrama puede ayudar a conversar, pero no reemplaza la investigacion ni la toma de decisiones. La arquitectura se demuestra cuando el equipo puede explicar por que eligio una alternativa y que consecuencias esta dispuesto a aceptar.</a:t>
            </a:r>
          </a:p>
        </p:txBody>
      </p:sp>
      <p:pic>
        <p:nvPicPr>
          <p:cNvPr id="8" name="Picture 7" descr="slide_08.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pizarra y el equipo representan al arquitecto facilitando conversaciones entre personas con intereses diferentes sobre el mismo sistema.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Pensar en los stakeholders cambia la decision</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Pensar en los stakeholders cambia la decision</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Los stakeholders son las personas, equipos y organizaciones afectadas por el sistema o capaces de influir en el. Sus expectativas pueden ser diferentes: el negocio busca valor, operaciones busca estabilidad, seguridad busca reducir amenazas y los usuarios buscan una experiencia confiable.</a:t>
            </a:r>
            <a:br/>
            <a:br/>
            <a:r>
              <a:t>Una decision arquitectonica completa considera esas perspectivas y hace explicitos los conflictos en lugar de ocultarlos bajo una solucion tecnica.</a:t>
            </a:r>
          </a:p>
        </p:txBody>
      </p:sp>
      <p:pic>
        <p:nvPicPr>
          <p:cNvPr id="8" name="Picture 7" descr="slide_09.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reunion representa a los stakeholders: negocio, operaciones, seguridad y desarrollo deben construir criterios compartidos para decidir.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Comunicar la arquitectura evita perder el razonamiento</a:t>
            </a:r>
          </a:p>
        </p:txBody>
      </p:sp>
      <p:sp>
        <p:nvSpPr>
          <p:cNvPr id="5" name="Rounded Rectangle 4"/>
          <p:cNvSpPr/>
          <p:nvPr/>
        </p:nvSpPr>
        <p:spPr>
          <a:xfrm>
            <a:off x="594360" y="1234440"/>
            <a:ext cx="1097280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10424160" cy="640080"/>
          </a:xfrm>
          <a:prstGeom prst="rect">
            <a:avLst/>
          </a:prstGeom>
          <a:noFill/>
        </p:spPr>
        <p:txBody>
          <a:bodyPr wrap="none">
            <a:spAutoFit/>
          </a:bodyPr>
          <a:lstStyle/>
          <a:p>
            <a:pPr>
              <a:defRPr sz="2100" b="1">
                <a:solidFill>
                  <a:srgbClr val="103361"/>
                </a:solidFill>
              </a:defRPr>
            </a:pPr>
            <a:r>
              <a:t>Comunicar la arquitectura evita perder el razonamiento</a:t>
            </a:r>
          </a:p>
        </p:txBody>
      </p:sp>
      <p:sp>
        <p:nvSpPr>
          <p:cNvPr id="7" name="TextBox 6"/>
          <p:cNvSpPr txBox="1"/>
          <p:nvPr/>
        </p:nvSpPr>
        <p:spPr>
          <a:xfrm>
            <a:off x="868680" y="2240280"/>
            <a:ext cx="10424160" cy="3840480"/>
          </a:xfrm>
          <a:prstGeom prst="rect">
            <a:avLst/>
          </a:prstGeom>
          <a:noFill/>
        </p:spPr>
        <p:txBody>
          <a:bodyPr wrap="none">
            <a:spAutoFit/>
          </a:bodyPr>
          <a:lstStyle/>
          <a:p>
            <a:pPr>
              <a:defRPr sz="1700">
                <a:solidFill>
                  <a:srgbClr val="262C34"/>
                </a:solidFill>
              </a:defRPr>
            </a:pPr>
            <a:r>
              <a:t>Una arquitectura que solo vive en la memoria de una persona se vuelve dificil de mantener. Cuando esa persona cambia de equipo, las decisiones pierden contexto y el sistema comienza a evolucionar por costumbre o improvisacion.</a:t>
            </a:r>
            <a:br/>
            <a:br/>
            <a:r>
              <a:t>Documentar arquitectura significa conservar el razonamiento: que problema existia, que alternativas se evaluaron, que se eligio y que riesgos quedaron abiertos.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ARCHITECTURE.md como punto de entrada</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ARCHITECTURE.md como punto de entrada</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Una practica sencilla es crear un archivo ARCHITECTURE.md en la raiz del repositorio. No debe ser una enciclopedia ni repetir cada detalle del codigo. Debe permitir que una persona nueva entienda rapidamente como esta organizado el sistema.</a:t>
            </a:r>
            <a:br/>
            <a:br/>
            <a:r>
              <a:t>El documento funciona como una puerta de entrada para explorar el repositorio y como memoria compartida de las decisiones importantes.</a:t>
            </a:r>
          </a:p>
        </p:txBody>
      </p:sp>
      <p:pic>
        <p:nvPicPr>
          <p:cNvPr id="8" name="Picture 7" descr="slide_11.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El repositorio representa el lugar donde ARCHITECTURE.md debe vivir junto al codigo para que la estructura del sistema sea facil de consultar.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Que debe contener ARCHITECTURE.md</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Que debe contener ARCHITECTURE.md</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El documento debe comenzar explicando el proposito general del sistema y el problema que resuelve. Luego debe presentar un mapa breve de modulos, responsabilidades principales y relaciones relevantes.</a:t>
            </a:r>
            <a:br/>
            <a:br/>
            <a:r>
              <a:t>Tambien debe registrar conceptos clave, restricciones conocidas, dependencias externas y riesgos que el equipo todavia debe vigilar. El objetivo es orientar, no reemplazar el codigo ni la documentacion detallada de cada componente.</a:t>
            </a:r>
          </a:p>
        </p:txBody>
      </p:sp>
      <p:pic>
        <p:nvPicPr>
          <p:cNvPr id="8" name="Picture 7" descr="slide_12.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Los bloques representan modulos y responsabilidades; el documento debe mostrar esta estructura sin describir cada detalle de implementacion.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Un diagrama sencillo es suficiente cuando responde preguntas</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Un diagrama sencillo es suficiente cuando responde preguntas</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El diagrama que acompana ARCHITECTURE.md debe ayudar a responder preguntas concretas: que partes existen, como se comunican y donde estan los limites.</a:t>
            </a:r>
            <a:br/>
            <a:br/>
            <a:r>
              <a:t>No es necesario dibujar toda la plataforma. Un buen diagrama de contexto o de componentes muestra la estructura suficiente para comprender decisiones importantes sin convertir la arquitectura en un plano imposible de mantener.</a:t>
            </a:r>
          </a:p>
        </p:txBody>
      </p:sp>
      <p:pic>
        <p:nvPicPr>
          <p:cNvPr id="8" name="Picture 7" descr="slide_13.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El diagrama representa una frontera util: muestra componentes y relaciones suficientes para comprender el sistema sin intentar dibujar toda la plataforma.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De la documentacion a la accion</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De la documentacion a la accion</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Documentar no es el punto final. La informacion escrita debe ayudar a revisar supuestos, detectar riesgos y tomar mejores decisiones en el siguiente cambio.</a:t>
            </a:r>
            <a:br/>
            <a:br/>
            <a:r>
              <a:t>Cada modificacion importante del sistema deberia preguntarse si cambia una responsabilidad, una dependencia, un contrato o un riesgo. Si la respuesta es afirmativa, la documentacion arquitectonica tambien debe evolucionar.</a:t>
            </a:r>
          </a:p>
        </p:txBody>
      </p:sp>
      <p:pic>
        <p:nvPicPr>
          <p:cNvPr id="8" name="Picture 7" descr="slide_14.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La imagen representa mantenimiento continuo: cuando una decision cambia, la documentacion debe actualizarse para conservar el contexto.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03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594360"/>
          </a:xfrm>
          <a:prstGeom prst="rect">
            <a:avLst/>
          </a:prstGeom>
          <a:noFill/>
        </p:spPr>
        <p:txBody>
          <a:bodyPr wrap="none">
            <a:spAutoFit/>
          </a:bodyPr>
          <a:lstStyle/>
          <a:p>
            <a:pPr>
              <a:defRPr sz="2500" b="1">
                <a:solidFill>
                  <a:srgbClr val="FFFFFF"/>
                </a:solidFill>
              </a:defRPr>
            </a:pPr>
            <a:r>
              <a:t>La perspectiva arquitectonica amplia el desarrollo</a:t>
            </a:r>
          </a:p>
        </p:txBody>
      </p:sp>
      <p:sp>
        <p:nvSpPr>
          <p:cNvPr id="5" name="Rounded Rectangle 4"/>
          <p:cNvSpPr/>
          <p:nvPr/>
        </p:nvSpPr>
        <p:spPr>
          <a:xfrm>
            <a:off x="594360" y="1234440"/>
            <a:ext cx="6903720" cy="5257800"/>
          </a:xfrm>
          <a:prstGeom prst="roundRect">
            <a:avLst/>
          </a:prstGeom>
          <a:solidFill>
            <a:srgbClr val="FFFFFF"/>
          </a:solidFill>
          <a:ln>
            <a:solidFill>
              <a:srgbClr val="C3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6309360" cy="640080"/>
          </a:xfrm>
          <a:prstGeom prst="rect">
            <a:avLst/>
          </a:prstGeom>
          <a:noFill/>
        </p:spPr>
        <p:txBody>
          <a:bodyPr wrap="none">
            <a:spAutoFit/>
          </a:bodyPr>
          <a:lstStyle/>
          <a:p>
            <a:pPr>
              <a:defRPr sz="2100" b="1">
                <a:solidFill>
                  <a:srgbClr val="103361"/>
                </a:solidFill>
              </a:defRPr>
            </a:pPr>
            <a:r>
              <a:t>La perspectiva arquitectonica amplia el desarrollo</a:t>
            </a:r>
          </a:p>
        </p:txBody>
      </p:sp>
      <p:sp>
        <p:nvSpPr>
          <p:cNvPr id="7" name="TextBox 6"/>
          <p:cNvSpPr txBox="1"/>
          <p:nvPr/>
        </p:nvSpPr>
        <p:spPr>
          <a:xfrm>
            <a:off x="868680" y="2240280"/>
            <a:ext cx="6309360" cy="3840480"/>
          </a:xfrm>
          <a:prstGeom prst="rect">
            <a:avLst/>
          </a:prstGeom>
          <a:noFill/>
        </p:spPr>
        <p:txBody>
          <a:bodyPr wrap="none">
            <a:spAutoFit/>
          </a:bodyPr>
          <a:lstStyle/>
          <a:p>
            <a:pPr>
              <a:defRPr sz="1700">
                <a:solidFill>
                  <a:srgbClr val="262C34"/>
                </a:solidFill>
              </a:defRPr>
            </a:pPr>
            <a:r>
              <a:t>El desarrollo resuelve funcionalidades concretas; la arquitectura observa como esas funcionalidades conviviran, cambiaran y operaran en el tiempo. Esa perspectiva no compite con programar: ayuda a programar con mayor claridad.</a:t>
            </a:r>
            <a:br/>
            <a:br/>
            <a:r>
              <a:t>El objetivo es diseñar sistemas seguros, escalables y efectivos, pero tambien comprensibles, mantenibles y honestos frente a sus limitaciones.</a:t>
            </a:r>
          </a:p>
        </p:txBody>
      </p:sp>
      <p:pic>
        <p:nvPicPr>
          <p:cNvPr id="8" name="Picture 7" descr="slide_15.jpg"/>
          <p:cNvPicPr>
            <a:picLocks noChangeAspect="1"/>
          </p:cNvPicPr>
          <p:nvPr/>
        </p:nvPicPr>
        <p:blipFill>
          <a:blip r:embed="rId2"/>
          <a:stretch>
            <a:fillRect/>
          </a:stretch>
        </p:blipFill>
        <p:spPr>
          <a:xfrm>
            <a:off x="7818120" y="1508760"/>
            <a:ext cx="3657600" cy="2743200"/>
          </a:xfrm>
          <a:prstGeom prst="rect">
            <a:avLst/>
          </a:prstGeom>
        </p:spPr>
      </p:pic>
      <p:sp>
        <p:nvSpPr>
          <p:cNvPr id="9" name="TextBox 8"/>
          <p:cNvSpPr txBox="1"/>
          <p:nvPr/>
        </p:nvSpPr>
        <p:spPr>
          <a:xfrm>
            <a:off x="7818120" y="4434840"/>
            <a:ext cx="3657600" cy="1325880"/>
          </a:xfrm>
          <a:prstGeom prst="rect">
            <a:avLst/>
          </a:prstGeom>
          <a:noFill/>
        </p:spPr>
        <p:txBody>
          <a:bodyPr wrap="none">
            <a:spAutoFit/>
          </a:bodyPr>
          <a:lstStyle/>
          <a:p>
            <a:pPr>
              <a:defRPr sz="1200">
                <a:solidFill>
                  <a:srgbClr val="4B525B"/>
                </a:solidFill>
              </a:defRPr>
            </a:pPr>
            <a:r>
              <a:t>El equipo representa la perspectiva amplia del desarrollo: construir software tambien implica comprender evolucion, riesgos, usuarios y consecuencias.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