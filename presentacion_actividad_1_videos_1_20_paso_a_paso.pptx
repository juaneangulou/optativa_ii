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Actividad 1: Diagnostico y Contexto Arquitectonico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Guia completa para impartir videos 1-20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Meta: que el estudiante tome una decision arquitectonica inicial defendible.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Metodo: paso a paso con ejemplo guiado similar al caso oficial.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Resultado: base solida para construir las siguientes actividades.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Presentacion de alto detalle para clase y sustentacion.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Como usar esta presentacion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Modo docente sugerido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Usar 1 slide de teoria + 1 slide de ejemplo + 1 slide de ejercicio.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Pedir evidencia al final de cada video.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No avanzar al siguiente paso sin evidencia revisada.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Cerrar cada sesion con una mini decision escrita.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Ejemplo guiado similar al caso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Caso de referencia para toda la actividad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440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440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23460"/>
                </a:solidFill>
              </a:defRPr>
            </a:pPr>
            <a:r>
              <a:t>Producto ejemplo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800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92F36"/>
                </a:solidFill>
              </a:defRPr>
            </a:pPr>
            <a:r>
              <a:t>Plataforma de entregas de farmacia de ultima milla.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Canales: app cliente, app repartidor, panel operador.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Integraciones: pagos, mapas, notificaciones.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Objetivo: entrega &lt; 45 min con trazabilidad total.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23460"/>
                </a:solidFill>
              </a:defRPr>
            </a:pPr>
            <a:r>
              <a:t>Por que es un buen ejemplo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14600"/>
            <a:ext cx="4800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92F36"/>
                </a:solidFill>
              </a:defRPr>
            </a:pPr>
            <a:r>
              <a:t>Tiene complejidad parecida al caso logistico.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Permite analizar actores, rutas y eventos.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Exige decisiones de costo, calidad y riesgo.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Se presta para evolucion incremental.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Entregables obligatorios de la Actividad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Lo que debe existir antes de calificar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Repositorio GitHub con historial real de trabajo.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Carpeta /docs/actividad-1 con evidencia paso a paso.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Diagrama de contexto y registro de decisiones (ADR).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Video de sustentacion tecnica (5 a 8 min).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Si falta repositorio o video, la actividad no queda sustentada.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Ruta de videos 1-20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Secuencia por bloques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Videos 1-7: pensamiento arquitectonico y contexto.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Videos 8-11: requisitos, calidad, costos y riesgo.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Videos 12-17: estructuras y decision de estilo.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Videos 18-20: diseno mantenible y base de codigo.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Plan de ejecucion recomendado (4 semanas)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Para que el estudiante no se atrase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Semana 1: videos 1-5 + problema, actores, alcance.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Semana 2: videos 6-10 + riesgos, calidad, costos.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Semana 3: videos 11-15 + alternativas y contratos.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Semana 4: videos 16-20 + decision final y ADR.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1: Definir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Escribe el problema en una sola frase medible.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Evita mencionar tecnologia en esta frase.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Valida que el problema sea importante para el negocio.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2: Identificar actores y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Lista actores primarios y secundarios.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Para cada actor define objetivo y frustracion actual.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Marca conflictos entre objetivos de actores.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3: Delimitar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Define in-scope y out-of-scope para la primera entrega.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Explica por que se excluyen ciertos componentes.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Evita expansion temprana del alcance.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4: Levantar restricciones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Tiempo, presupuesto, equipo, tecnologias permitidas.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Dependencias externas obligatorias.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Regulaciones o reglas de cumplimiento.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5: Riesgos iniciales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Identifica riesgo tecnico, de negocio y operativo.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Asigna probabilidad e impacto (alto/medio/bajo).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Define accion de mitigacion concreta por riesgo.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6: Diagrama de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Ubica el sistema en el centro.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Dibuja actores/sistemas externos y flujos principales.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Etiqueta responsabilidad de cada frontera.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7: Requisitos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Escribe historias de usuario o capacidades.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Prioriza por valor y riesgo.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Marca dependencias entre requisitos.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8: Escenarios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Usa plantilla: escenario, condicion, respuesta, metrica.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Incluye rendimiento, seguridad, mantenibilidad.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Asegura que cada escenario sea verificable.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9: Modelo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Separar costo de construir, operar y cambiar.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Distinguir costo fijo y variable.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Senalar supuestos economicos criticos.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10: Alternativas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Compara al menos dos alternativas reales.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Evalua impacto en costo, tiempo, riesgo, calidad.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Descarta soluciones por evidencia, no por opinion.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11: Decidir y justificar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Selecciona alternativa principal.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Documenta trade-offs aceptados.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Define que decisiones quedan abiertas.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Paso 12: Traducir a backlog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detallado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Convertir decision en tareas implementables.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Ordenar por dependencia y riesgo.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Asignar evidencia esperada por tarea.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Aplicar cada paso al caso guiado de farmacia ultima milla.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Ejemplo completo: declaracion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Plantilla aplicada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Problema: 23% de pedidos se entregan tarde en horas pico.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Impacto: perdida de confianza, devoluciones y costo extra.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Meta de negocio: bajar retraso a menos de 8% en 12 semanas.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Condicion: sin duplicar costo operativo mensual.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Ejemplo: mapa de actores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Salida del video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440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440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23460"/>
                </a:solidFill>
              </a:defRPr>
            </a:pPr>
            <a:r>
              <a:t>Actores primarios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800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92F36"/>
                </a:solidFill>
              </a:defRPr>
            </a:pPr>
            <a:r>
              <a:t>Cliente final: compra y rastrea pedido.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Repartidor: acepta ruta y confirma entrega.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Operador: monitorea excepciones.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Soporte: gestiona incidentes.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23460"/>
                </a:solidFill>
              </a:defRPr>
            </a:pPr>
            <a:r>
              <a:t>Actores externos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14600"/>
            <a:ext cx="4800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92F36"/>
                </a:solidFill>
              </a:defRPr>
            </a:pPr>
            <a:r>
              <a:t>Proveedor de pagos.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Proveedor de mapas/rutas.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Canal de notificaciones SMS/push.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Sistema ERP inventario.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Ejemplo: matriz de riesgos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Salida de videos 5 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R1 - Saturacion de asignacion de rutas (Impacto Alto / Prob Medio).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R2 - Latencia de proveedor de mapas (Impacto Medio / Prob Alto).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R3 - Fallo en confirmacion de pago (Impacto Alto / Prob Medio).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R4 - Datos inconsistentes entre inventario y pedido (Impacto Alto / Prob Bajo).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Cada riesgo debe tener mitigacion y dueno.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Ejemplo: diagrama de contexto (texto base)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Salida del video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App Cliente -&gt; API Pedidos -&gt; Modulo Orquestacion.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Modulo Orquestacion -&gt; Servicio Ruteo / Servicio Pago.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ERP Inventario &lt;-&gt; API Pedidos (stock y reserva).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Panel Operador &lt;-&gt; Modulo Incidencias y Seguimiento.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C4D00"/>
                </a:solidFill>
              </a:defRPr>
            </a:pPr>
            <a:r>
              <a:t>Nota de clase: Luego del texto base, dibujar diagrama visual con fronteras.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Ejemplo: requisitos funcionales priorizados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Salida del video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RF1 Crear pedido con reserva de inventario.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RF2 Asignar repartidor segun zona y capacidad.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RF3 Reasignar ruta ante incidente.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RF4 Notificar estado en tiempo real al cliente.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RF5 Registrar evidencia de entrega (foto/firma).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Ejemplo: escenarios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Salida del video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Rendimiento: 95% de creacion de pedido &lt; 2s en hora pico.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Disponibilidad: modulo de pedidos 99.5% mensual.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Seguridad: autenticacion fuerte para operador y repartidor.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Mantenibilidad: cambio de proveedor de mapas &lt; 5 dias.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Ejemplo: modelo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Salida del video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Costo construccion: equipo, tiempo y deuda inicial.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Costo operacion: nube, monitoreo, soporte y licencias.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Costo cambio: nuevas rutas, integraciones y reentrenamiento.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Supuesto critico: picos diarios de 3x en volumen de pedidos.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Comparacion de alternativas estructurales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Videos 12-17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440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440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23460"/>
                </a:solidFill>
              </a:defRPr>
            </a:pPr>
            <a:r>
              <a:t>Alternativa A: Monolito modular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800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92F36"/>
                </a:solidFill>
              </a:defRPr>
            </a:pPr>
            <a:r>
              <a:t>+ Menor costo inicial.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+ Despliegue simple.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- Riesgo de crecimiento desordenado.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Uso: MVP con equipo pequeno.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23460"/>
                </a:solidFill>
              </a:defRPr>
            </a:pPr>
            <a:r>
              <a:t>Alternativa B: Servicios por dominio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14600"/>
            <a:ext cx="4800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92F36"/>
                </a:solidFill>
              </a:defRPr>
            </a:pPr>
            <a:r>
              <a:t>+ Mejor aislamiento por contexto.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+ Escalado selectivo.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- Mayor costo de operacion y observabilidad.</a:t>
            </a:r>
          </a:p>
          <a:p>
            <a:pPr>
              <a:defRPr sz="1600">
                <a:solidFill>
                  <a:srgbClr val="292F36"/>
                </a:solidFill>
              </a:defRPr>
            </a:pPr>
            <a:r>
              <a:t>Uso: volumen alto y equipos multiples.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Matriz de decision (ejemplo)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Videos 12-17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Criterios: costo inicial, tiempo de salida, resiliencia, evolucion.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Puntaje ejemplo: Monolito modular 78/100.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Puntaje ejemplo: Servicios por dominio 71/100.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Decision inicial: monolito modular con fronteras fuertes.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ADR principal (ejemplo resumido)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Videos 18-20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Contexto: alta variacion de demanda y equipo de 5 personas.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Decision: iniciar con monolito modular + eventos internos.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Consecuencias: menor costo hoy, plan de evolucion por modulos.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Reevaluacion: al superar 50k pedidos/dia o 3 equipos.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Backlog tecnico inicial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Salida final de Actividad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T1 Definir modulos: pedidos, ruteo, incidencias, notificaciones.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T2 Implementar contratos internos y DTO de borde.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T3 Crear politicas de logs y trazabilidad basica.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T4 Preparar pruebas base de reglas de dominio criticas.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Estructura sugerida del repositorio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Base minima para el estudiante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README.md (objetivo, alcance, instrucciones).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docs/actividad-1/contexto.md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docs/actividad-1/decision-adr-001.md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docs/actividad-1/riesgos-y-calidad.md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src/ (solo esqueleto inicial si aplica).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Guion sugerido para video de sustentacion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5 a 8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Min 1: problema, actores y alcance.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Min 2-3: requisitos y escenarios de calidad.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Min 4-5: alternativas evaluadas y decision.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Min 6-7: riesgos y plan de evolucion.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Min 8: cierre con trade-offs aceptados.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Errores frecuentes que debes evitar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Control de calidad docente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Elegir tecnologia antes de entender el problema.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No separar alcance MVP de ideas futuras.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Escenarios de calidad no medibles.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Decision arquitectonica sin alternativas comparadas.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Sustentacion sin evidencia en repositorio.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Rubrica sugerida de evaluacion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Actividad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Comprension del problema y contexto: 25%.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Calidad de requisitos y escenarios: 25%.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Razonamiento de decision estructural: 30%.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Calidad de evidencia y sustentacion: 20%.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Checklist final antes de calificar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Validacion docente y estudiantil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Existe problema medible y alcance claro.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Hay diagrama de contexto y matriz de riesgos.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Se documentaron alternativas y decision final.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ADR y evidencias estan en GitHub con historial.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Video de sustentacion conecta evidencia con trade-offs.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1: Bienvenida: como pensar arquitectura en este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Entender la ruta de trabajo y reglas del juego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Mapa de ruta del curso y acuerdos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2: La arquitectura como conjunto de decisiones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Relacionar decision tecnica con impacto de negocio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ADR inicial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3: El costo invisible de elegir 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Reconocer costo de retrabajo y deuda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Lista de costos ocultos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4: El arquitecto y las conversaciones dificiles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Alinear negocio, tecnologia y operacion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Mapa de actores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5: Problema esencial vs detalle incidental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Diferenciar necesidad real de preferencia tecnica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Arbol del problema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6: Deuda tecnica y acoplamiento: senales tempranas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Detectar deterioro de arquitectura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Matriz de riesgos tecnicos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7: Del problema a las fronteras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Definir limites internos y externos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Diagrama de contexto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8: Requisitos que cambian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Priorizar requisitos de alto impacto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Backlog priorizado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9: Calidad medible: rendimiento, seguridad y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Escribir escenarios de calidad verificables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Escenarios QA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10: Costo total de operacion y costo de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Estimar costo de construir, operar y evolucionar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Modelo de costos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11: Disenar para la incertidumbre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Gestionar supuestos y decisiones reversibles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Registro de supuestos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12: Elegir estructura sin seguir modas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Comparar estilos con criterios objetivos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Matriz de comparacion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13: Cliente-servidor y capas que si protegen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Dise nar responsabilidades por capa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Flujo por capas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14: Monolito modular: empezar pequeno con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Disenar modulos con alta cohesion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Mapa de modulos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15: Servicios y contratos evolutivos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Definir contratos robustos y versionables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Contrato de servicio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16: Eventos, consistencia y fallos parciales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Aplicar consistencia eventual con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Diagrama de eventos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17: Microservicios: cuando si y cuando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Decidir con costo real, no por tendencia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Decision argumentada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18: SOLID para reducir acoplamiento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Aplicar SOLID en codigo con problemas reales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Refactor pequeno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19: Direccion de dependencias y limites del codigo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Proteger dominio frente a infraestructura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Reglas de dependencia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Video 20: Patrones que resuelven problemas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Desarrollo paso 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3868"/>
                </a:solidFill>
              </a:defRPr>
            </a:pPr>
            <a:r>
              <a:t>Objetivo: Seleccionar patrones por problema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Paso a paso de la clase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1) Contexto del problema (2-3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2) Concepto tecnico clave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3) Ejemplo aplicado al caso (4-5 min)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4) Cierre con decision (1-2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868"/>
                </a:solidFill>
              </a:defRPr>
            </a:pPr>
            <a:r>
              <a:t>Salida esperada del estudiante</a:t>
            </a:r>
          </a:p>
          <a:p>
            <a:pPr>
              <a:defRPr sz="1500">
                <a:solidFill>
                  <a:srgbClr val="2A3037"/>
                </a:solidFill>
              </a:defRPr>
            </a:pPr>
            <a:r>
              <a:t>Evidencia: Comparativo de patrones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Debe quedar guardada en /docs/actividad-1</a:t>
            </a:r>
          </a:p>
          <a:p>
            <a:pPr>
              <a:defRPr sz="1400">
                <a:solidFill>
                  <a:srgbClr val="2A3037"/>
                </a:solidFill>
              </a:defRPr>
            </a:pPr>
            <a:r>
              <a:t>Con commit que explique el 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Cierre de la presentacion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23460"/>
                </a:solidFill>
              </a:defRPr>
            </a:pPr>
            <a:r>
              <a:t>Resultado esperado en el estudiante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4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2D33"/>
                </a:solidFill>
              </a:defRPr>
            </a:pPr>
            <a:r>
              <a:t>El estudiante termina Actividad 1 con una base solida.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Puede explicar por que su decision inicial es razonable.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Tiene evidencia reutilizable para Actividades 2-5.</a:t>
            </a:r>
          </a:p>
          <a:p>
            <a:pPr>
              <a:defRPr sz="2100">
                <a:solidFill>
                  <a:srgbClr val="272D33"/>
                </a:solidFill>
              </a:defRPr>
            </a:pPr>
            <a:r>
              <a:t>El curso avanza con coherencia tecnica y academica.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Actividad 1 | Videos 1-20 | Diagnostico y contexto arquitectonico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