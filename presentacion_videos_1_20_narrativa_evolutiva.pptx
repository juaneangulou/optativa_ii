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Arquitectura de Software - Contenido Evolutivo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Inicio del recorrido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Este material presenta un recorrido continuo de contenidos para profundizar en los veinte primeros temas del curso. Cada diapositiva esta escrita para que se pueda leer y explicar directamente en pantalla, con una progresion natural desde fundamentos hasta decisiones de diseno y estructura.</a:t>
            </a:r>
            <a:br/>
            <a:br/>
            <a:r>
              <a:t>El caso transversal sera una plataforma logistica compleja de ultima milla para retail digital, porque permite observar decisiones reales de costo, calidad, riesgo y evolucion.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Arquitectura de software: decisiones, no solo diagramas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Cuando se confundio arquitectura con dibujo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Durante muchos anos, en varios equipos se instalo una idea equivocada: creer que hacer arquitectura era llenar paredes de diagramas y producir documentos inmensos antes de escribir una sola linea de codigo. Ese enfoque, aunque bien intencionado, terminaba alejando a los equipos de la realidad del negocio, porque la energia se gastaba en representar una solucion perfecta que casi nunca sobrevivia al primer cambio real del mercado.</a:t>
            </a:r>
            <a:br/>
            <a:br/>
            <a:r>
              <a:t>Arquitectura no es la coleccion de dibujos. Arquitectura es el conjunto de decisiones que ordenan el sistema para que pueda crecer, cambiar y sostenerse en el tiempo con un costo razonable.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Arquitectura de software: decisiones, no solo diagramas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Que si debe hacer una arquitectura bien pensada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Una buena arquitectura define limites, responsabilidades y reglas de evolucion. No necesita describir cada pantalla ni cada detalle de implementacion. Necesita, en cambio, dejar claro como se protege el nucleo de negocio, que decisiones son estables y cuales pueden cambiar sin romper todo.</a:t>
            </a:r>
            <a:br/>
            <a:br/>
            <a:r>
              <a:t>Los diagramas siguen siendo utiles, pero como evidencia de una decision, no como sustituto de la decision. Primero se razona, luego se representa.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Arquitectura de software: decisiones, no solo diagramas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Aplicacion al caso logistica retail</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una plataforma de ultima milla, la pregunta no es si el diagrama se ve elegante. La pregunta real es: como evitar que un cambio en rutas destruya pagos, inventario y notificaciones al mismo tiempo. Si la arquitectura no responde eso, el dibujo no sirve.</a:t>
            </a:r>
            <a:br/>
            <a:br/>
            <a:r>
              <a:t>La primera conclusion es simple: cada decision debe justificarse por impacto en costo, calidad y capacidad de cambio. Ese sera el hilo conductor de todo el recorrido.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Decidir con evidencia tecnica y de negocio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Sin negocio no hay buena decision tecnica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No se puede decidir arquitectura desde la intuicion tecnica aislada. Si no se entiende como gana dinero el producto, donde pierde valor y que restriccion lo esta frenando, cualquier eleccion termina siendo una apuesta ciega.</a:t>
            </a:r>
            <a:br/>
            <a:br/>
            <a:r>
              <a:t>Por eso, el punto de partida siempre es el negocio: objetivos, metricas criticas, riesgos y expectativas de crecimiento.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Decidir con evidencia tecnica y de negocio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Sin evidencia tecnica tampoco hay decision seria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Entender negocio no reemplaza la evidencia tecnica. Tambien se necesita conocer estado del sistema, deuda acumulada, limites del equipo, presupuesto real y dependencias externas. Esa fotografia evita promesas imposibles y reduce decisiones decorativas.</a:t>
            </a:r>
            <a:br/>
            <a:br/>
            <a:r>
              <a:t>Cuando negocio y tecnica se cruzan con datos, aparece una decision defendible.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Decidir con evidencia tecnica y de negocio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Criterio aplicado al caso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la meta es reducir retrasos de entrega sin duplicar costos, entonces la arquitectura debe priorizar trazabilidad operativa y reaccion ante incidentes antes que sofisticacion innecesaria. No se diseña para impresionar, se diseña para resolver el problema que mas duele.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invisible y deuda arquitectonica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Lo barato al inicio puede salir carisimo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Muchas decisiones parecen eficientes al comienzo porque aceleran una entrega puntual. El problema aparece despues, cuando cada cambio tarda el doble, cada despliegue genera miedo y cada incidente cuesta horas de trabajo fuera de horario.</a:t>
            </a:r>
            <a:br/>
            <a:br/>
            <a:r>
              <a:t>Ese desgaste no siempre aparece en una factura directa, pero impacta productividad, moral del equipo y confianza del negocio.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invisible y deuda arquitectonica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Como reconocer que el costo oculto ya llego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Una senal clara es cuando modificar una funcionalidad pequena obliga a tocar demasiados modulos. Otra es cuando el equipo evita mejorar piezas criticas porque nadie entiende sus efectos colaterales.</a:t>
            </a:r>
            <a:br/>
            <a:br/>
            <a:r>
              <a:t>La deuda tecnica deja de ser un concepto academico cuando frena decisiones comerciales concretas.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invisible y deuda arquitectonica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Lectura para el caso de ultima milla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ajustar la logica de asignacion de repartidores afecta pagos e inventario, el sistema ya esta pagando intereses de deuda. La correccion no es trabajar mas horas: la correccion es redibujar limites y reducir acoplamiento donde mas duele.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Conversaciones dificiles y rol arquitectonico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Arquitectura tambien es negociacion</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la practica, muchas decisiones no fallan por falta de teoria, fallan porque nadie alinea expectativas entre areas. Producto quiere velocidad, operaciones quiere estabilidad, seguridad exige controles y desarrollo busca simplicidad para entregar.</a:t>
            </a:r>
            <a:br/>
            <a:br/>
            <a:r>
              <a:t>El rol arquitectonico consiste en convertir ese conflicto en una decision explicita y trazable.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Conversaciones dificiles y rol arquitectonico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Del conflicto al criterio comun</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salida no es imponer una postura tecnica. La salida es acordar criterios de evaluacion: impacto en cliente, costo total, riesgo operativo y esfuerzo de cambio. Cuando el criterio es compartido, la decision deja de ser personal y se vuelve organizacional.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Conversaciones dificiles y rol arquitectonico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Escena real del caso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picos de demanda, aceptar cualquier pedido mejora ventas en el corto plazo, pero puede destruir la experiencia si la operacion no cumple tiempos. La arquitectura debe equilibrar ese dilema con reglas claras de capacidad y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Problema esencial y complejidad incidental</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La pregunta que evita sobreingenieria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Antes de elegir tecnologia, conviene preguntar: cual es el problema que, si no resolvemos, haria fracasar el producto? Esa pregunta separa lo esencial de lo accesorio y evita gastar energia en detalles que no cambian el resultado de negocio.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Problema esencial y complejidad incidental</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Como se ve la confusion en equipos reales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Cuando un equipo debate frameworks durante dias, pero no define tiempos de entrega esperados ni nivel de trazabilidad requerido, ya perdio foco. La tecnologia debe responder al problema, nunca reemplazar su comprension.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Problema esencial y complejidad incidental</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Aplicacion directa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logistica retail, lo esencial es reducir retrasos, controlar incidencias y mantener consistencia de estado del pedido. Elegir lenguaje, libreria o proveedor viene despues y solo tiene sentido si mejora esos resultados.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Acoplamiento, cohesion y salud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Por que el acoplamiento castiga al equipo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 sistema muy acoplado obliga a que cada cambio sea una operacion de alto riesgo. El equipo entra en modo defensivo, aparece miedo a tocar componentes centrales y la velocidad cae.</a:t>
            </a:r>
            <a:br/>
            <a:br/>
            <a:r>
              <a:t>La arquitectura sana busca cohesion alta por modulo y acoplamiento bajo entre modulos.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Acoplamiento, cohesion y salud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Senales tempranas de deterioro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Clases gigantes, ciclos de dependencia, validaciones duplicadas y errores recurrentes en despliegue son sintomas de un limite mal definido. No son fallas individuales, son fallas de diseno estructural acumulado.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Acoplamiento, cohesion y salud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Que hacer en el caso practico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pedidos, rutas y notificaciones evolucionan juntos sin necesidad, conviene romper ese acoplamiento por responsabilidades. La prioridad no es rehacer todo: es intervenir primero donde el costo de cambio ya es inaceptable.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Fronteras y contexto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Definir frontera es definir responsabilidad</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Cuando no hay fronteras, nadie sabe con precision donde empieza y donde termina su responsabilidad. Definir contexto permite distinguir decisiones internas de dependencias externas y evita culpar al lugar equivocado cuando algo falla.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Fronteras y contexto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Elementos que deben quedar explicitos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Entradas del sistema, salidas esperadas, actores humanos, sistemas externos y contratos de intercambio. Con eso se construye un mapa de contexto util para decidir estructura y riesgos.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Fronteras y contexto del sistema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Lectura aplicada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plataforma central no controla disponibilidad del proveedor de mapas, pero si controla su estrategia de fallback. Esa diferencia entre control y dependencia define una parte esencial de la arquitectura.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Requisitos que realmente mueven arquitectura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No todo requisito pesa igual</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Hay requisitos que solo ajustan interfaz y hay requisitos que obligan a replantear estructura. La madurez arquitectonica esta en reconocer esa diferencia temprano.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Requisitos que realmente mueven arquitectura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Priorizar con valor y riesgo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Una buena priorizacion combina impacto para el negocio, urgencia operativa, costo de implementacion y dependencia tecnica. Ese orden evita que el roadmap se llene de trabajo visible pero poco estrategico.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Requisitos que realmente mueven arquitectura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Ejemplo del caso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Reasignar pedidos ante incidente en segundos tiene mas impacto estructural que cambiar color de estados en pantalla. La primera exige decisiones de eventos, consistencia y observabilidad; la segunda no.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Calidad medible como base de decision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La calidad no puede quedarse en adjetivos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Decir que un sistema debe ser rapido o seguro no alcanza. Se necesita definir cuanto, en que condicion y con que evidencia se valida. Sin esa precision, dos equipos pueden creer que cumplen aunque esten midiendo cosas distintas.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Calidad medible como base de decision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Escenarios que aterrizan decisiones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 escenario de calidad bien escrito conecta contexto, estimulo y respuesta esperada. Ese formato permite comparar alternativas arquitectonicas con criterio tecnico y no con percepcion.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Calidad medible como base de decision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Aplicacion concreta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el 95 por ciento de creacion de pedido debe responder en menos de dos segundos en hora pico, entonces la arquitectura necesita desacoplar operaciones pesadas y proteger el camino critico.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total de operacion y costo de cambio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El costo real vive en todo el ciclo de vida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Una eleccion arquitectonica no se evalua solo por el esfuerzo de construirla. Tambien incluye operarla, monitorearla, soportarla y modificarla bajo presion. Por eso una solucion aparentemente economica puede terminar siendo la mas cara.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total de operacion y costo de cambio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Pensar en costo de cambio desde el dia uno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Cada nuevo requisito va a interactuar con decisiones previas. Si el costo de ajustar una regla es alto, la arquitectura no esta protegiendo el negocio, lo esta frenando.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Costo total de operacion y costo de cambio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Mirada al caso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Separar responsabilidades en pedidos, ruteo e incidencias puede parecer trabajo extra al inicio, pero reduce drásticamente el costo de adaptacion cuando cambian las politicas de entrega.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Disenar para incertidumbre</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No hay arquitectura sin hipotesis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etapas iniciales siempre hay supuestos: demanda futura, comportamiento de usuarios, tiempos de proveedores, capacidad del equipo. Negar esa incertidumbre produce falsas certezas y malas decisiones.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Disenar para incertidumbre</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Decisiones reversibles primero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Cuando el contexto aun es cambiante, conviene priorizar decisiones que se puedan corregir rapido. Eso reduce riesgo financiero y tecnico mientras se valida la direccion del producto.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Disenar para incertidumbre</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Estrategia aplicada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vez de distribuir todo el sistema de una vez, se puede validar un flujo critico con eventos controlados y medir impacto real antes de ampliar el alcance.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Elegir estructura con criterios y no con modas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Toda estructura resuelve algo y complica algo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No existe estilo perfecto. Lo responsable es identificar que problema se quiere resolver y que complejidad se esta dispuesto a asumir. Esa honestidad evita decisiones cosmeticas.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Elegir estructura con criterios y no con modas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Criterios de comparacion utiles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Capacidad del equipo, presupuesto, riesgo operativo, velocidad de salida y expectativas de crecimiento. Con esos criterios se comparan opciones de forma transparente.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Elegir estructura con criterios y no con modas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Resultado esperado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eleccion estructural debe poder defenderse frente a negocio y frente a tecnologia con el mismo argumento: resuelve mejor el problema actual sin cerrar la puerta al futuro.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Capas que protegen de verdad</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La separacion por capas no es decorativa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Capas utiles implican responsabilidades claras. La capa externa orquesta entradas y salidas, la capa de negocio conserva reglas, y la infraestructura implementa detalles.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Capas que protegen de verdad</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Cuando las capas se rompen</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el controlador HTTP decide logica de negocio o si el dominio conoce SQL y detalles de proveedor, la arquitectura pierde su proteccion. El costo aparece en pruebas fragiles y cambios impredecibles.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Capas que protegen de verdad</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Aplicacion al sistema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Crear pedido debe poder probarse sin depender de servidor web ni base de datos real. Si eso no es posible, el limite entre capas necesita redisenarse.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Monolito modular como punto de partida sano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Pequeno no significa desordenado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 monolito modular puede ser una estrategia madura cuando el equipo y el presupuesto son acotados. La clave no es el tamano del despliegue, sino la calidad de los limites internos.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Monolito modular como punto de partida sano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Modulos con autonomia interna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Cada modulo debe expresar su responsabilidad y evitar acceso indiscriminado a datos de otros modulos. Esa disciplina prepara una evolucion posterior sin trauma.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Monolito modular como punto de partida sano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Escenario aplicado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Pedidos, inventario, ruteo e incidencias pueden convivir en un despliegue unico, pero con contratos internos claros para evitar acoplamiento accidental.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Contratos evolutivos para servicios e integraciones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Un contrato bien hecho protege al consumidor</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Cuando una interfaz cambia sin control, el costo de coordinacion se dispara. Un contrato evolutivo define entradas, salidas, errores y versionamiento para mantener estabilidad.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Contratos evolutivos para servicios e integraciones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Compatibilidad como politica tecnica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compatibilidad hacia atras no es capricho: es una practica que reduce interrupciones operativas y permite migraciones por etapas en equipos grandes.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Contratos evolutivos para servicios e integraciones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Ejemplo practico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El servicio de asignacion de repartidor debe mantener codigos de error coherentes aunque cambie la logica interna de optimizacion de rutas.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Eventos, consistencia y recuperacion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Distribuir tambien distribuye fallos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arquitectura distribuida, cada componente puede fallar de forma independiente. Por eso no basta con enviar mensajes; hay que planear recuperacion y trazabilidad.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Eventos, consistencia y recuperacion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Consistencia eventual con disciplina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Idempotencia, reintentos controlados y compensaciones son mecanismos obligatorios para evitar corrupcion de estado cuando una parte del flujo se retrasa o falla.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Eventos, consistencia y recuperacion</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Escena del negocio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Si un pedido fue cobrado pero no asignado, el sistema debe detectar el desbalance y ejecutar accion correctiva automatica antes de afectar al cliente final.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Microservicios: criterio antes que entusiasmo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No es una meta, es una herramienta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Microservicios ofrecen beneficios reales en ciertos contextos, pero tambien imponen costos altos de operacion, observabilidad y gobierno tecnico. Adoptarlos sin preparacion convierte complejidad en caos.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Microservicios: criterio antes que entusiasmo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Preguntas de readiness</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Hay capacidad para operar incidentes distribuidos? Existe automatizacion de despliegue confiable? Los equipos pueden gobernar contratos entre dominios? Si la respuesta es no, conviene fortalecer base antes de separar.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Microservicios: criterio antes que entusiasmo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Decision responsable</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mejor decision puede ser permanecer en monolito modular mientras se construyen fronteras, metricas y madurez operativa para una separacion futura segura.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SOLID como herramienta practica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Menos teoria aislada, mas diseno util</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SOLID no se aplica para cumplir una lista, se aplica para reducir fragilidad y hacer que el sistema sea comprensible. Cuando una clase hace demasiado, el cambio se vuelve caro y riesgoso.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SOLID como herramienta practica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Impacto real en mantenibilidad</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Separar responsabilidades y depender de abstracciones adecuadas mejora pruebas, acelera cambios y disminuye efectos colaterales.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SOLID como herramienta practica</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Ejemplo en el caso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La logica de validacion de pedido no debe mezclarse con envio de notificaciones ni con calculo de rutas. Esa separacion permite evolucionar reglas de negocio sin reabrir toda la aplicacion.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Direccion de dependencias y limites del codigo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Proteger el nucleo del negocio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El corazon del sistema debe conocer reglas de negocio, no detalles de framework, red o base de datos. Esa proteccion evita que cada cambio de tecnologia arrastre el dominio completo.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Direccion de dependencias y limites del codigo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Puertos y adaptadores con sentido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Definir puertos permite expresar que necesita el negocio sin acoplarse a una implementacion concreta. Los adaptadores resuelven el como tecnico en el borde del sistema.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Direccion de dependencias y limites del codigo</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Caso aplicado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El dominio solicita una operacion de cobro mediante un puerto; luego, un adaptador concreto habla con el proveedor de pagos. Si el proveedor cambia, el dominio permanece estable.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Patrones para problemas reales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Patrones con justificacion, no por inercia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Un patron agrega estructura, pero tambien agrega complejidad. Por eso su uso debe responder a un problema concreto y medible.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Patrones para problemas reales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Como elegir sin caer en receta</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Primero se formula el problema, luego se comparan alternativas y finalmente se adopta el patron cuyo costo-beneficio sea mejor para el contexto actual.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23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37160"/>
            <a:ext cx="11430000" cy="594360"/>
          </a:xfrm>
          <a:prstGeom prst="rect">
            <a:avLst/>
          </a:prstGeom>
          <a:noFill/>
        </p:spPr>
        <p:txBody>
          <a:bodyPr wrap="none">
            <a:spAutoFit/>
          </a:bodyPr>
          <a:lstStyle/>
          <a:p>
            <a:pPr>
              <a:defRPr b="1" sz="2400">
                <a:solidFill>
                  <a:srgbClr val="FFFFFF"/>
                </a:solidFill>
              </a:defRPr>
            </a:pPr>
            <a:r>
              <a:t>Patrones para problemas reales</a:t>
            </a:r>
          </a:p>
        </p:txBody>
      </p:sp>
      <p:sp>
        <p:nvSpPr>
          <p:cNvPr id="5" name="Rounded Rectangle 4"/>
          <p:cNvSpPr/>
          <p:nvPr/>
        </p:nvSpPr>
        <p:spPr>
          <a:xfrm>
            <a:off x="640080" y="1143000"/>
            <a:ext cx="10927080" cy="5440680"/>
          </a:xfrm>
          <a:prstGeom prst="roundRect">
            <a:avLst/>
          </a:prstGeom>
          <a:solidFill>
            <a:srgbClr val="FFFFFF"/>
          </a:solidFill>
          <a:ln>
            <a:solidFill>
              <a:srgbClr val="C3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424160" cy="640080"/>
          </a:xfrm>
          <a:prstGeom prst="rect">
            <a:avLst/>
          </a:prstGeom>
          <a:noFill/>
        </p:spPr>
        <p:txBody>
          <a:bodyPr wrap="none">
            <a:spAutoFit/>
          </a:bodyPr>
          <a:lstStyle/>
          <a:p>
            <a:pPr>
              <a:defRPr b="1" sz="2100">
                <a:solidFill>
                  <a:srgbClr val="123566"/>
                </a:solidFill>
              </a:defRPr>
            </a:pPr>
            <a:r>
              <a:t>Cierre evolutivo</a:t>
            </a:r>
          </a:p>
        </p:txBody>
      </p:sp>
      <p:sp>
        <p:nvSpPr>
          <p:cNvPr id="7" name="TextBox 6"/>
          <p:cNvSpPr txBox="1"/>
          <p:nvPr/>
        </p:nvSpPr>
        <p:spPr>
          <a:xfrm>
            <a:off x="914400" y="2057400"/>
            <a:ext cx="10332720" cy="4206240"/>
          </a:xfrm>
          <a:prstGeom prst="rect">
            <a:avLst/>
          </a:prstGeom>
          <a:noFill/>
        </p:spPr>
        <p:txBody>
          <a:bodyPr wrap="none">
            <a:spAutoFit/>
          </a:bodyPr>
          <a:lstStyle/>
          <a:p>
            <a:pPr>
              <a:defRPr sz="1700">
                <a:solidFill>
                  <a:srgbClr val="262C34"/>
                </a:solidFill>
              </a:defRPr>
            </a:pPr>
            <a:r>
              <a:t>En este contexto, Adapter puede aislar proveedores externos y Strategy puede variar politicas de asignacion. La conclusion final no es coleccionar patrones, sino construir decisiones coherentes que el equipo pueda sostener.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