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850624" y="0"/>
            <a:ext cx="338328" cy="6858000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09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210312"/>
            <a:ext cx="73152" cy="475488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"/>
            <a:ext cx="1005840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900">
                <a:solidFill>
                  <a:srgbClr val="FFFFFF"/>
                </a:solidFill>
                <a:latin typeface="Aptos Display"/>
              </a:defRPr>
            </a:pPr>
            <a:r>
              <a:t>Video 15 — Video 15: Acoplamiento entre servicios y sistemas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58368"/>
            <a:ext cx="7772400" cy="201168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800" b="1">
                <a:solidFill>
                  <a:srgbClr val="B7C7D5"/>
                </a:solidFill>
                <a:latin typeface="Aptos"/>
              </a:defRPr>
            </a:pPr>
            <a:r>
              <a:t>Material de apoyo para exposición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256032"/>
            <a:ext cx="685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300" b="1">
                <a:solidFill>
                  <a:srgbClr val="E0B24C"/>
                </a:solidFill>
                <a:latin typeface="Aptos Display"/>
              </a:defRPr>
            </a:pPr>
            <a:r>
              <a:t>15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473952"/>
            <a:ext cx="11018520" cy="13716"/>
          </a:xfrm>
          <a:prstGeom prst="rect">
            <a:avLst/>
          </a:prstGeom>
          <a:solidFill>
            <a:srgbClr val="D2D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28816"/>
            <a:ext cx="5486400" cy="1828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700" b="1">
                <a:solidFill>
                  <a:srgbClr val="5B6977"/>
                </a:solidFill>
                <a:latin typeface="Aptos"/>
              </a:defRPr>
            </a:pPr>
            <a:r>
              <a:t>ARQUITECTURA DE SOFTWARE  /  MATERIAL DE CLASE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0" y="6492240"/>
            <a:ext cx="15544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defRPr sz="800" b="1">
                <a:solidFill>
                  <a:srgbClr val="09172A"/>
                </a:solidFill>
                <a:latin typeface="Aptos"/>
              </a:defRPr>
            </a:pPr>
            <a:r>
              <a:t>VIDEO 15  /  01 / 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1371600"/>
            <a:ext cx="3200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239391"/>
                </a:solidFill>
                <a:latin typeface="Aptos"/>
              </a:defRPr>
            </a:pPr>
            <a:r>
              <a:t>ARQUITECTURA  /  SESIÓN DE APRENDIZAJE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1664208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9172A"/>
                </a:solidFill>
                <a:latin typeface="Aptos Display"/>
              </a:defRPr>
            </a:pPr>
            <a:r>
              <a:t>Video 15: Acoplamiento entre servicios y sistemas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2880360"/>
            <a:ext cx="10789920" cy="242316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6112" y="2990088"/>
            <a:ext cx="10469880" cy="228600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600">
                <a:solidFill>
                  <a:srgbClr val="239391"/>
                </a:solidFill>
                <a:latin typeface="Aptos Display"/>
              </a:defRPr>
            </a:pPr>
            <a:r>
              <a:t>Resumen del tema</a:t>
            </a:r>
          </a:p>
          <a:p>
            <a:pPr>
              <a:spcAft>
                <a:spcPts val="400"/>
              </a:spcAft>
              <a:defRPr sz="1200" b="0">
                <a:solidFill>
                  <a:srgbClr val="1C2734"/>
                </a:solidFill>
                <a:latin typeface="Aptos"/>
              </a:defRPr>
            </a:pPr>
            <a:r>
              <a:t>Este video estudia acoplamiento entre servicios y sistemas con el objetivo de organizar responsabilidades y dependencias para que el sistema pueda crecer sin propagar cambios.</a:t>
            </a:r>
          </a:p>
          <a:p>
            <a:pPr>
              <a:spcAft>
                <a:spcPts val="4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El tema se conecta con el proyecto de la plataforma logística porque pedidos, inventario, rutas y notificaciones deben colaborar sin compartir toda su lógica interna.</a:t>
            </a:r>
          </a:p>
          <a:p>
            <a:pPr>
              <a:spcAft>
                <a:spcPts val="400"/>
              </a:spcAft>
              <a:defRPr sz="1300">
                <a:solidFill>
                  <a:srgbClr val="1C2734"/>
                </a:solidFill>
                <a:latin typeface="Aptos"/>
              </a:defRPr>
            </a:pPr>
            <a:r>
              <a:t>La discusión no se limita a nombrar un patrón o una herramienta: exige identi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850624" y="0"/>
            <a:ext cx="338328" cy="6858000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09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210312"/>
            <a:ext cx="73152" cy="475488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"/>
            <a:ext cx="1005840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900">
                <a:solidFill>
                  <a:srgbClr val="FFFFFF"/>
                </a:solidFill>
                <a:latin typeface="Aptos Display"/>
              </a:defRPr>
            </a:pPr>
            <a:r>
              <a:t>Video 15 — Video 15: Acoplamiento entre servicios y sistemas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58368"/>
            <a:ext cx="7772400" cy="201168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800" b="1">
                <a:solidFill>
                  <a:srgbClr val="B7C7D5"/>
                </a:solidFill>
                <a:latin typeface="Aptos"/>
              </a:defRPr>
            </a:pPr>
            <a:r>
              <a:t>Ideas principales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256032"/>
            <a:ext cx="685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300" b="1">
                <a:solidFill>
                  <a:srgbClr val="E0B24C"/>
                </a:solidFill>
                <a:latin typeface="Aptos Display"/>
              </a:defRPr>
            </a:pPr>
            <a:r>
              <a:t>15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473952"/>
            <a:ext cx="11018520" cy="13716"/>
          </a:xfrm>
          <a:prstGeom prst="rect">
            <a:avLst/>
          </a:prstGeom>
          <a:solidFill>
            <a:srgbClr val="D2D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28816"/>
            <a:ext cx="5486400" cy="1828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700" b="1">
                <a:solidFill>
                  <a:srgbClr val="5B6977"/>
                </a:solidFill>
                <a:latin typeface="Aptos"/>
              </a:defRPr>
            </a:pPr>
            <a:r>
              <a:t>ARQUITECTURA DE SOFTWARE  /  MATERIAL DE CLASE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0" y="6492240"/>
            <a:ext cx="15544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defRPr sz="800" b="1">
                <a:solidFill>
                  <a:srgbClr val="09172A"/>
                </a:solidFill>
                <a:latin typeface="Aptos"/>
              </a:defRPr>
            </a:pPr>
            <a:r>
              <a:t>VIDEO 15  /  02 / 03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1417320"/>
            <a:ext cx="5394960" cy="480060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8952" y="1527048"/>
            <a:ext cx="5193792" cy="4654296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defRPr b="1" sz="1500">
                <a:solidFill>
                  <a:srgbClr val="239391"/>
                </a:solidFill>
                <a:latin typeface="Aptos Display"/>
              </a:defRPr>
            </a:pPr>
            <a:r>
              <a:t>Ideas clave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Una frontera útil define responsabilidad, contrato y propietario.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La estructura elegida debe ser proporcional al tamaño del equipo y al riesgo operativo.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La dirección de las dependencias protege las reglas importantes frente a detalles externos.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El ejemplo debe documentarse junto con sus supuestos, trade-offs y evidencia de validación.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1417320"/>
            <a:ext cx="5394960" cy="480060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82512" y="1527048"/>
            <a:ext cx="5074920" cy="466344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500">
                <a:solidFill>
                  <a:srgbClr val="E0B24C"/>
                </a:solidFill>
                <a:latin typeface="Aptos Display"/>
              </a:defRPr>
            </a:pPr>
            <a:r>
              <a:t>Ejemplo aplicado</a:t>
            </a:r>
          </a:p>
          <a:p>
            <a:pPr>
              <a:spcAft>
                <a:spcPts val="400"/>
              </a:spcAft>
              <a:defRPr sz="1200" b="0">
                <a:solidFill>
                  <a:srgbClr val="1C2734"/>
                </a:solidFill>
                <a:latin typeface="Aptos"/>
              </a:defRPr>
            </a:pPr>
            <a:r>
              <a:t>Este video estudia acoplamiento entre servicios y sistemas con el objetivo de organizar responsabilidades y dependencias para que el sistema pueda crecer sin propagar cambios. El 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850624" y="0"/>
            <a:ext cx="338328" cy="6858000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09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210312"/>
            <a:ext cx="73152" cy="475488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"/>
            <a:ext cx="1005840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900">
                <a:solidFill>
                  <a:srgbClr val="FFFFFF"/>
                </a:solidFill>
                <a:latin typeface="Aptos Display"/>
              </a:defRPr>
            </a:pPr>
            <a:r>
              <a:t>Video 15 — Video 15: Acoplamiento entre servicios y sistemas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58368"/>
            <a:ext cx="7772400" cy="201168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800" b="1">
                <a:solidFill>
                  <a:srgbClr val="B7C7D5"/>
                </a:solidFill>
                <a:latin typeface="Aptos"/>
              </a:defRPr>
            </a:pPr>
            <a:r>
              <a:t>Conclusión y reflexión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256032"/>
            <a:ext cx="685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300" b="1">
                <a:solidFill>
                  <a:srgbClr val="E0B24C"/>
                </a:solidFill>
                <a:latin typeface="Aptos Display"/>
              </a:defRPr>
            </a:pPr>
            <a:r>
              <a:t>15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473952"/>
            <a:ext cx="11018520" cy="13716"/>
          </a:xfrm>
          <a:prstGeom prst="rect">
            <a:avLst/>
          </a:prstGeom>
          <a:solidFill>
            <a:srgbClr val="D2D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28816"/>
            <a:ext cx="5486400" cy="1828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700" b="1">
                <a:solidFill>
                  <a:srgbClr val="5B6977"/>
                </a:solidFill>
                <a:latin typeface="Aptos"/>
              </a:defRPr>
            </a:pPr>
            <a:r>
              <a:t>ARQUITECTURA DE SOFTWARE  /  MATERIAL DE CLASE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0" y="6492240"/>
            <a:ext cx="15544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defRPr sz="800" b="1">
                <a:solidFill>
                  <a:srgbClr val="09172A"/>
                </a:solidFill>
                <a:latin typeface="Aptos"/>
              </a:defRPr>
            </a:pPr>
            <a:r>
              <a:t>VIDEO 15  /  03 / 03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1417320"/>
            <a:ext cx="5577840" cy="443484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1527048"/>
            <a:ext cx="5257800" cy="4297679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500">
                <a:solidFill>
                  <a:srgbClr val="239391"/>
                </a:solidFill>
                <a:latin typeface="Aptos Display"/>
              </a:defRPr>
            </a:pPr>
            <a:r>
              <a:t>Conclusión</a:t>
            </a:r>
          </a:p>
          <a:p>
            <a:pPr>
              <a:spcAft>
                <a:spcPts val="400"/>
              </a:spcAft>
              <a:defRPr sz="1200" b="0">
                <a:solidFill>
                  <a:srgbClr val="1C2734"/>
                </a:solidFill>
                <a:latin typeface="Aptos"/>
              </a:defRPr>
            </a:pPr>
            <a:r>
              <a:t>Acoplamiento entre servicios y sistemas aporta una forma concreta de trabajar sobre la arquitectura del sistema.</a:t>
            </a:r>
          </a:p>
          <a:p>
            <a:pPr>
              <a:spcAft>
                <a:spcPts val="4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Su valor aparece cuando conecta el contexto del negocio con una estructura implementable, medible y capaz de evolucionar.</a:t>
            </a:r>
          </a:p>
          <a:p>
            <a:pPr>
              <a:spcAft>
                <a:spcPts val="4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Para el caso logístico, la decisión debe dejar claro qué comportamiento se protege, qué dependencias se aceptan y cómo se responderá ante cambios o fallos.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1417320"/>
            <a:ext cx="5303520" cy="443484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3952" y="1527048"/>
            <a:ext cx="5102352" cy="4288536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defRPr b="1" sz="1500">
                <a:solidFill>
                  <a:srgbClr val="E0B24C"/>
                </a:solidFill>
                <a:latin typeface="Aptos Display"/>
              </a:defRPr>
            </a:pPr>
            <a:r>
              <a:t>Preguntas para reflexión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¿Qué responsabilidad pertenece realmente a cada módulo?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¿Qué dependencia sería más costosa de cambiar?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¿La estructura propuesta resuelve un problema real o agrega complejidad?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