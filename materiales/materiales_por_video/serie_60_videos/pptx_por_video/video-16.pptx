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16 — Video 16: Infraestructura, despliegue y entorno de ejecución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Material de apoyo para exposición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16  /  01 / 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371600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39391"/>
                </a:solidFill>
                <a:latin typeface="Aptos"/>
              </a:defRPr>
            </a:pPr>
            <a:r>
              <a:t>ARQUITECTURA  /  SESIÓN DE APRENDIZAJE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664208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172A"/>
                </a:solidFill>
                <a:latin typeface="Aptos Display"/>
              </a:defRPr>
            </a:pPr>
            <a:r>
              <a:t>Video 16: Infraestructura, despliegue y entorno de ejecución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10789920" cy="242316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90088"/>
            <a:ext cx="10469880" cy="228600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600">
                <a:solidFill>
                  <a:srgbClr val="239391"/>
                </a:solidFill>
                <a:latin typeface="Aptos Display"/>
              </a:defRPr>
            </a:pPr>
            <a:r>
              <a:t>Resumen del 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16 — Video 16: Infraestructura, despliegue y entorno de ejecución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Ideas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16  /  02 / 03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527048"/>
            <a:ext cx="5193792" cy="465429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Ideas clave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394960" cy="48006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527048"/>
            <a:ext cx="5074920" cy="46634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Ejemplo aplicado</a:t>
            </a:r>
          </a:p>
          <a:p>
            <a:pPr>
              <a:spcAft>
                <a:spcPts val="400"/>
              </a:spcAft>
              <a:defRPr sz="1300" b="0">
                <a:solidFill>
                  <a:srgbClr val="1C2734"/>
                </a:solidFill>
                <a:latin typeface="Aptos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16 — Video 16: Infraestructura, despliegue y entorno de ejecución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Clase en acción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16  /  03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1325880"/>
            <a:ext cx="11018520" cy="12344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435607"/>
            <a:ext cx="10698480" cy="109728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Propósito de aprendizaje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Al finalizar la clase, el estudiante podrá diseñar una comunicación entre componentes considerando contrato, fallos, consistencia y recuperación y explicarlo usando el caso de la plataforma logística de última milla.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E0B24C"/>
                </a:solidFill>
                <a:latin typeface="Aptos Display"/>
              </a:defRPr>
            </a:pPr>
            <a:r>
              <a:t>Apertura y explicación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Comenzar con esta situación: pedidos, inventario, rutas y notificaciones deben colaborar sin compartir toda su lógica interna. Pedir a los estudiantes que respondan qué podría fallar, quién se vería afectado y qué decisión técnica tendría mayor impacto. No iniciar con nombres de patrones; iniciar con el problema y las consecuencias observables.</a:t>
            </a:r>
          </a:p>
          <a:p>
            <a:pPr>
              <a:spcAft>
                <a:spcPts val="4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El docente presenta infraestructura, despliegue y entorno de ejecución como una decisión situada. Primero delimita el problema y sus actores; después muestra qué alternativas existen; finalmente relaciona cada alternativa con costo, riesgo y calidad. La pregunta que guía la clase es: ¿qué evidencia permitiría defender esta decisión ante el equipo y el negocio?</a:t>
            </a:r>
            <a:br/>
            <a:br/>
            <a:r>
              <a:t>El concepto se trabaja en tres movimientos. Primero, se describe el contexto y se sepa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743200"/>
            <a:ext cx="5394960" cy="297180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2852928"/>
            <a:ext cx="5074920" cy="2834640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400">
                <a:solidFill>
                  <a:srgbClr val="239391"/>
                </a:solidFill>
                <a:latin typeface="Aptos Display"/>
              </a:defRPr>
            </a:pPr>
            <a:r>
              <a:t>Práctica guiada</a:t>
            </a:r>
          </a:p>
          <a:p>
            <a:pPr>
              <a:spcAft>
                <a:spcPts val="400"/>
              </a:spcAft>
              <a:defRPr sz="1200" b="0">
                <a:solidFill>
                  <a:srgbClr val="1C2734"/>
                </a:solidFill>
                <a:latin typeface="Aptos"/>
              </a:defRPr>
            </a:pPr>
            <a:r>
              <a:t>En equipos, aplicar el tema a la plataforma logística. Partir del caso: pedidos, inventario, rutas y notificaciones deben colaborar sin compartir toda su lógica interna. Escribir el supuesto principal, proponer dos alternativas, elegir una y justificar la elección con tres criterios. Cerrar con un diagrama o fragmento de código que haga visible la decisión.</a:t>
            </a:r>
            <a:br/>
            <a:br/>
            <a:r>
              <a:t>La evidencia mínima debe incluir: contexto del problema, decisión tomada, alternativa descartada, dos consecuencias esperadas y una forma de verificación. Guardarla en el repositorio dentro de la carpeta correspondiente a Actividad 2: requisitos y decisión estructural.</a:t>
            </a:r>
          </a:p>
          <a:p>
            <a:pPr>
              <a:spcAft>
                <a:spcPts val="400"/>
              </a:spcAft>
              <a:defRPr sz="1300">
                <a:solidFill>
                  <a:srgbClr val="1C2734"/>
                </a:solidFill>
                <a:latin typeface="Aptos"/>
              </a:defRPr>
            </a:pPr>
            <a:r>
              <a:t>Evidencia: decisión, alternativa, trade-off y verificación.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50624" y="0"/>
            <a:ext cx="338328" cy="6858000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87552"/>
          </a:xfrm>
          <a:prstGeom prst="rect">
            <a:avLst/>
          </a:prstGeom>
          <a:solidFill>
            <a:srgbClr val="09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210312"/>
            <a:ext cx="73152" cy="475488"/>
          </a:xfrm>
          <a:prstGeom prst="rect">
            <a:avLst/>
          </a:prstGeom>
          <a:solidFill>
            <a:srgbClr val="E0B2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"/>
            <a:ext cx="10058400" cy="429768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defRPr b="1" sz="1900">
                <a:solidFill>
                  <a:srgbClr val="FFFFFF"/>
                </a:solidFill>
                <a:latin typeface="Aptos Display"/>
              </a:defRPr>
            </a:pPr>
            <a:r>
              <a:t>Video 16 — Video 16: Infraestructura, despliegue y entorno de ejecución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58368"/>
            <a:ext cx="7772400" cy="201168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800" b="1">
                <a:solidFill>
                  <a:srgbClr val="B7C7D5"/>
                </a:solidFill>
                <a:latin typeface="Aptos"/>
              </a:defRPr>
            </a:pPr>
            <a:r>
              <a:t>Conclusión y reflexión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256032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300" b="1">
                <a:solidFill>
                  <a:srgbClr val="E0B24C"/>
                </a:solidFill>
                <a:latin typeface="Aptos Display"/>
              </a:defRPr>
            </a:pPr>
            <a: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018520" cy="13716"/>
          </a:xfrm>
          <a:prstGeom prst="rect">
            <a:avLst/>
          </a:prstGeom>
          <a:solidFill>
            <a:srgbClr val="D2DB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28816"/>
            <a:ext cx="5486400" cy="1828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700" b="1">
                <a:solidFill>
                  <a:srgbClr val="5B6977"/>
                </a:solidFill>
                <a:latin typeface="Aptos"/>
              </a:defRPr>
            </a:pPr>
            <a:r>
              <a:t>ARQUITECTURA DE SOFTWARE  /  MATERIAL DE CLASE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0" y="6492240"/>
            <a:ext cx="1554480" cy="22860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800" b="1">
                <a:solidFill>
                  <a:srgbClr val="09172A"/>
                </a:solidFill>
                <a:latin typeface="Aptos"/>
              </a:defRPr>
            </a:pPr>
            <a:r>
              <a:t>VIDEO 16  /  04 / 04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417320"/>
            <a:ext cx="557784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1" y="1527048"/>
            <a:ext cx="5257800" cy="4297679"/>
          </a:xfrm>
          <a:prstGeom prst="rect">
            <a:avLst/>
          </a:prstGeom>
          <a:noFill/>
        </p:spPr>
        <p:txBody>
          <a:bodyPr wrap="square" lIns="36576" rIns="36576" tIns="18288" anchor="t">
            <a:spAutoFit/>
          </a:bodyPr>
          <a:lstStyle/>
          <a:p>
            <a:pPr>
              <a:defRPr b="1" sz="1500">
                <a:solidFill>
                  <a:srgbClr val="239391"/>
                </a:solidFill>
                <a:latin typeface="Aptos Display"/>
              </a:defRPr>
            </a:pPr>
            <a:r>
              <a:t>Conclusión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17320"/>
            <a:ext cx="5303520" cy="4434840"/>
          </a:xfrm>
          <a:prstGeom prst="roundRect">
            <a:avLst/>
          </a:prstGeom>
          <a:solidFill>
            <a:srgbClr val="FFFFFF"/>
          </a:solidFill>
          <a:ln w="1">
            <a:solidFill>
              <a:srgbClr val="D2DB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73952" y="1527048"/>
            <a:ext cx="5102352" cy="4288536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b="1" sz="1500">
                <a:solidFill>
                  <a:srgbClr val="E0B24C"/>
                </a:solidFill>
                <a:latin typeface="Aptos Display"/>
              </a:defRPr>
            </a:pPr>
            <a:r>
              <a:t>Preguntas para reflexión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responsabilidad pertenece realmente a cada módulo?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¿Qué dependencia sería más costosa de cambiar?</a:t>
            </a:r>
          </a:p>
          <a:p>
            <a:pPr>
              <a:spcAft>
                <a:spcPts val="500"/>
              </a:spcAft>
              <a:defRPr sz="1200">
                <a:solidFill>
                  <a:srgbClr val="1C2734"/>
                </a:solidFill>
                <a:latin typeface="Aptos"/>
              </a:defRPr>
            </a:pPr>
            <a:r>
              <a:t>• ¿La estructura propuesta resuelve un problema real o agrega complejidad?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