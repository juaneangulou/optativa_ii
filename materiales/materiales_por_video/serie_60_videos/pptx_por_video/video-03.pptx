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FF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850624" y="0"/>
            <a:ext cx="338328" cy="6858000"/>
          </a:xfrm>
          <a:prstGeom prst="rect">
            <a:avLst/>
          </a:prstGeom>
          <a:solidFill>
            <a:srgbClr val="E0B2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987552"/>
          </a:xfrm>
          <a:prstGeom prst="rect">
            <a:avLst/>
          </a:prstGeom>
          <a:solidFill>
            <a:srgbClr val="09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11480" y="210312"/>
            <a:ext cx="73152" cy="475488"/>
          </a:xfrm>
          <a:prstGeom prst="rect">
            <a:avLst/>
          </a:prstGeom>
          <a:solidFill>
            <a:srgbClr val="E0B2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28016"/>
            <a:ext cx="10058400" cy="42976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900">
                <a:solidFill>
                  <a:srgbClr val="FFFFFF"/>
                </a:solidFill>
                <a:latin typeface="Aptos Display"/>
              </a:defRPr>
            </a:pPr>
            <a:r>
              <a:t>Video 3 — Video 3: El arquitecto y la responsabilidad técnica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658368"/>
            <a:ext cx="7772400" cy="201168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>
              <a:defRPr sz="800" b="1">
                <a:solidFill>
                  <a:srgbClr val="B7C7D5"/>
                </a:solidFill>
                <a:latin typeface="Aptos"/>
              </a:defRPr>
            </a:pPr>
            <a:r>
              <a:t>Material de apoyo para exposición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61320" y="256032"/>
            <a:ext cx="685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2300" b="1">
                <a:solidFill>
                  <a:srgbClr val="E0B24C"/>
                </a:solidFill>
                <a:latin typeface="Aptos Display"/>
              </a:defRPr>
            </a:pPr>
            <a:r>
              <a:t>03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6473952"/>
            <a:ext cx="11018520" cy="13716"/>
          </a:xfrm>
          <a:prstGeom prst="rect">
            <a:avLst/>
          </a:prstGeom>
          <a:solidFill>
            <a:srgbClr val="D2DB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528816"/>
            <a:ext cx="5486400" cy="18288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>
              <a:defRPr sz="700" b="1">
                <a:solidFill>
                  <a:srgbClr val="5B6977"/>
                </a:solidFill>
                <a:latin typeface="Aptos"/>
              </a:defRPr>
            </a:pPr>
            <a:r>
              <a:t>ARQUITECTURA DE SOFTWARE  /  MATERIAL DE CLASE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784080" y="6492240"/>
            <a:ext cx="1554480" cy="22860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r">
              <a:defRPr sz="800" b="1">
                <a:solidFill>
                  <a:srgbClr val="09172A"/>
                </a:solidFill>
                <a:latin typeface="Aptos"/>
              </a:defRPr>
            </a:pPr>
            <a:r>
              <a:t>VIDEO 03  /  01 / 03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8" y="1371600"/>
            <a:ext cx="32004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239391"/>
                </a:solidFill>
                <a:latin typeface="Aptos"/>
              </a:defRPr>
            </a:pPr>
            <a:r>
              <a:t>ARQUITECTURA  /  SESIÓN DE APRENDIZAJE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1664208"/>
            <a:ext cx="10332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09172A"/>
                </a:solidFill>
                <a:latin typeface="Aptos Display"/>
              </a:defRPr>
            </a:pPr>
            <a:r>
              <a:t>Video 3: El arquitecto y la responsabilidad técnica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2880360"/>
            <a:ext cx="10789920" cy="2423160"/>
          </a:xfrm>
          <a:prstGeom prst="roundRect">
            <a:avLst/>
          </a:prstGeom>
          <a:solidFill>
            <a:srgbClr val="FFFFFF"/>
          </a:solidFill>
          <a:ln w="1">
            <a:solidFill>
              <a:srgbClr val="D2DB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96112" y="2990088"/>
            <a:ext cx="10469880" cy="228600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>
              <a:defRPr b="1" sz="1600">
                <a:solidFill>
                  <a:srgbClr val="239391"/>
                </a:solidFill>
                <a:latin typeface="Aptos Display"/>
              </a:defRPr>
            </a:pPr>
            <a:r>
              <a:t>Resumen del tema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FF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850624" y="0"/>
            <a:ext cx="338328" cy="6858000"/>
          </a:xfrm>
          <a:prstGeom prst="rect">
            <a:avLst/>
          </a:prstGeom>
          <a:solidFill>
            <a:srgbClr val="E0B2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987552"/>
          </a:xfrm>
          <a:prstGeom prst="rect">
            <a:avLst/>
          </a:prstGeom>
          <a:solidFill>
            <a:srgbClr val="09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11480" y="210312"/>
            <a:ext cx="73152" cy="475488"/>
          </a:xfrm>
          <a:prstGeom prst="rect">
            <a:avLst/>
          </a:prstGeom>
          <a:solidFill>
            <a:srgbClr val="E0B2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28016"/>
            <a:ext cx="10058400" cy="42976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900">
                <a:solidFill>
                  <a:srgbClr val="FFFFFF"/>
                </a:solidFill>
                <a:latin typeface="Aptos Display"/>
              </a:defRPr>
            </a:pPr>
            <a:r>
              <a:t>Video 3 — Video 3: El arquitecto y la responsabilidad técnica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658368"/>
            <a:ext cx="7772400" cy="201168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>
              <a:defRPr sz="800" b="1">
                <a:solidFill>
                  <a:srgbClr val="B7C7D5"/>
                </a:solidFill>
                <a:latin typeface="Aptos"/>
              </a:defRPr>
            </a:pPr>
            <a:r>
              <a:t>Ideas principales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61320" y="256032"/>
            <a:ext cx="685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2300" b="1">
                <a:solidFill>
                  <a:srgbClr val="E0B24C"/>
                </a:solidFill>
                <a:latin typeface="Aptos Display"/>
              </a:defRPr>
            </a:pPr>
            <a:r>
              <a:t>03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6473952"/>
            <a:ext cx="11018520" cy="13716"/>
          </a:xfrm>
          <a:prstGeom prst="rect">
            <a:avLst/>
          </a:prstGeom>
          <a:solidFill>
            <a:srgbClr val="D2DB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528816"/>
            <a:ext cx="5486400" cy="18288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>
              <a:defRPr sz="700" b="1">
                <a:solidFill>
                  <a:srgbClr val="5B6977"/>
                </a:solidFill>
                <a:latin typeface="Aptos"/>
              </a:defRPr>
            </a:pPr>
            <a:r>
              <a:t>ARQUITECTURA DE SOFTWARE  /  MATERIAL DE CLASE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784080" y="6492240"/>
            <a:ext cx="1554480" cy="22860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r">
              <a:defRPr sz="800" b="1">
                <a:solidFill>
                  <a:srgbClr val="09172A"/>
                </a:solidFill>
                <a:latin typeface="Aptos"/>
              </a:defRPr>
            </a:pPr>
            <a:r>
              <a:t>VIDEO 03  /  02 / 03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360" y="1417320"/>
            <a:ext cx="5394960" cy="4800600"/>
          </a:xfrm>
          <a:prstGeom prst="roundRect">
            <a:avLst/>
          </a:prstGeom>
          <a:solidFill>
            <a:srgbClr val="FFFFFF"/>
          </a:solidFill>
          <a:ln w="1">
            <a:solidFill>
              <a:srgbClr val="D2DB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58952" y="1527048"/>
            <a:ext cx="5193792" cy="4654296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>
              <a:defRPr b="1" sz="1500">
                <a:solidFill>
                  <a:srgbClr val="239391"/>
                </a:solidFill>
                <a:latin typeface="Aptos Display"/>
              </a:defRPr>
            </a:pPr>
            <a:r>
              <a:t>Ideas clave</a:t>
            </a:r>
          </a:p>
          <a:p>
            <a:pPr>
              <a:spcAft>
                <a:spcPts val="500"/>
              </a:spcAft>
              <a:defRPr sz="1200">
                <a:solidFill>
                  <a:srgbClr val="1C2734"/>
                </a:solidFill>
                <a:latin typeface="Aptos"/>
              </a:defRPr>
            </a:pPr>
            <a:r>
              <a:t>• 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0" y="1417320"/>
            <a:ext cx="5394960" cy="4800600"/>
          </a:xfrm>
          <a:prstGeom prst="roundRect">
            <a:avLst/>
          </a:prstGeom>
          <a:solidFill>
            <a:srgbClr val="FFFFFF"/>
          </a:solidFill>
          <a:ln w="1">
            <a:solidFill>
              <a:srgbClr val="D2DB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82512" y="1527048"/>
            <a:ext cx="5074920" cy="466344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>
              <a:defRPr b="1" sz="1500">
                <a:solidFill>
                  <a:srgbClr val="E0B24C"/>
                </a:solidFill>
                <a:latin typeface="Aptos Display"/>
              </a:defRPr>
            </a:pPr>
            <a:r>
              <a:t>Ejemplo aplicado</a:t>
            </a:r>
          </a:p>
          <a:p>
            <a:pPr>
              <a:spcAft>
                <a:spcPts val="400"/>
              </a:spcAft>
              <a:defRPr sz="1300" b="0">
                <a:solidFill>
                  <a:srgbClr val="1C2734"/>
                </a:solidFill>
                <a:latin typeface="Aptos"/>
              </a:defRPr>
            </a:p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FF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850624" y="0"/>
            <a:ext cx="338328" cy="6858000"/>
          </a:xfrm>
          <a:prstGeom prst="rect">
            <a:avLst/>
          </a:prstGeom>
          <a:solidFill>
            <a:srgbClr val="E0B2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987552"/>
          </a:xfrm>
          <a:prstGeom prst="rect">
            <a:avLst/>
          </a:prstGeom>
          <a:solidFill>
            <a:srgbClr val="09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11480" y="210312"/>
            <a:ext cx="73152" cy="475488"/>
          </a:xfrm>
          <a:prstGeom prst="rect">
            <a:avLst/>
          </a:prstGeom>
          <a:solidFill>
            <a:srgbClr val="E0B2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28016"/>
            <a:ext cx="10058400" cy="42976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900">
                <a:solidFill>
                  <a:srgbClr val="FFFFFF"/>
                </a:solidFill>
                <a:latin typeface="Aptos Display"/>
              </a:defRPr>
            </a:pPr>
            <a:r>
              <a:t>Video 3 — Video 3: El arquitecto y la responsabilidad técnica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658368"/>
            <a:ext cx="7772400" cy="201168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>
              <a:defRPr sz="800" b="1">
                <a:solidFill>
                  <a:srgbClr val="B7C7D5"/>
                </a:solidFill>
                <a:latin typeface="Aptos"/>
              </a:defRPr>
            </a:pPr>
            <a:r>
              <a:t>Clase en acción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61320" y="256032"/>
            <a:ext cx="685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2300" b="1">
                <a:solidFill>
                  <a:srgbClr val="E0B24C"/>
                </a:solidFill>
                <a:latin typeface="Aptos Display"/>
              </a:defRPr>
            </a:pPr>
            <a:r>
              <a:t>03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6473952"/>
            <a:ext cx="11018520" cy="13716"/>
          </a:xfrm>
          <a:prstGeom prst="rect">
            <a:avLst/>
          </a:prstGeom>
          <a:solidFill>
            <a:srgbClr val="D2DB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528816"/>
            <a:ext cx="5486400" cy="18288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>
              <a:defRPr sz="700" b="1">
                <a:solidFill>
                  <a:srgbClr val="5B6977"/>
                </a:solidFill>
                <a:latin typeface="Aptos"/>
              </a:defRPr>
            </a:pPr>
            <a:r>
              <a:t>ARQUITECTURA DE SOFTWARE  /  MATERIAL DE CLASE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784080" y="6492240"/>
            <a:ext cx="1554480" cy="22860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r">
              <a:defRPr sz="800" b="1">
                <a:solidFill>
                  <a:srgbClr val="09172A"/>
                </a:solidFill>
                <a:latin typeface="Aptos"/>
              </a:defRPr>
            </a:pPr>
            <a:r>
              <a:t>VIDEO 03  /  03 / 04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360" y="1325880"/>
            <a:ext cx="11018520" cy="1234440"/>
          </a:xfrm>
          <a:prstGeom prst="roundRect">
            <a:avLst/>
          </a:prstGeom>
          <a:solidFill>
            <a:srgbClr val="FFFFFF"/>
          </a:solidFill>
          <a:ln w="1">
            <a:solidFill>
              <a:srgbClr val="D2DB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58952" y="1435607"/>
            <a:ext cx="10698480" cy="109728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>
              <a:defRPr b="1" sz="1500">
                <a:solidFill>
                  <a:srgbClr val="239391"/>
                </a:solidFill>
                <a:latin typeface="Aptos Display"/>
              </a:defRPr>
            </a:pPr>
            <a:r>
              <a:t>Propósito de aprendizaje</a:t>
            </a:r>
          </a:p>
          <a:p>
            <a:pPr>
              <a:spcAft>
                <a:spcPts val="400"/>
              </a:spcAft>
              <a:defRPr sz="1200" b="0">
                <a:solidFill>
                  <a:srgbClr val="1C2734"/>
                </a:solidFill>
                <a:latin typeface="Aptos"/>
              </a:defRPr>
            </a:pPr>
            <a:r>
              <a:t>Al finalizar la clase, el estudiante podrá convertir una necesidad del negocio en una decisión arquitectónica explícita y verificable y explicarlo usando el caso de la plataforma logística de última milla.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94360" y="2743200"/>
            <a:ext cx="5394960" cy="2971800"/>
          </a:xfrm>
          <a:prstGeom prst="roundRect">
            <a:avLst/>
          </a:prstGeom>
          <a:solidFill>
            <a:srgbClr val="FFFFFF"/>
          </a:solidFill>
          <a:ln w="1">
            <a:solidFill>
              <a:srgbClr val="D2DB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58952" y="2852928"/>
            <a:ext cx="5074920" cy="283464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>
              <a:defRPr b="1" sz="1400">
                <a:solidFill>
                  <a:srgbClr val="E0B24C"/>
                </a:solidFill>
                <a:latin typeface="Aptos Display"/>
              </a:defRPr>
            </a:pPr>
            <a:r>
              <a:t>Apertura y explicación</a:t>
            </a:r>
          </a:p>
          <a:p>
            <a:pPr>
              <a:spcAft>
                <a:spcPts val="400"/>
              </a:spcAft>
              <a:defRPr sz="1200" b="0">
                <a:solidFill>
                  <a:srgbClr val="1C2734"/>
                </a:solidFill>
                <a:latin typeface="Aptos"/>
              </a:defRPr>
            </a:pPr>
            <a:r>
              <a:t>Comenzar con esta situación: la plataforma logística debe recibir pedidos, asignar rutas y responder ante retrasos sin perder trazabilidad. Pedir a los estudiantes que respondan qué podría fallar, quién se vería afectado y qué decisión técnica tendría mayor impacto. No iniciar con nombres de patrones; iniciar con el problema y las consecuencias observables.</a:t>
            </a:r>
          </a:p>
          <a:p>
            <a:pPr>
              <a:spcAft>
                <a:spcPts val="400"/>
              </a:spcAft>
              <a:defRPr sz="1200">
                <a:solidFill>
                  <a:srgbClr val="1C2734"/>
                </a:solidFill>
                <a:latin typeface="Aptos"/>
              </a:defRPr>
            </a:pPr>
            <a:r>
              <a:t>El docente presenta el arquitecto y la responsabilidad técnica como una decisión situada. Primero delimita el problema y sus actores; después muestra qué alternativas existen; finalmente relaciona cada alternativa con costo, riesgo y calidad. La pregunta que guía la clase es: ¿qué evidencia permitiría defender esta decisión ante el equipo y el negocio?</a:t>
            </a:r>
            <a:br/>
            <a:br/>
            <a:r>
              <a:t>El concepto se trabaja en tres movimientos. Primero, se describe el contexto y se separan hech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17920" y="2743200"/>
            <a:ext cx="5394960" cy="2971800"/>
          </a:xfrm>
          <a:prstGeom prst="roundRect">
            <a:avLst/>
          </a:prstGeom>
          <a:solidFill>
            <a:srgbClr val="FFFFFF"/>
          </a:solidFill>
          <a:ln w="1">
            <a:solidFill>
              <a:srgbClr val="D2DB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82512" y="2852928"/>
            <a:ext cx="5074920" cy="283464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>
              <a:defRPr b="1" sz="1400">
                <a:solidFill>
                  <a:srgbClr val="239391"/>
                </a:solidFill>
                <a:latin typeface="Aptos Display"/>
              </a:defRPr>
            </a:pPr>
            <a:r>
              <a:t>Práctica guiada</a:t>
            </a:r>
          </a:p>
          <a:p>
            <a:pPr>
              <a:spcAft>
                <a:spcPts val="400"/>
              </a:spcAft>
              <a:defRPr sz="1200" b="0">
                <a:solidFill>
                  <a:srgbClr val="1C2734"/>
                </a:solidFill>
                <a:latin typeface="Aptos"/>
              </a:defRPr>
            </a:pPr>
            <a:r>
              <a:t>En equipos, aplicar el tema a la plataforma logística. Partir del caso: la plataforma logística debe recibir pedidos, asignar rutas y responder ante retrasos sin perder trazabilidad. Escribir el supuesto principal, proponer dos alternativas, elegir una y justificar la elección con tres criterios. Cerrar con un diagrama o fragmento de código que haga visible la decisión.</a:t>
            </a:r>
            <a:br/>
            <a:br/>
            <a:r>
              <a:t>La evidencia mínima debe incluir: contexto del problema, decisión tomada, alternativa descartada, dos consecuencias esperadas y una forma de verificación. Guardarla en el repositorio dentro de la carpeta correspondiente a Actividad 1: diagnóstico y contexto arquitectónico.</a:t>
            </a:r>
          </a:p>
          <a:p>
            <a:pPr>
              <a:spcAft>
                <a:spcPts val="400"/>
              </a:spcAft>
              <a:defRPr sz="1300">
                <a:solidFill>
                  <a:srgbClr val="1C2734"/>
                </a:solidFill>
                <a:latin typeface="Aptos"/>
              </a:defRPr>
            </a:pPr>
            <a:r>
              <a:t>Evidencia: decisión, alternativa, trade-off y verificación.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FF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850624" y="0"/>
            <a:ext cx="338328" cy="6858000"/>
          </a:xfrm>
          <a:prstGeom prst="rect">
            <a:avLst/>
          </a:prstGeom>
          <a:solidFill>
            <a:srgbClr val="E0B2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987552"/>
          </a:xfrm>
          <a:prstGeom prst="rect">
            <a:avLst/>
          </a:prstGeom>
          <a:solidFill>
            <a:srgbClr val="09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11480" y="210312"/>
            <a:ext cx="73152" cy="475488"/>
          </a:xfrm>
          <a:prstGeom prst="rect">
            <a:avLst/>
          </a:prstGeom>
          <a:solidFill>
            <a:srgbClr val="E0B2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28016"/>
            <a:ext cx="10058400" cy="42976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900">
                <a:solidFill>
                  <a:srgbClr val="FFFFFF"/>
                </a:solidFill>
                <a:latin typeface="Aptos Display"/>
              </a:defRPr>
            </a:pPr>
            <a:r>
              <a:t>Video 3 — Video 3: El arquitecto y la responsabilidad técnica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658368"/>
            <a:ext cx="7772400" cy="201168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>
              <a:defRPr sz="800" b="1">
                <a:solidFill>
                  <a:srgbClr val="B7C7D5"/>
                </a:solidFill>
                <a:latin typeface="Aptos"/>
              </a:defRPr>
            </a:pPr>
            <a:r>
              <a:t>Conclusión y reflexión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61320" y="256032"/>
            <a:ext cx="685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2300" b="1">
                <a:solidFill>
                  <a:srgbClr val="E0B24C"/>
                </a:solidFill>
                <a:latin typeface="Aptos Display"/>
              </a:defRPr>
            </a:pPr>
            <a:r>
              <a:t>03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6473952"/>
            <a:ext cx="11018520" cy="13716"/>
          </a:xfrm>
          <a:prstGeom prst="rect">
            <a:avLst/>
          </a:prstGeom>
          <a:solidFill>
            <a:srgbClr val="D2DB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528816"/>
            <a:ext cx="5486400" cy="18288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>
              <a:defRPr sz="700" b="1">
                <a:solidFill>
                  <a:srgbClr val="5B6977"/>
                </a:solidFill>
                <a:latin typeface="Aptos"/>
              </a:defRPr>
            </a:pPr>
            <a:r>
              <a:t>ARQUITECTURA DE SOFTWARE  /  MATERIAL DE CLASE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784080" y="6492240"/>
            <a:ext cx="1554480" cy="22860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r">
              <a:defRPr sz="800" b="1">
                <a:solidFill>
                  <a:srgbClr val="09172A"/>
                </a:solidFill>
                <a:latin typeface="Aptos"/>
              </a:defRPr>
            </a:pPr>
            <a:r>
              <a:t>VIDEO 03  /  04 / 04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1417320"/>
            <a:ext cx="5577840" cy="4434840"/>
          </a:xfrm>
          <a:prstGeom prst="roundRect">
            <a:avLst/>
          </a:prstGeom>
          <a:solidFill>
            <a:srgbClr val="FFFFFF"/>
          </a:solidFill>
          <a:ln w="1">
            <a:solidFill>
              <a:srgbClr val="D2DB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1" y="1527048"/>
            <a:ext cx="5257800" cy="4297679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>
              <a:defRPr b="1" sz="1500">
                <a:solidFill>
                  <a:srgbClr val="239391"/>
                </a:solidFill>
                <a:latin typeface="Aptos Display"/>
              </a:defRPr>
            </a:pPr>
            <a:r>
              <a:t>Conclusión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09360" y="1417320"/>
            <a:ext cx="5303520" cy="4434840"/>
          </a:xfrm>
          <a:prstGeom prst="roundRect">
            <a:avLst/>
          </a:prstGeom>
          <a:solidFill>
            <a:srgbClr val="FFFFFF"/>
          </a:solidFill>
          <a:ln w="1">
            <a:solidFill>
              <a:srgbClr val="D2DB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73952" y="1527048"/>
            <a:ext cx="5102352" cy="4288536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>
              <a:defRPr b="1" sz="1500">
                <a:solidFill>
                  <a:srgbClr val="E0B24C"/>
                </a:solidFill>
                <a:latin typeface="Aptos Display"/>
              </a:defRPr>
            </a:pPr>
            <a:r>
              <a:t>Preguntas para reflexión</a:t>
            </a:r>
          </a:p>
          <a:p>
            <a:pPr>
              <a:spcAft>
                <a:spcPts val="500"/>
              </a:spcAft>
              <a:defRPr sz="1200">
                <a:solidFill>
                  <a:srgbClr val="1C2734"/>
                </a:solidFill>
                <a:latin typeface="Aptos"/>
              </a:defRPr>
            </a:pPr>
            <a:r>
              <a:t>• ¿Qué evidencia del negocio justifica esta decisión?</a:t>
            </a:r>
          </a:p>
          <a:p>
            <a:pPr>
              <a:spcAft>
                <a:spcPts val="500"/>
              </a:spcAft>
              <a:defRPr sz="1200">
                <a:solidFill>
                  <a:srgbClr val="1C2734"/>
                </a:solidFill>
                <a:latin typeface="Aptos"/>
              </a:defRPr>
            </a:pPr>
            <a:r>
              <a:t>• ¿Qué alternativa se descartó y por qué?</a:t>
            </a:r>
          </a:p>
          <a:p>
            <a:pPr>
              <a:spcAft>
                <a:spcPts val="500"/>
              </a:spcAft>
              <a:defRPr sz="1200">
                <a:solidFill>
                  <a:srgbClr val="1C2734"/>
                </a:solidFill>
                <a:latin typeface="Aptos"/>
              </a:defRPr>
            </a:pPr>
            <a:r>
              <a:t>• ¿Qué cambio futuro podría obligar a revisar la solución?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