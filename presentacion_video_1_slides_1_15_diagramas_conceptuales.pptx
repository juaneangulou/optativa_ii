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2" d="100"/>
          <a:sy n="62" d="100"/>
        </p:scale>
        <p:origin x="804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033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Una decision puede convertirse en un riesgo real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34440"/>
            <a:ext cx="6903720" cy="5257800"/>
          </a:xfrm>
          <a:prstGeom prst="roundRect">
            <a:avLst/>
          </a:prstGeom>
          <a:solidFill>
            <a:srgbClr val="FFFFFF"/>
          </a:solidFill>
          <a:ln>
            <a:solidFill>
              <a:srgbClr val="C3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554480"/>
            <a:ext cx="6309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103361"/>
                </a:solidFill>
              </a:defRPr>
            </a:pPr>
            <a:r>
              <a:t>Una decision puede convertirse en un riesgo real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240280"/>
            <a:ext cx="6159441" cy="2446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262C34"/>
                </a:solidFill>
              </a:defRPr>
            </a:pPr>
            <a:r>
              <a:rPr dirty="0"/>
              <a:t>La </a:t>
            </a:r>
            <a:r>
              <a:rPr dirty="0" err="1"/>
              <a:t>historia</a:t>
            </a:r>
            <a:r>
              <a:rPr dirty="0"/>
              <a:t> del Boeing 737 MAX </a:t>
            </a:r>
            <a:r>
              <a:rPr dirty="0" err="1"/>
              <a:t>muestra</a:t>
            </a:r>
            <a:r>
              <a:rPr dirty="0"/>
              <a:t> que la </a:t>
            </a:r>
            <a:r>
              <a:rPr dirty="0" err="1"/>
              <a:t>arquitectura</a:t>
            </a:r>
            <a:r>
              <a:rPr dirty="0"/>
              <a:t> de software no es un </a:t>
            </a:r>
            <a:r>
              <a:rPr dirty="0" err="1"/>
              <a:t>ejercicio</a:t>
            </a:r>
            <a:r>
              <a:rPr dirty="0"/>
              <a:t> </a:t>
            </a:r>
            <a:r>
              <a:rPr dirty="0" err="1"/>
              <a:t>abstracto</a:t>
            </a:r>
            <a:r>
              <a:rPr dirty="0"/>
              <a:t>. </a:t>
            </a:r>
            <a:r>
              <a:rPr dirty="0" err="1"/>
              <a:t>Cuando</a:t>
            </a:r>
            <a:r>
              <a:rPr dirty="0"/>
              <a:t> un </a:t>
            </a:r>
            <a:r>
              <a:rPr dirty="0" err="1"/>
              <a:t>sistema</a:t>
            </a:r>
            <a:r>
              <a:rPr dirty="0"/>
              <a:t> </a:t>
            </a:r>
            <a:r>
              <a:rPr dirty="0" err="1"/>
              <a:t>automatizado</a:t>
            </a:r>
            <a:r>
              <a:rPr dirty="0"/>
              <a:t> </a:t>
            </a:r>
            <a:r>
              <a:rPr dirty="0" err="1"/>
              <a:t>influye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una </a:t>
            </a:r>
            <a:r>
              <a:rPr dirty="0" err="1"/>
              <a:t>operacion</a:t>
            </a:r>
            <a:r>
              <a:rPr dirty="0"/>
              <a:t> </a:t>
            </a:r>
            <a:r>
              <a:rPr dirty="0" err="1"/>
              <a:t>critica</a:t>
            </a:r>
            <a:r>
              <a:rPr dirty="0"/>
              <a:t>, una decision de </a:t>
            </a:r>
            <a:r>
              <a:rPr dirty="0" err="1"/>
              <a:t>diseno</a:t>
            </a:r>
            <a:r>
              <a:rPr dirty="0"/>
              <a:t> </a:t>
            </a:r>
            <a:r>
              <a:rPr dirty="0" err="1"/>
              <a:t>puede</a:t>
            </a:r>
            <a:r>
              <a:rPr dirty="0"/>
              <a:t> </a:t>
            </a:r>
            <a:r>
              <a:rPr dirty="0" err="1"/>
              <a:t>afectar</a:t>
            </a:r>
            <a:r>
              <a:rPr dirty="0"/>
              <a:t> la </a:t>
            </a:r>
            <a:r>
              <a:rPr dirty="0" err="1"/>
              <a:t>seguridad</a:t>
            </a:r>
            <a:r>
              <a:rPr dirty="0"/>
              <a:t>, la </a:t>
            </a:r>
            <a:r>
              <a:rPr dirty="0" err="1"/>
              <a:t>confianza</a:t>
            </a:r>
            <a:r>
              <a:rPr dirty="0"/>
              <a:t> y la </a:t>
            </a:r>
            <a:r>
              <a:rPr dirty="0" err="1"/>
              <a:t>vida</a:t>
            </a:r>
            <a:r>
              <a:rPr dirty="0"/>
              <a:t> de las personas.</a:t>
            </a:r>
            <a:br>
              <a:rPr dirty="0"/>
            </a:br>
            <a:br>
              <a:rPr dirty="0"/>
            </a:br>
            <a:r>
              <a:rPr dirty="0"/>
              <a:t>Por </a:t>
            </a:r>
            <a:r>
              <a:rPr dirty="0" err="1"/>
              <a:t>eso</a:t>
            </a:r>
            <a:r>
              <a:rPr dirty="0"/>
              <a:t>, </a:t>
            </a:r>
            <a:r>
              <a:rPr dirty="0" err="1"/>
              <a:t>hablar</a:t>
            </a:r>
            <a:r>
              <a:rPr dirty="0"/>
              <a:t> de </a:t>
            </a:r>
            <a:r>
              <a:rPr dirty="0" err="1"/>
              <a:t>arquitectura</a:t>
            </a:r>
            <a:r>
              <a:rPr dirty="0"/>
              <a:t> </a:t>
            </a:r>
            <a:r>
              <a:rPr dirty="0" err="1"/>
              <a:t>implica</a:t>
            </a:r>
            <a:r>
              <a:rPr dirty="0"/>
              <a:t> </a:t>
            </a:r>
            <a:r>
              <a:rPr dirty="0" err="1"/>
              <a:t>hablar</a:t>
            </a:r>
            <a:r>
              <a:rPr dirty="0"/>
              <a:t> </a:t>
            </a:r>
            <a:r>
              <a:rPr dirty="0" err="1"/>
              <a:t>tambien</a:t>
            </a:r>
            <a:r>
              <a:rPr dirty="0"/>
              <a:t> de </a:t>
            </a:r>
            <a:r>
              <a:rPr dirty="0" err="1"/>
              <a:t>responsabilidad</a:t>
            </a:r>
            <a:r>
              <a:rPr dirty="0"/>
              <a:t>: que </a:t>
            </a:r>
            <a:r>
              <a:rPr dirty="0" err="1"/>
              <a:t>supuestos</a:t>
            </a:r>
            <a:r>
              <a:rPr dirty="0"/>
              <a:t> </a:t>
            </a:r>
            <a:r>
              <a:rPr dirty="0" err="1"/>
              <a:t>aceptamos</a:t>
            </a:r>
            <a:r>
              <a:rPr dirty="0"/>
              <a:t>, que </a:t>
            </a:r>
            <a:r>
              <a:rPr dirty="0" err="1"/>
              <a:t>informacion</a:t>
            </a:r>
            <a:r>
              <a:rPr dirty="0"/>
              <a:t> </a:t>
            </a:r>
            <a:r>
              <a:rPr dirty="0" err="1"/>
              <a:t>usamos</a:t>
            </a:r>
            <a:r>
              <a:rPr dirty="0"/>
              <a:t> y que </a:t>
            </a:r>
            <a:r>
              <a:rPr dirty="0" err="1"/>
              <a:t>mecanismos</a:t>
            </a:r>
            <a:r>
              <a:rPr dirty="0"/>
              <a:t> de </a:t>
            </a:r>
            <a:r>
              <a:rPr dirty="0" err="1"/>
              <a:t>proteccion</a:t>
            </a:r>
            <a:r>
              <a:rPr dirty="0"/>
              <a:t> </a:t>
            </a:r>
            <a:r>
              <a:rPr dirty="0" err="1"/>
              <a:t>decidimos</a:t>
            </a:r>
            <a:r>
              <a:rPr dirty="0"/>
              <a:t> </a:t>
            </a:r>
            <a:r>
              <a:rPr dirty="0" err="1"/>
              <a:t>incluir</a:t>
            </a:r>
            <a:r>
              <a:rPr dirty="0"/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26679" y="1234440"/>
            <a:ext cx="3931920" cy="5257800"/>
          </a:xfrm>
          <a:prstGeom prst="roundRect">
            <a:avLst/>
          </a:prstGeom>
          <a:solidFill>
            <a:srgbClr val="EEF4FA"/>
          </a:solidFill>
          <a:ln>
            <a:solidFill>
              <a:srgbClr val="AEC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01000" y="1508760"/>
            <a:ext cx="3383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03361"/>
                </a:solidFill>
              </a:defRPr>
            </a:pPr>
            <a:r>
              <a:t>Relacion directa con el concepto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2148840"/>
            <a:ext cx="1828800" cy="621792"/>
          </a:xfrm>
          <a:prstGeom prst="roundRect">
            <a:avLst/>
          </a:prstGeom>
          <a:solidFill>
            <a:srgbClr val="CFE2F3"/>
          </a:solidFill>
          <a:ln>
            <a:solidFill>
              <a:srgbClr val="677C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100" b="1">
                <a:solidFill>
                  <a:srgbClr val="1E2A37"/>
                </a:solidFill>
              </a:defRPr>
            </a:pPr>
            <a:r>
              <a:t>AVION / SISTEMA CRITICO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3063240"/>
            <a:ext cx="1828800" cy="621792"/>
          </a:xfrm>
          <a:prstGeom prst="roundRect">
            <a:avLst/>
          </a:prstGeom>
          <a:solidFill>
            <a:srgbClr val="FFEBBE"/>
          </a:solidFill>
          <a:ln>
            <a:solidFill>
              <a:srgbClr val="677C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100" b="1">
                <a:solidFill>
                  <a:srgbClr val="1E2A37"/>
                </a:solidFill>
              </a:defRPr>
            </a:pPr>
            <a:r>
              <a:t>SOFTWARE DE CONTROL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977639"/>
            <a:ext cx="1828800" cy="621792"/>
          </a:xfrm>
          <a:prstGeom prst="roundRect">
            <a:avLst/>
          </a:prstGeom>
          <a:solidFill>
            <a:srgbClr val="DAF2E1"/>
          </a:solidFill>
          <a:ln>
            <a:solidFill>
              <a:srgbClr val="677C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100" b="1">
                <a:solidFill>
                  <a:srgbClr val="1E2A37"/>
                </a:solidFill>
              </a:defRPr>
            </a:pPr>
            <a:r>
              <a:t>SEGURIDAD DEL USUARIO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0" y="5074920"/>
            <a:ext cx="338328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D343C"/>
                </a:solidFill>
              </a:defRPr>
            </a:pPr>
            <a:r>
              <a:rPr dirty="0"/>
              <a:t>El avion </a:t>
            </a:r>
            <a:r>
              <a:rPr dirty="0" err="1"/>
              <a:t>representa</a:t>
            </a:r>
            <a:r>
              <a:rPr dirty="0"/>
              <a:t> un </a:t>
            </a:r>
            <a:r>
              <a:rPr dirty="0" err="1"/>
              <a:t>sistema</a:t>
            </a:r>
            <a:r>
              <a:rPr dirty="0"/>
              <a:t> </a:t>
            </a:r>
            <a:r>
              <a:rPr dirty="0" err="1"/>
              <a:t>complejo</a:t>
            </a:r>
            <a:r>
              <a:rPr dirty="0"/>
              <a:t> y </a:t>
            </a:r>
            <a:r>
              <a:rPr dirty="0" err="1"/>
              <a:t>critico</a:t>
            </a:r>
            <a:r>
              <a:rPr dirty="0"/>
              <a:t>: una decision de software </a:t>
            </a:r>
            <a:r>
              <a:rPr dirty="0" err="1"/>
              <a:t>puede</a:t>
            </a:r>
            <a:r>
              <a:rPr dirty="0"/>
              <a:t> </a:t>
            </a:r>
            <a:r>
              <a:rPr dirty="0" err="1"/>
              <a:t>afectar</a:t>
            </a:r>
            <a:r>
              <a:rPr dirty="0"/>
              <a:t> una </a:t>
            </a:r>
            <a:r>
              <a:rPr dirty="0" err="1"/>
              <a:t>operacion</a:t>
            </a:r>
            <a:r>
              <a:rPr dirty="0"/>
              <a:t> </a:t>
            </a:r>
            <a:r>
              <a:rPr dirty="0" err="1"/>
              <a:t>fisica</a:t>
            </a:r>
            <a:r>
              <a:rPr dirty="0"/>
              <a:t> y la </a:t>
            </a:r>
            <a:r>
              <a:rPr dirty="0" err="1"/>
              <a:t>seguridad</a:t>
            </a:r>
            <a:r>
              <a:rPr dirty="0"/>
              <a:t> de sus </a:t>
            </a:r>
            <a:r>
              <a:rPr dirty="0" err="1"/>
              <a:t>usuarios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033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El caso Boeing 737 MAX: cuando un supuesto domina el sistema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34440"/>
            <a:ext cx="6903720" cy="5257800"/>
          </a:xfrm>
          <a:prstGeom prst="roundRect">
            <a:avLst/>
          </a:prstGeom>
          <a:solidFill>
            <a:srgbClr val="FFFFFF"/>
          </a:solidFill>
          <a:ln>
            <a:solidFill>
              <a:srgbClr val="C3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554480"/>
            <a:ext cx="6309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103361"/>
                </a:solidFill>
              </a:defRPr>
            </a:pPr>
            <a:r>
              <a:t>El caso Boeing 737 MAX: cuando un supuesto domina el sistema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240280"/>
            <a:ext cx="6212604" cy="29700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262C34"/>
                </a:solidFill>
              </a:defRPr>
            </a:pPr>
            <a:r>
              <a:rPr dirty="0" err="1"/>
              <a:t>En</a:t>
            </a:r>
            <a:r>
              <a:rPr dirty="0"/>
              <a:t> los </a:t>
            </a:r>
            <a:r>
              <a:rPr dirty="0" err="1"/>
              <a:t>accidentes</a:t>
            </a:r>
            <a:r>
              <a:rPr dirty="0"/>
              <a:t> de 2018 y 2019,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sistema</a:t>
            </a:r>
            <a:r>
              <a:rPr dirty="0"/>
              <a:t> MCAS podia </a:t>
            </a:r>
            <a:r>
              <a:rPr dirty="0" err="1"/>
              <a:t>recibir</a:t>
            </a:r>
            <a:r>
              <a:rPr dirty="0"/>
              <a:t> </a:t>
            </a:r>
            <a:r>
              <a:rPr dirty="0" err="1"/>
              <a:t>informacion</a:t>
            </a:r>
            <a:r>
              <a:rPr dirty="0"/>
              <a:t> de un </a:t>
            </a:r>
            <a:r>
              <a:rPr dirty="0" err="1"/>
              <a:t>unico</a:t>
            </a:r>
            <a:r>
              <a:rPr dirty="0"/>
              <a:t> sensor de </a:t>
            </a:r>
            <a:r>
              <a:rPr dirty="0" err="1"/>
              <a:t>angulo</a:t>
            </a:r>
            <a:r>
              <a:rPr dirty="0"/>
              <a:t> de </a:t>
            </a:r>
            <a:r>
              <a:rPr dirty="0" err="1"/>
              <a:t>ataque</a:t>
            </a:r>
            <a:r>
              <a:rPr dirty="0"/>
              <a:t>. Al no </a:t>
            </a:r>
            <a:r>
              <a:rPr dirty="0" err="1"/>
              <a:t>contar</a:t>
            </a:r>
            <a:r>
              <a:rPr dirty="0"/>
              <a:t> con una </a:t>
            </a:r>
            <a:r>
              <a:rPr dirty="0" err="1"/>
              <a:t>redundancia</a:t>
            </a:r>
            <a:r>
              <a:rPr dirty="0"/>
              <a:t> </a:t>
            </a:r>
            <a:r>
              <a:rPr dirty="0" err="1"/>
              <a:t>suficiente</a:t>
            </a:r>
            <a:r>
              <a:rPr dirty="0"/>
              <a:t> </a:t>
            </a:r>
            <a:r>
              <a:rPr dirty="0" err="1"/>
              <a:t>ni</a:t>
            </a:r>
            <a:r>
              <a:rPr dirty="0"/>
              <a:t> con una </a:t>
            </a:r>
            <a:r>
              <a:rPr dirty="0" err="1"/>
              <a:t>validacion</a:t>
            </a:r>
            <a:r>
              <a:rPr dirty="0"/>
              <a:t> </a:t>
            </a:r>
            <a:r>
              <a:rPr dirty="0" err="1"/>
              <a:t>adecuada</a:t>
            </a:r>
            <a:r>
              <a:rPr dirty="0"/>
              <a:t> entre </a:t>
            </a:r>
            <a:r>
              <a:rPr dirty="0" err="1"/>
              <a:t>fuentes</a:t>
            </a:r>
            <a:r>
              <a:rPr dirty="0"/>
              <a:t>, una </a:t>
            </a:r>
            <a:r>
              <a:rPr dirty="0" err="1"/>
              <a:t>lectura</a:t>
            </a:r>
            <a:r>
              <a:rPr dirty="0"/>
              <a:t> </a:t>
            </a:r>
            <a:r>
              <a:rPr dirty="0" err="1"/>
              <a:t>incorrecta</a:t>
            </a:r>
            <a:r>
              <a:rPr dirty="0"/>
              <a:t> podia </a:t>
            </a:r>
            <a:r>
              <a:rPr dirty="0" err="1"/>
              <a:t>activar</a:t>
            </a:r>
            <a:r>
              <a:rPr dirty="0"/>
              <a:t> una </a:t>
            </a:r>
            <a:r>
              <a:rPr dirty="0" err="1"/>
              <a:t>respuesta</a:t>
            </a:r>
            <a:r>
              <a:rPr dirty="0"/>
              <a:t> </a:t>
            </a:r>
            <a:r>
              <a:rPr dirty="0" err="1"/>
              <a:t>automatica</a:t>
            </a:r>
            <a:r>
              <a:rPr dirty="0"/>
              <a:t> </a:t>
            </a:r>
            <a:r>
              <a:rPr dirty="0" err="1"/>
              <a:t>peligrosa</a:t>
            </a:r>
            <a:r>
              <a:rPr dirty="0"/>
              <a:t>.</a:t>
            </a:r>
            <a:br>
              <a:rPr dirty="0"/>
            </a:br>
            <a:br>
              <a:rPr dirty="0"/>
            </a:br>
            <a:r>
              <a:rPr dirty="0"/>
              <a:t>La </a:t>
            </a:r>
            <a:r>
              <a:rPr dirty="0" err="1"/>
              <a:t>leccion</a:t>
            </a:r>
            <a:r>
              <a:rPr dirty="0"/>
              <a:t> </a:t>
            </a:r>
            <a:r>
              <a:rPr dirty="0" err="1"/>
              <a:t>arquitectonica</a:t>
            </a:r>
            <a:r>
              <a:rPr dirty="0"/>
              <a:t> no </a:t>
            </a:r>
            <a:r>
              <a:rPr dirty="0" err="1"/>
              <a:t>consiste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reducir</a:t>
            </a:r>
            <a:r>
              <a:rPr dirty="0"/>
              <a:t> la </a:t>
            </a:r>
            <a:r>
              <a:rPr dirty="0" err="1"/>
              <a:t>tragedia</a:t>
            </a:r>
            <a:r>
              <a:rPr dirty="0"/>
              <a:t> a un error de </a:t>
            </a:r>
            <a:r>
              <a:rPr dirty="0" err="1"/>
              <a:t>programacion</a:t>
            </a:r>
            <a:r>
              <a:rPr dirty="0"/>
              <a:t>. El </a:t>
            </a:r>
            <a:r>
              <a:rPr dirty="0" err="1"/>
              <a:t>problema</a:t>
            </a:r>
            <a:r>
              <a:rPr dirty="0"/>
              <a:t> </a:t>
            </a:r>
            <a:r>
              <a:rPr dirty="0" err="1"/>
              <a:t>estuvo</a:t>
            </a:r>
            <a:r>
              <a:rPr dirty="0"/>
              <a:t> </a:t>
            </a:r>
            <a:r>
              <a:rPr dirty="0" err="1"/>
              <a:t>relacionado</a:t>
            </a:r>
            <a:r>
              <a:rPr dirty="0"/>
              <a:t> con </a:t>
            </a:r>
            <a:r>
              <a:rPr dirty="0" err="1"/>
              <a:t>decisiones</a:t>
            </a:r>
            <a:r>
              <a:rPr dirty="0"/>
              <a:t> de </a:t>
            </a:r>
            <a:r>
              <a:rPr dirty="0" err="1"/>
              <a:t>sistema</a:t>
            </a:r>
            <a:r>
              <a:rPr dirty="0"/>
              <a:t>: </a:t>
            </a:r>
            <a:r>
              <a:rPr dirty="0" err="1"/>
              <a:t>dependencia</a:t>
            </a:r>
            <a:r>
              <a:rPr dirty="0"/>
              <a:t> de una </a:t>
            </a:r>
            <a:r>
              <a:rPr dirty="0" err="1"/>
              <a:t>fuente</a:t>
            </a:r>
            <a:r>
              <a:rPr dirty="0"/>
              <a:t> unica, </a:t>
            </a:r>
            <a:r>
              <a:rPr dirty="0" err="1"/>
              <a:t>supuestos</a:t>
            </a:r>
            <a:r>
              <a:rPr dirty="0"/>
              <a:t> no </a:t>
            </a:r>
            <a:r>
              <a:rPr dirty="0" err="1"/>
              <a:t>suficientemente</a:t>
            </a:r>
            <a:r>
              <a:rPr dirty="0"/>
              <a:t> </a:t>
            </a:r>
            <a:r>
              <a:rPr dirty="0" err="1"/>
              <a:t>cuestionados</a:t>
            </a:r>
            <a:r>
              <a:rPr dirty="0"/>
              <a:t> y </a:t>
            </a:r>
            <a:r>
              <a:rPr dirty="0" err="1"/>
              <a:t>controles</a:t>
            </a:r>
            <a:r>
              <a:rPr dirty="0"/>
              <a:t> de </a:t>
            </a:r>
            <a:r>
              <a:rPr dirty="0" err="1"/>
              <a:t>seguridad</a:t>
            </a:r>
            <a:r>
              <a:rPr dirty="0"/>
              <a:t> </a:t>
            </a:r>
            <a:r>
              <a:rPr dirty="0" err="1"/>
              <a:t>insuficientes</a:t>
            </a:r>
            <a:r>
              <a:rPr dirty="0"/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26679" y="1234440"/>
            <a:ext cx="3931920" cy="5257800"/>
          </a:xfrm>
          <a:prstGeom prst="roundRect">
            <a:avLst/>
          </a:prstGeom>
          <a:solidFill>
            <a:srgbClr val="EEF4FA"/>
          </a:solidFill>
          <a:ln>
            <a:solidFill>
              <a:srgbClr val="AEC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01000" y="1508760"/>
            <a:ext cx="3383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03361"/>
                </a:solidFill>
              </a:defRPr>
            </a:pPr>
            <a:r>
              <a:t>Relacion directa con el concepto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2440" y="2148840"/>
            <a:ext cx="1828800" cy="621792"/>
          </a:xfrm>
          <a:prstGeom prst="roundRect">
            <a:avLst/>
          </a:prstGeom>
          <a:solidFill>
            <a:srgbClr val="CFE2F3"/>
          </a:solidFill>
          <a:ln>
            <a:solidFill>
              <a:srgbClr val="677C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100" b="1">
                <a:solidFill>
                  <a:srgbClr val="1E2A37"/>
                </a:solidFill>
              </a:defRPr>
            </a:pPr>
            <a:r>
              <a:t>DATO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55480" y="3063240"/>
            <a:ext cx="1828800" cy="621792"/>
          </a:xfrm>
          <a:prstGeom prst="roundRect">
            <a:avLst/>
          </a:prstGeom>
          <a:solidFill>
            <a:srgbClr val="FFEBBE"/>
          </a:solidFill>
          <a:ln>
            <a:solidFill>
              <a:srgbClr val="677C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100" b="1">
                <a:solidFill>
                  <a:srgbClr val="1E2A37"/>
                </a:solidFill>
              </a:defRPr>
            </a:pPr>
            <a:r>
              <a:t>AUTOMATISMO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4160520"/>
            <a:ext cx="1828800" cy="621792"/>
          </a:xfrm>
          <a:prstGeom prst="roundRect">
            <a:avLst/>
          </a:prstGeom>
          <a:solidFill>
            <a:srgbClr val="DAF2E1"/>
          </a:solidFill>
          <a:ln>
            <a:solidFill>
              <a:srgbClr val="677C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100" b="1">
                <a:solidFill>
                  <a:srgbClr val="1E2A37"/>
                </a:solidFill>
              </a:defRPr>
            </a:pPr>
            <a:r>
              <a:t>ALERTA / ANULACION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0" y="5074920"/>
            <a:ext cx="338328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D343C"/>
                </a:solidFill>
              </a:defRPr>
            </a:pPr>
            <a:r>
              <a:rPr dirty="0"/>
              <a:t>La </a:t>
            </a:r>
            <a:r>
              <a:rPr dirty="0" err="1"/>
              <a:t>cabina</a:t>
            </a:r>
            <a:r>
              <a:rPr dirty="0"/>
              <a:t> y los </a:t>
            </a:r>
            <a:r>
              <a:rPr dirty="0" err="1"/>
              <a:t>controles</a:t>
            </a:r>
            <a:r>
              <a:rPr dirty="0"/>
              <a:t> </a:t>
            </a:r>
            <a:r>
              <a:rPr dirty="0" err="1"/>
              <a:t>muestran</a:t>
            </a:r>
            <a:r>
              <a:rPr dirty="0"/>
              <a:t> que </a:t>
            </a:r>
            <a:r>
              <a:rPr dirty="0" err="1"/>
              <a:t>el</a:t>
            </a:r>
            <a:r>
              <a:rPr dirty="0"/>
              <a:t> software </a:t>
            </a:r>
            <a:r>
              <a:rPr dirty="0" err="1"/>
              <a:t>automatizado</a:t>
            </a:r>
            <a:r>
              <a:rPr dirty="0"/>
              <a:t> </a:t>
            </a:r>
            <a:r>
              <a:rPr dirty="0" err="1"/>
              <a:t>participa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decisiones</a:t>
            </a:r>
            <a:r>
              <a:rPr dirty="0"/>
              <a:t> </a:t>
            </a:r>
            <a:r>
              <a:rPr dirty="0" err="1"/>
              <a:t>operativas</a:t>
            </a:r>
            <a:r>
              <a:rPr dirty="0"/>
              <a:t> que </a:t>
            </a:r>
            <a:r>
              <a:rPr dirty="0" err="1"/>
              <a:t>deben</a:t>
            </a:r>
            <a:r>
              <a:rPr dirty="0"/>
              <a:t> </a:t>
            </a:r>
            <a:r>
              <a:rPr dirty="0" err="1"/>
              <a:t>tener</a:t>
            </a:r>
            <a:r>
              <a:rPr dirty="0"/>
              <a:t> </a:t>
            </a:r>
            <a:r>
              <a:rPr dirty="0" err="1"/>
              <a:t>limites</a:t>
            </a:r>
            <a:r>
              <a:rPr dirty="0"/>
              <a:t> y supervision.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033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No fue solamente un bug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34440"/>
            <a:ext cx="6903720" cy="5257800"/>
          </a:xfrm>
          <a:prstGeom prst="roundRect">
            <a:avLst/>
          </a:prstGeom>
          <a:solidFill>
            <a:srgbClr val="FFFFFF"/>
          </a:solidFill>
          <a:ln>
            <a:solidFill>
              <a:srgbClr val="C3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554480"/>
            <a:ext cx="6309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103361"/>
                </a:solidFill>
              </a:defRPr>
            </a:pPr>
            <a:r>
              <a:t>No fue solamente un bug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240280"/>
            <a:ext cx="6180706" cy="2446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262C34"/>
                </a:solidFill>
              </a:defRPr>
            </a:pPr>
            <a:r>
              <a:rPr dirty="0"/>
              <a:t>Un bug </a:t>
            </a:r>
            <a:r>
              <a:rPr dirty="0" err="1"/>
              <a:t>suele</a:t>
            </a:r>
            <a:r>
              <a:rPr dirty="0"/>
              <a:t> </a:t>
            </a:r>
            <a:r>
              <a:rPr dirty="0" err="1"/>
              <a:t>describirse</a:t>
            </a:r>
            <a:r>
              <a:rPr dirty="0"/>
              <a:t> </a:t>
            </a:r>
            <a:r>
              <a:rPr dirty="0" err="1"/>
              <a:t>como</a:t>
            </a:r>
            <a:r>
              <a:rPr dirty="0"/>
              <a:t> un </a:t>
            </a:r>
            <a:r>
              <a:rPr dirty="0" err="1"/>
              <a:t>comportamiento</a:t>
            </a:r>
            <a:r>
              <a:rPr dirty="0"/>
              <a:t> no </a:t>
            </a:r>
            <a:r>
              <a:rPr dirty="0" err="1"/>
              <a:t>intencional</a:t>
            </a:r>
            <a:r>
              <a:rPr dirty="0"/>
              <a:t> del software.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este</a:t>
            </a:r>
            <a:r>
              <a:rPr dirty="0"/>
              <a:t> </a:t>
            </a:r>
            <a:r>
              <a:rPr dirty="0" err="1"/>
              <a:t>caso</a:t>
            </a:r>
            <a:r>
              <a:rPr dirty="0"/>
              <a:t>, la </a:t>
            </a:r>
            <a:r>
              <a:rPr dirty="0" err="1"/>
              <a:t>reflexion</a:t>
            </a:r>
            <a:r>
              <a:rPr dirty="0"/>
              <a:t> es mas profunda: </a:t>
            </a:r>
            <a:r>
              <a:rPr dirty="0" err="1"/>
              <a:t>existian</a:t>
            </a:r>
            <a:r>
              <a:rPr dirty="0"/>
              <a:t> </a:t>
            </a:r>
            <a:r>
              <a:rPr dirty="0" err="1"/>
              <a:t>decisiones</a:t>
            </a:r>
            <a:r>
              <a:rPr dirty="0"/>
              <a:t> </a:t>
            </a:r>
            <a:r>
              <a:rPr dirty="0" err="1"/>
              <a:t>conscientes</a:t>
            </a:r>
            <a:r>
              <a:rPr dirty="0"/>
              <a:t> </a:t>
            </a:r>
            <a:r>
              <a:rPr dirty="0" err="1"/>
              <a:t>sobre</a:t>
            </a:r>
            <a:r>
              <a:rPr dirty="0"/>
              <a:t> </a:t>
            </a:r>
            <a:r>
              <a:rPr dirty="0" err="1"/>
              <a:t>como</a:t>
            </a:r>
            <a:r>
              <a:rPr dirty="0"/>
              <a:t> </a:t>
            </a:r>
            <a:r>
              <a:rPr dirty="0" err="1"/>
              <a:t>integrar</a:t>
            </a:r>
            <a:r>
              <a:rPr dirty="0"/>
              <a:t>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sistema</a:t>
            </a:r>
            <a:r>
              <a:rPr dirty="0"/>
              <a:t>, </a:t>
            </a:r>
            <a:r>
              <a:rPr dirty="0" err="1"/>
              <a:t>cuanto</a:t>
            </a:r>
            <a:r>
              <a:rPr dirty="0"/>
              <a:t> </a:t>
            </a:r>
            <a:r>
              <a:rPr dirty="0" err="1"/>
              <a:t>automatizar</a:t>
            </a:r>
            <a:r>
              <a:rPr dirty="0"/>
              <a:t> y que </a:t>
            </a:r>
            <a:r>
              <a:rPr dirty="0" err="1"/>
              <a:t>nivel</a:t>
            </a:r>
            <a:r>
              <a:rPr dirty="0"/>
              <a:t> de </a:t>
            </a:r>
            <a:r>
              <a:rPr dirty="0" err="1"/>
              <a:t>redundancia</a:t>
            </a:r>
            <a:r>
              <a:rPr dirty="0"/>
              <a:t> </a:t>
            </a:r>
            <a:r>
              <a:rPr dirty="0" err="1"/>
              <a:t>incorporar</a:t>
            </a:r>
            <a:r>
              <a:rPr dirty="0"/>
              <a:t>.</a:t>
            </a:r>
            <a:br>
              <a:rPr dirty="0"/>
            </a:br>
            <a:br>
              <a:rPr dirty="0"/>
            </a:br>
            <a:r>
              <a:rPr dirty="0" err="1"/>
              <a:t>Cuando</a:t>
            </a:r>
            <a:r>
              <a:rPr dirty="0"/>
              <a:t> una </a:t>
            </a:r>
            <a:r>
              <a:rPr dirty="0" err="1"/>
              <a:t>arquitectura</a:t>
            </a:r>
            <a:r>
              <a:rPr dirty="0"/>
              <a:t> </a:t>
            </a:r>
            <a:r>
              <a:rPr dirty="0" err="1"/>
              <a:t>prioriza</a:t>
            </a:r>
            <a:r>
              <a:rPr dirty="0"/>
              <a:t> </a:t>
            </a:r>
            <a:r>
              <a:rPr dirty="0" err="1"/>
              <a:t>rapidez</a:t>
            </a:r>
            <a:r>
              <a:rPr dirty="0"/>
              <a:t>, </a:t>
            </a:r>
            <a:r>
              <a:rPr dirty="0" err="1"/>
              <a:t>costo</a:t>
            </a:r>
            <a:r>
              <a:rPr dirty="0"/>
              <a:t> o </a:t>
            </a:r>
            <a:r>
              <a:rPr dirty="0" err="1"/>
              <a:t>compatibilidad</a:t>
            </a:r>
            <a:r>
              <a:rPr dirty="0"/>
              <a:t> </a:t>
            </a:r>
            <a:r>
              <a:rPr dirty="0" err="1"/>
              <a:t>comercial</a:t>
            </a:r>
            <a:r>
              <a:rPr dirty="0"/>
              <a:t> </a:t>
            </a:r>
            <a:r>
              <a:rPr dirty="0" err="1"/>
              <a:t>sobre</a:t>
            </a:r>
            <a:r>
              <a:rPr dirty="0"/>
              <a:t> </a:t>
            </a:r>
            <a:r>
              <a:rPr dirty="0" err="1"/>
              <a:t>seguridad</a:t>
            </a:r>
            <a:r>
              <a:rPr dirty="0"/>
              <a:t> y </a:t>
            </a:r>
            <a:r>
              <a:rPr dirty="0" err="1"/>
              <a:t>evidencia</a:t>
            </a:r>
            <a:r>
              <a:rPr dirty="0"/>
              <a:t> </a:t>
            </a:r>
            <a:r>
              <a:rPr dirty="0" err="1"/>
              <a:t>tecnica</a:t>
            </a:r>
            <a:r>
              <a:rPr dirty="0"/>
              <a:t>,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riesgo</a:t>
            </a:r>
            <a:r>
              <a:rPr dirty="0"/>
              <a:t> no </a:t>
            </a:r>
            <a:r>
              <a:rPr dirty="0" err="1"/>
              <a:t>desaparece</a:t>
            </a:r>
            <a:r>
              <a:rPr dirty="0"/>
              <a:t>. </a:t>
            </a:r>
            <a:r>
              <a:rPr dirty="0" err="1"/>
              <a:t>Simplemente</a:t>
            </a:r>
            <a:r>
              <a:rPr dirty="0"/>
              <a:t> </a:t>
            </a:r>
            <a:r>
              <a:rPr dirty="0" err="1"/>
              <a:t>queda</a:t>
            </a:r>
            <a:r>
              <a:rPr dirty="0"/>
              <a:t> </a:t>
            </a:r>
            <a:r>
              <a:rPr dirty="0" err="1"/>
              <a:t>oculto</a:t>
            </a:r>
            <a:r>
              <a:rPr dirty="0"/>
              <a:t> hasta que las </a:t>
            </a:r>
            <a:r>
              <a:rPr dirty="0" err="1"/>
              <a:t>condiciones</a:t>
            </a:r>
            <a:r>
              <a:rPr dirty="0"/>
              <a:t> </a:t>
            </a:r>
            <a:r>
              <a:rPr dirty="0" err="1"/>
              <a:t>reales</a:t>
            </a:r>
            <a:r>
              <a:rPr dirty="0"/>
              <a:t> lo </a:t>
            </a:r>
            <a:r>
              <a:rPr dirty="0" err="1"/>
              <a:t>hacen</a:t>
            </a:r>
            <a:r>
              <a:rPr dirty="0"/>
              <a:t> visible.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26679" y="1234440"/>
            <a:ext cx="3931920" cy="5257800"/>
          </a:xfrm>
          <a:prstGeom prst="roundRect">
            <a:avLst/>
          </a:prstGeom>
          <a:solidFill>
            <a:srgbClr val="EEF4FA"/>
          </a:solidFill>
          <a:ln>
            <a:solidFill>
              <a:srgbClr val="AEC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01000" y="1508760"/>
            <a:ext cx="3383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03361"/>
                </a:solidFill>
              </a:defRPr>
            </a:pPr>
            <a:r>
              <a:t>Relacion directa con el concepto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2440" y="2148840"/>
            <a:ext cx="1828800" cy="621792"/>
          </a:xfrm>
          <a:prstGeom prst="roundRect">
            <a:avLst/>
          </a:prstGeom>
          <a:solidFill>
            <a:srgbClr val="FFD8D8"/>
          </a:solidFill>
          <a:ln>
            <a:solidFill>
              <a:srgbClr val="677C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100" b="1">
                <a:solidFill>
                  <a:srgbClr val="1E2A37"/>
                </a:solidFill>
              </a:defRPr>
            </a:pPr>
            <a:r>
              <a:t>SENSOR UNICO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55480" y="3063240"/>
            <a:ext cx="1828800" cy="621792"/>
          </a:xfrm>
          <a:prstGeom prst="roundRect">
            <a:avLst/>
          </a:prstGeom>
          <a:solidFill>
            <a:srgbClr val="FFEBBE"/>
          </a:solidFill>
          <a:ln>
            <a:solidFill>
              <a:srgbClr val="677C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100" b="1">
                <a:solidFill>
                  <a:srgbClr val="1E2A37"/>
                </a:solidFill>
              </a:defRPr>
            </a:pPr>
            <a:r>
              <a:t>DECISION AUTOMATICA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4160520"/>
            <a:ext cx="1828800" cy="621792"/>
          </a:xfrm>
          <a:prstGeom prst="roundRect">
            <a:avLst/>
          </a:prstGeom>
          <a:solidFill>
            <a:srgbClr val="DAF2E1"/>
          </a:solidFill>
          <a:ln>
            <a:solidFill>
              <a:srgbClr val="677C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100" b="1">
                <a:solidFill>
                  <a:srgbClr val="1E2A37"/>
                </a:solidFill>
              </a:defRPr>
            </a:pPr>
            <a:r>
              <a:t>REDUNDANCIA + VALIDACION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0" y="5074920"/>
            <a:ext cx="338328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D343C"/>
                </a:solidFill>
              </a:defRPr>
            </a:pPr>
            <a:r>
              <a:rPr dirty="0"/>
              <a:t>El sensor </a:t>
            </a:r>
            <a:r>
              <a:rPr dirty="0" err="1"/>
              <a:t>representa</a:t>
            </a:r>
            <a:r>
              <a:rPr dirty="0"/>
              <a:t> la </a:t>
            </a:r>
            <a:r>
              <a:rPr dirty="0" err="1"/>
              <a:t>fuente</a:t>
            </a:r>
            <a:r>
              <a:rPr dirty="0"/>
              <a:t> de </a:t>
            </a:r>
            <a:r>
              <a:rPr dirty="0" err="1"/>
              <a:t>datos</a:t>
            </a:r>
            <a:r>
              <a:rPr dirty="0"/>
              <a:t> que </a:t>
            </a:r>
            <a:r>
              <a:rPr dirty="0" err="1"/>
              <a:t>alimenta</a:t>
            </a:r>
            <a:r>
              <a:rPr dirty="0"/>
              <a:t> una decision </a:t>
            </a:r>
            <a:r>
              <a:rPr dirty="0" err="1"/>
              <a:t>automatica</a:t>
            </a:r>
            <a:r>
              <a:rPr dirty="0"/>
              <a:t>; </a:t>
            </a:r>
            <a:r>
              <a:rPr dirty="0" err="1"/>
              <a:t>si</a:t>
            </a:r>
            <a:r>
              <a:rPr dirty="0"/>
              <a:t> </a:t>
            </a:r>
            <a:r>
              <a:rPr dirty="0" err="1"/>
              <a:t>esa</a:t>
            </a:r>
            <a:r>
              <a:rPr dirty="0"/>
              <a:t> </a:t>
            </a:r>
            <a:r>
              <a:rPr dirty="0" err="1"/>
              <a:t>fuente</a:t>
            </a:r>
            <a:r>
              <a:rPr dirty="0"/>
              <a:t> </a:t>
            </a:r>
            <a:r>
              <a:rPr dirty="0" err="1"/>
              <a:t>falla</a:t>
            </a:r>
            <a:r>
              <a:rPr dirty="0"/>
              <a:t>,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sistema</a:t>
            </a:r>
            <a:r>
              <a:rPr dirty="0"/>
              <a:t> </a:t>
            </a:r>
            <a:r>
              <a:rPr dirty="0" err="1"/>
              <a:t>puede</a:t>
            </a:r>
            <a:r>
              <a:rPr dirty="0"/>
              <a:t> </a:t>
            </a:r>
            <a:r>
              <a:rPr dirty="0" err="1"/>
              <a:t>actuar</a:t>
            </a:r>
            <a:r>
              <a:rPr dirty="0"/>
              <a:t> </a:t>
            </a:r>
            <a:r>
              <a:rPr dirty="0" err="1"/>
              <a:t>sobre</a:t>
            </a:r>
            <a:r>
              <a:rPr dirty="0"/>
              <a:t> una </a:t>
            </a:r>
            <a:r>
              <a:rPr dirty="0" err="1"/>
              <a:t>premisa</a:t>
            </a:r>
            <a:r>
              <a:rPr dirty="0"/>
              <a:t> </a:t>
            </a:r>
            <a:r>
              <a:rPr dirty="0" err="1"/>
              <a:t>equivocada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033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La arquitectura expresa prioridades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34440"/>
            <a:ext cx="6903720" cy="5257800"/>
          </a:xfrm>
          <a:prstGeom prst="roundRect">
            <a:avLst/>
          </a:prstGeom>
          <a:solidFill>
            <a:srgbClr val="FFFFFF"/>
          </a:solidFill>
          <a:ln>
            <a:solidFill>
              <a:srgbClr val="C3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554480"/>
            <a:ext cx="6309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103361"/>
                </a:solidFill>
              </a:defRPr>
            </a:pPr>
            <a:r>
              <a:t>La arquitectura expresa prioridades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240280"/>
            <a:ext cx="6309360" cy="2446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262C34"/>
                </a:solidFill>
              </a:defRPr>
            </a:pPr>
            <a:r>
              <a:rPr dirty="0"/>
              <a:t>Toda </a:t>
            </a:r>
            <a:r>
              <a:rPr dirty="0" err="1"/>
              <a:t>arquitectura</a:t>
            </a:r>
            <a:r>
              <a:rPr dirty="0"/>
              <a:t> es una forma de </a:t>
            </a:r>
            <a:r>
              <a:rPr dirty="0" err="1"/>
              <a:t>ordenar</a:t>
            </a:r>
            <a:r>
              <a:rPr dirty="0"/>
              <a:t> </a:t>
            </a:r>
            <a:r>
              <a:rPr dirty="0" err="1"/>
              <a:t>prioridades</a:t>
            </a:r>
            <a:r>
              <a:rPr dirty="0"/>
              <a:t>. Si se </a:t>
            </a:r>
            <a:r>
              <a:rPr dirty="0" err="1"/>
              <a:t>privilegia</a:t>
            </a:r>
            <a:r>
              <a:rPr dirty="0"/>
              <a:t> </a:t>
            </a:r>
            <a:r>
              <a:rPr dirty="0" err="1"/>
              <a:t>reducir</a:t>
            </a:r>
            <a:r>
              <a:rPr dirty="0"/>
              <a:t> </a:t>
            </a:r>
            <a:r>
              <a:rPr dirty="0" err="1"/>
              <a:t>tiempos</a:t>
            </a:r>
            <a:r>
              <a:rPr dirty="0"/>
              <a:t> de </a:t>
            </a:r>
            <a:r>
              <a:rPr dirty="0" err="1"/>
              <a:t>entrega</a:t>
            </a:r>
            <a:r>
              <a:rPr dirty="0"/>
              <a:t>, se </a:t>
            </a:r>
            <a:r>
              <a:rPr dirty="0" err="1"/>
              <a:t>puede</a:t>
            </a:r>
            <a:r>
              <a:rPr dirty="0"/>
              <a:t> </a:t>
            </a:r>
            <a:r>
              <a:rPr dirty="0" err="1"/>
              <a:t>ganar</a:t>
            </a:r>
            <a:r>
              <a:rPr dirty="0"/>
              <a:t> </a:t>
            </a:r>
            <a:r>
              <a:rPr dirty="0" err="1"/>
              <a:t>velocidad</a:t>
            </a:r>
            <a:r>
              <a:rPr dirty="0"/>
              <a:t> </a:t>
            </a:r>
            <a:r>
              <a:rPr dirty="0" err="1"/>
              <a:t>inicial</a:t>
            </a:r>
            <a:r>
              <a:rPr dirty="0"/>
              <a:t>. Si se </a:t>
            </a:r>
            <a:r>
              <a:rPr dirty="0" err="1"/>
              <a:t>privilegia</a:t>
            </a:r>
            <a:r>
              <a:rPr dirty="0"/>
              <a:t> </a:t>
            </a:r>
            <a:r>
              <a:rPr dirty="0" err="1"/>
              <a:t>minimizar</a:t>
            </a:r>
            <a:r>
              <a:rPr dirty="0"/>
              <a:t> </a:t>
            </a:r>
            <a:r>
              <a:rPr dirty="0" err="1"/>
              <a:t>infraestructura</a:t>
            </a:r>
            <a:r>
              <a:rPr dirty="0"/>
              <a:t>, se </a:t>
            </a:r>
            <a:r>
              <a:rPr dirty="0" err="1"/>
              <a:t>puede</a:t>
            </a:r>
            <a:r>
              <a:rPr dirty="0"/>
              <a:t> </a:t>
            </a:r>
            <a:r>
              <a:rPr dirty="0" err="1"/>
              <a:t>reducir</a:t>
            </a:r>
            <a:r>
              <a:rPr dirty="0"/>
              <a:t> </a:t>
            </a:r>
            <a:r>
              <a:rPr dirty="0" err="1"/>
              <a:t>gasto</a:t>
            </a:r>
            <a:r>
              <a:rPr dirty="0"/>
              <a:t>. Pero </a:t>
            </a:r>
            <a:r>
              <a:rPr dirty="0" err="1"/>
              <a:t>cada</a:t>
            </a:r>
            <a:r>
              <a:rPr dirty="0"/>
              <a:t> </a:t>
            </a:r>
            <a:r>
              <a:rPr dirty="0" err="1"/>
              <a:t>beneficio</a:t>
            </a:r>
            <a:r>
              <a:rPr dirty="0"/>
              <a:t> </a:t>
            </a:r>
            <a:r>
              <a:rPr dirty="0" err="1"/>
              <a:t>tiene</a:t>
            </a:r>
            <a:r>
              <a:rPr dirty="0"/>
              <a:t> </a:t>
            </a:r>
            <a:r>
              <a:rPr dirty="0" err="1"/>
              <a:t>consecuencias</a:t>
            </a:r>
            <a:r>
              <a:rPr dirty="0"/>
              <a:t> que </a:t>
            </a:r>
            <a:r>
              <a:rPr dirty="0" err="1"/>
              <a:t>deben</a:t>
            </a:r>
            <a:r>
              <a:rPr dirty="0"/>
              <a:t> </a:t>
            </a:r>
            <a:r>
              <a:rPr dirty="0" err="1"/>
              <a:t>hacerse</a:t>
            </a:r>
            <a:r>
              <a:rPr dirty="0"/>
              <a:t> </a:t>
            </a:r>
            <a:r>
              <a:rPr dirty="0" err="1"/>
              <a:t>visibles</a:t>
            </a:r>
            <a:r>
              <a:rPr dirty="0"/>
              <a:t>.</a:t>
            </a:r>
            <a:br>
              <a:rPr dirty="0"/>
            </a:br>
            <a:br>
              <a:rPr dirty="0"/>
            </a:b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sistemas</a:t>
            </a:r>
            <a:r>
              <a:rPr dirty="0"/>
              <a:t> </a:t>
            </a:r>
            <a:r>
              <a:rPr dirty="0" err="1"/>
              <a:t>criticos</a:t>
            </a:r>
            <a:r>
              <a:rPr dirty="0"/>
              <a:t>, la </a:t>
            </a:r>
            <a:r>
              <a:rPr dirty="0" err="1"/>
              <a:t>pregunta</a:t>
            </a:r>
            <a:r>
              <a:rPr dirty="0"/>
              <a:t> no es solo </a:t>
            </a:r>
            <a:r>
              <a:rPr dirty="0" err="1"/>
              <a:t>cuanto</a:t>
            </a:r>
            <a:r>
              <a:rPr dirty="0"/>
              <a:t> cuesta </a:t>
            </a:r>
            <a:r>
              <a:rPr dirty="0" err="1"/>
              <a:t>incorporar</a:t>
            </a:r>
            <a:r>
              <a:rPr dirty="0"/>
              <a:t> una </a:t>
            </a:r>
            <a:r>
              <a:rPr dirty="0" err="1"/>
              <a:t>proteccion</a:t>
            </a:r>
            <a:r>
              <a:rPr dirty="0"/>
              <a:t>, </a:t>
            </a:r>
            <a:r>
              <a:rPr dirty="0" err="1"/>
              <a:t>sino</a:t>
            </a:r>
            <a:r>
              <a:rPr dirty="0"/>
              <a:t> </a:t>
            </a:r>
            <a:r>
              <a:rPr dirty="0" err="1"/>
              <a:t>cuanto</a:t>
            </a:r>
            <a:r>
              <a:rPr dirty="0"/>
              <a:t> cuesta </a:t>
            </a:r>
            <a:r>
              <a:rPr dirty="0" err="1"/>
              <a:t>operar</a:t>
            </a:r>
            <a:r>
              <a:rPr dirty="0"/>
              <a:t> sin </a:t>
            </a:r>
            <a:r>
              <a:rPr dirty="0" err="1"/>
              <a:t>ella</a:t>
            </a:r>
            <a:r>
              <a:rPr dirty="0"/>
              <a:t>. La </a:t>
            </a:r>
            <a:r>
              <a:rPr dirty="0" err="1"/>
              <a:t>arquitectura</a:t>
            </a:r>
            <a:r>
              <a:rPr dirty="0"/>
              <a:t> </a:t>
            </a:r>
            <a:r>
              <a:rPr dirty="0" err="1"/>
              <a:t>responsable</a:t>
            </a:r>
            <a:r>
              <a:rPr dirty="0"/>
              <a:t> </a:t>
            </a:r>
            <a:r>
              <a:rPr dirty="0" err="1"/>
              <a:t>compara</a:t>
            </a:r>
            <a:r>
              <a:rPr dirty="0"/>
              <a:t> ambos </a:t>
            </a:r>
            <a:r>
              <a:rPr dirty="0" err="1"/>
              <a:t>lados</a:t>
            </a:r>
            <a:r>
              <a:rPr dirty="0"/>
              <a:t> antes de </a:t>
            </a:r>
            <a:r>
              <a:rPr dirty="0" err="1"/>
              <a:t>decidir</a:t>
            </a:r>
            <a:r>
              <a:rPr dirty="0"/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26679" y="1234440"/>
            <a:ext cx="3931920" cy="5257800"/>
          </a:xfrm>
          <a:prstGeom prst="roundRect">
            <a:avLst/>
          </a:prstGeom>
          <a:solidFill>
            <a:srgbClr val="EEF4FA"/>
          </a:solidFill>
          <a:ln>
            <a:solidFill>
              <a:srgbClr val="AEC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01000" y="1508760"/>
            <a:ext cx="3383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03361"/>
                </a:solidFill>
              </a:defRPr>
            </a:pPr>
            <a:r>
              <a:t>Relacion directa con el concepto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01000" y="2057400"/>
            <a:ext cx="1828800" cy="621792"/>
          </a:xfrm>
          <a:prstGeom prst="roundRect">
            <a:avLst/>
          </a:prstGeom>
          <a:solidFill>
            <a:srgbClr val="FFD8D8"/>
          </a:solidFill>
          <a:ln>
            <a:solidFill>
              <a:srgbClr val="677C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100" b="1">
                <a:solidFill>
                  <a:srgbClr val="1E2A37"/>
                </a:solidFill>
              </a:defRPr>
            </a:pPr>
            <a:r>
              <a:t>PROBLEMA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464040" y="3063240"/>
            <a:ext cx="1828800" cy="621792"/>
          </a:xfrm>
          <a:prstGeom prst="roundRect">
            <a:avLst/>
          </a:prstGeom>
          <a:solidFill>
            <a:srgbClr val="FFEBBE"/>
          </a:solidFill>
          <a:ln>
            <a:solidFill>
              <a:srgbClr val="677C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100" b="1">
                <a:solidFill>
                  <a:srgbClr val="1E2A37"/>
                </a:solidFill>
              </a:defRPr>
            </a:pPr>
            <a:r>
              <a:t>DECISION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01000" y="4160520"/>
            <a:ext cx="1828800" cy="621792"/>
          </a:xfrm>
          <a:prstGeom prst="roundRect">
            <a:avLst/>
          </a:prstGeom>
          <a:solidFill>
            <a:srgbClr val="DAF2E1"/>
          </a:solidFill>
          <a:ln>
            <a:solidFill>
              <a:srgbClr val="677C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100" b="1">
                <a:solidFill>
                  <a:srgbClr val="1E2A37"/>
                </a:solidFill>
              </a:defRPr>
            </a:pPr>
            <a:r>
              <a:t>CONSECUENCIA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0" y="5074920"/>
            <a:ext cx="338328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D343C"/>
                </a:solidFill>
              </a:defRPr>
            </a:pPr>
            <a:r>
              <a:t>El tablero de riesgos representa la necesidad de comparar rapidez y costo contra consecuencias de seguridad antes de aprobar una arquitectura.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033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Una sola fuente de informacion puede convertirse en un punto critico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34440"/>
            <a:ext cx="6903720" cy="5257800"/>
          </a:xfrm>
          <a:prstGeom prst="roundRect">
            <a:avLst/>
          </a:prstGeom>
          <a:solidFill>
            <a:srgbClr val="FFFFFF"/>
          </a:solidFill>
          <a:ln>
            <a:solidFill>
              <a:srgbClr val="C3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554480"/>
            <a:ext cx="630936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103361"/>
                </a:solidFill>
              </a:defRPr>
            </a:pPr>
            <a:r>
              <a:rPr dirty="0"/>
              <a:t>Una sola </a:t>
            </a:r>
            <a:r>
              <a:rPr dirty="0" err="1"/>
              <a:t>fuente</a:t>
            </a:r>
            <a:r>
              <a:rPr dirty="0"/>
              <a:t> de </a:t>
            </a:r>
            <a:r>
              <a:rPr dirty="0" err="1"/>
              <a:t>informacion</a:t>
            </a:r>
            <a:r>
              <a:rPr dirty="0"/>
              <a:t> </a:t>
            </a:r>
            <a:r>
              <a:rPr dirty="0" err="1"/>
              <a:t>puede</a:t>
            </a:r>
            <a:r>
              <a:rPr dirty="0"/>
              <a:t> </a:t>
            </a:r>
            <a:r>
              <a:rPr dirty="0" err="1"/>
              <a:t>convertirse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un punto </a:t>
            </a:r>
            <a:r>
              <a:rPr dirty="0" err="1"/>
              <a:t>critico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868680" y="2240280"/>
            <a:ext cx="6309360" cy="2185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262C34"/>
                </a:solidFill>
              </a:defRPr>
            </a:pPr>
            <a:r>
              <a:rPr dirty="0" err="1"/>
              <a:t>Cuando</a:t>
            </a:r>
            <a:r>
              <a:rPr dirty="0"/>
              <a:t> una </a:t>
            </a:r>
            <a:r>
              <a:rPr dirty="0" err="1"/>
              <a:t>funcion</a:t>
            </a:r>
            <a:r>
              <a:rPr dirty="0"/>
              <a:t> </a:t>
            </a:r>
            <a:r>
              <a:rPr dirty="0" err="1"/>
              <a:t>importante</a:t>
            </a:r>
            <a:r>
              <a:rPr dirty="0"/>
              <a:t> </a:t>
            </a:r>
            <a:r>
              <a:rPr dirty="0" err="1"/>
              <a:t>depende</a:t>
            </a:r>
            <a:r>
              <a:rPr dirty="0"/>
              <a:t> de un </a:t>
            </a:r>
            <a:r>
              <a:rPr dirty="0" err="1"/>
              <a:t>unico</a:t>
            </a:r>
            <a:r>
              <a:rPr dirty="0"/>
              <a:t> sensor, </a:t>
            </a:r>
            <a:r>
              <a:rPr dirty="0" err="1"/>
              <a:t>servicio</a:t>
            </a:r>
            <a:r>
              <a:rPr dirty="0"/>
              <a:t> o </a:t>
            </a:r>
            <a:r>
              <a:rPr dirty="0" err="1"/>
              <a:t>repositorio</a:t>
            </a:r>
            <a:r>
              <a:rPr dirty="0"/>
              <a:t> de </a:t>
            </a:r>
            <a:r>
              <a:rPr dirty="0" err="1"/>
              <a:t>datos</a:t>
            </a:r>
            <a:r>
              <a:rPr dirty="0"/>
              <a:t>, ese </a:t>
            </a:r>
            <a:r>
              <a:rPr dirty="0" err="1"/>
              <a:t>elemento</a:t>
            </a:r>
            <a:r>
              <a:rPr dirty="0"/>
              <a:t> se </a:t>
            </a:r>
            <a:r>
              <a:rPr dirty="0" err="1"/>
              <a:t>transforma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un punto </a:t>
            </a:r>
            <a:r>
              <a:rPr dirty="0" err="1"/>
              <a:t>unico</a:t>
            </a:r>
            <a:r>
              <a:rPr dirty="0"/>
              <a:t> de </a:t>
            </a:r>
            <a:r>
              <a:rPr dirty="0" err="1"/>
              <a:t>falla</a:t>
            </a:r>
            <a:r>
              <a:rPr dirty="0"/>
              <a:t>. Si </a:t>
            </a:r>
            <a:r>
              <a:rPr dirty="0" err="1"/>
              <a:t>su</a:t>
            </a:r>
            <a:r>
              <a:rPr dirty="0"/>
              <a:t> </a:t>
            </a:r>
            <a:r>
              <a:rPr dirty="0" err="1"/>
              <a:t>informacion</a:t>
            </a:r>
            <a:r>
              <a:rPr dirty="0"/>
              <a:t> es </a:t>
            </a:r>
            <a:r>
              <a:rPr dirty="0" err="1"/>
              <a:t>incorrecta</a:t>
            </a:r>
            <a:r>
              <a:rPr dirty="0"/>
              <a:t>,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sistema</a:t>
            </a:r>
            <a:r>
              <a:rPr dirty="0"/>
              <a:t> </a:t>
            </a:r>
            <a:r>
              <a:rPr dirty="0" err="1"/>
              <a:t>puede</a:t>
            </a:r>
            <a:r>
              <a:rPr dirty="0"/>
              <a:t> </a:t>
            </a:r>
            <a:r>
              <a:rPr dirty="0" err="1"/>
              <a:t>tomar</a:t>
            </a:r>
            <a:r>
              <a:rPr dirty="0"/>
              <a:t> una decision </a:t>
            </a:r>
            <a:r>
              <a:rPr dirty="0" err="1"/>
              <a:t>incorrecta</a:t>
            </a:r>
            <a:r>
              <a:rPr dirty="0"/>
              <a:t> con </a:t>
            </a:r>
            <a:r>
              <a:rPr dirty="0" err="1"/>
              <a:t>apariencia</a:t>
            </a:r>
            <a:r>
              <a:rPr dirty="0"/>
              <a:t> de </a:t>
            </a:r>
            <a:r>
              <a:rPr dirty="0" err="1"/>
              <a:t>certeza</a:t>
            </a:r>
            <a:r>
              <a:rPr dirty="0"/>
              <a:t>.</a:t>
            </a:r>
            <a:br>
              <a:rPr dirty="0"/>
            </a:br>
            <a:br>
              <a:rPr dirty="0"/>
            </a:br>
            <a:r>
              <a:rPr dirty="0"/>
              <a:t>La </a:t>
            </a:r>
            <a:r>
              <a:rPr dirty="0" err="1"/>
              <a:t>redundancia</a:t>
            </a:r>
            <a:r>
              <a:rPr dirty="0"/>
              <a:t> no </a:t>
            </a:r>
            <a:r>
              <a:rPr dirty="0" err="1"/>
              <a:t>significa</a:t>
            </a:r>
            <a:r>
              <a:rPr dirty="0"/>
              <a:t> </a:t>
            </a:r>
            <a:r>
              <a:rPr dirty="0" err="1"/>
              <a:t>duplicar</a:t>
            </a:r>
            <a:r>
              <a:rPr dirty="0"/>
              <a:t> </a:t>
            </a:r>
            <a:r>
              <a:rPr dirty="0" err="1"/>
              <a:t>todo</a:t>
            </a:r>
            <a:r>
              <a:rPr dirty="0"/>
              <a:t> sin </a:t>
            </a:r>
            <a:r>
              <a:rPr dirty="0" err="1"/>
              <a:t>criterio</a:t>
            </a:r>
            <a:r>
              <a:rPr dirty="0"/>
              <a:t>. </a:t>
            </a:r>
            <a:r>
              <a:rPr dirty="0" err="1"/>
              <a:t>Significa</a:t>
            </a:r>
            <a:r>
              <a:rPr dirty="0"/>
              <a:t> </a:t>
            </a:r>
            <a:r>
              <a:rPr dirty="0" err="1"/>
              <a:t>contar</a:t>
            </a:r>
            <a:r>
              <a:rPr dirty="0"/>
              <a:t> con </a:t>
            </a:r>
            <a:r>
              <a:rPr dirty="0" err="1"/>
              <a:t>fuentes</a:t>
            </a:r>
            <a:r>
              <a:rPr dirty="0"/>
              <a:t> </a:t>
            </a:r>
            <a:r>
              <a:rPr dirty="0" err="1"/>
              <a:t>independientes</a:t>
            </a:r>
            <a:r>
              <a:rPr dirty="0"/>
              <a:t>, </a:t>
            </a:r>
            <a:r>
              <a:rPr dirty="0" err="1"/>
              <a:t>validar</a:t>
            </a:r>
            <a:r>
              <a:rPr dirty="0"/>
              <a:t> </a:t>
            </a:r>
            <a:r>
              <a:rPr dirty="0" err="1"/>
              <a:t>discrepancias</a:t>
            </a:r>
            <a:r>
              <a:rPr dirty="0"/>
              <a:t> y </a:t>
            </a:r>
            <a:r>
              <a:rPr dirty="0" err="1"/>
              <a:t>definir</a:t>
            </a:r>
            <a:r>
              <a:rPr dirty="0"/>
              <a:t> que debe </a:t>
            </a:r>
            <a:r>
              <a:rPr dirty="0" err="1"/>
              <a:t>hacer</a:t>
            </a:r>
            <a:r>
              <a:rPr dirty="0"/>
              <a:t>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sistema</a:t>
            </a:r>
            <a:r>
              <a:rPr dirty="0"/>
              <a:t> </a:t>
            </a:r>
            <a:r>
              <a:rPr dirty="0" err="1"/>
              <a:t>cuando</a:t>
            </a:r>
            <a:r>
              <a:rPr dirty="0"/>
              <a:t> la </a:t>
            </a:r>
            <a:r>
              <a:rPr dirty="0" err="1"/>
              <a:t>informacion</a:t>
            </a:r>
            <a:r>
              <a:rPr dirty="0"/>
              <a:t> no es </a:t>
            </a:r>
            <a:r>
              <a:rPr dirty="0" err="1"/>
              <a:t>confiable</a:t>
            </a:r>
            <a:r>
              <a:rPr dirty="0"/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26679" y="1234440"/>
            <a:ext cx="3931920" cy="5257800"/>
          </a:xfrm>
          <a:prstGeom prst="roundRect">
            <a:avLst/>
          </a:prstGeom>
          <a:solidFill>
            <a:srgbClr val="EEF4FA"/>
          </a:solidFill>
          <a:ln>
            <a:solidFill>
              <a:srgbClr val="AEC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01000" y="1508760"/>
            <a:ext cx="3383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03361"/>
                </a:solidFill>
              </a:defRPr>
            </a:pPr>
            <a:r>
              <a:t>Relacion directa con el concepto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01000" y="2057400"/>
            <a:ext cx="1828800" cy="621792"/>
          </a:xfrm>
          <a:prstGeom prst="roundRect">
            <a:avLst/>
          </a:prstGeom>
          <a:solidFill>
            <a:srgbClr val="FFD8D8"/>
          </a:solidFill>
          <a:ln>
            <a:solidFill>
              <a:srgbClr val="677C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100" b="1">
                <a:solidFill>
                  <a:srgbClr val="1E2A37"/>
                </a:solidFill>
              </a:defRPr>
            </a:pPr>
            <a:r>
              <a:t>PROBLEMA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464040" y="3063240"/>
            <a:ext cx="1828800" cy="621792"/>
          </a:xfrm>
          <a:prstGeom prst="roundRect">
            <a:avLst/>
          </a:prstGeom>
          <a:solidFill>
            <a:srgbClr val="FFEBBE"/>
          </a:solidFill>
          <a:ln>
            <a:solidFill>
              <a:srgbClr val="677C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100" b="1">
                <a:solidFill>
                  <a:srgbClr val="1E2A37"/>
                </a:solidFill>
              </a:defRPr>
            </a:pPr>
            <a:r>
              <a:t>DECISION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01000" y="4160520"/>
            <a:ext cx="1828800" cy="621792"/>
          </a:xfrm>
          <a:prstGeom prst="roundRect">
            <a:avLst/>
          </a:prstGeom>
          <a:solidFill>
            <a:srgbClr val="DAF2E1"/>
          </a:solidFill>
          <a:ln>
            <a:solidFill>
              <a:srgbClr val="677C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100" b="1">
                <a:solidFill>
                  <a:srgbClr val="1E2A37"/>
                </a:solidFill>
              </a:defRPr>
            </a:pPr>
            <a:r>
              <a:t>CONSECUENCIA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0" y="5074920"/>
            <a:ext cx="329184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D343C"/>
                </a:solidFill>
              </a:defRPr>
            </a:pPr>
            <a:r>
              <a:rPr dirty="0"/>
              <a:t>Los </a:t>
            </a:r>
            <a:r>
              <a:rPr dirty="0" err="1"/>
              <a:t>componentes</a:t>
            </a:r>
            <a:r>
              <a:rPr dirty="0"/>
              <a:t> </a:t>
            </a:r>
            <a:r>
              <a:rPr dirty="0" err="1"/>
              <a:t>duplicados</a:t>
            </a:r>
            <a:r>
              <a:rPr dirty="0"/>
              <a:t> </a:t>
            </a:r>
            <a:r>
              <a:rPr dirty="0" err="1"/>
              <a:t>representan</a:t>
            </a:r>
            <a:r>
              <a:rPr dirty="0"/>
              <a:t> </a:t>
            </a:r>
            <a:r>
              <a:rPr dirty="0" err="1"/>
              <a:t>redundancia</a:t>
            </a:r>
            <a:r>
              <a:rPr dirty="0"/>
              <a:t>: una </a:t>
            </a:r>
            <a:r>
              <a:rPr dirty="0" err="1"/>
              <a:t>funcion</a:t>
            </a:r>
            <a:r>
              <a:rPr dirty="0"/>
              <a:t> </a:t>
            </a:r>
            <a:r>
              <a:rPr dirty="0" err="1"/>
              <a:t>critica</a:t>
            </a:r>
            <a:r>
              <a:rPr dirty="0"/>
              <a:t> no </a:t>
            </a:r>
            <a:r>
              <a:rPr dirty="0" err="1"/>
              <a:t>deberia</a:t>
            </a:r>
            <a:r>
              <a:rPr dirty="0"/>
              <a:t> </a:t>
            </a:r>
            <a:r>
              <a:rPr dirty="0" err="1"/>
              <a:t>depender</a:t>
            </a:r>
            <a:r>
              <a:rPr dirty="0"/>
              <a:t> de un </a:t>
            </a:r>
            <a:r>
              <a:rPr dirty="0" err="1"/>
              <a:t>unico</a:t>
            </a:r>
            <a:r>
              <a:rPr dirty="0"/>
              <a:t> </a:t>
            </a:r>
            <a:r>
              <a:rPr dirty="0" err="1"/>
              <a:t>dato</a:t>
            </a:r>
            <a:r>
              <a:rPr dirty="0"/>
              <a:t> o punto de </a:t>
            </a:r>
            <a:r>
              <a:rPr dirty="0" err="1"/>
              <a:t>falla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033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La automatizacion necesita limites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34440"/>
            <a:ext cx="6903720" cy="5257800"/>
          </a:xfrm>
          <a:prstGeom prst="roundRect">
            <a:avLst/>
          </a:prstGeom>
          <a:solidFill>
            <a:srgbClr val="FFFFFF"/>
          </a:solidFill>
          <a:ln>
            <a:solidFill>
              <a:srgbClr val="C3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554480"/>
            <a:ext cx="6309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103361"/>
                </a:solidFill>
              </a:defRPr>
            </a:pPr>
            <a:r>
              <a:t>La automatizacion necesita limites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240280"/>
            <a:ext cx="6212604" cy="2446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262C34"/>
                </a:solidFill>
              </a:defRPr>
            </a:pPr>
            <a:r>
              <a:rPr dirty="0" err="1"/>
              <a:t>Automatizar</a:t>
            </a:r>
            <a:r>
              <a:rPr dirty="0"/>
              <a:t> una decision no </a:t>
            </a:r>
            <a:r>
              <a:rPr dirty="0" err="1"/>
              <a:t>elimina</a:t>
            </a:r>
            <a:r>
              <a:rPr dirty="0"/>
              <a:t> la </a:t>
            </a:r>
            <a:r>
              <a:rPr dirty="0" err="1"/>
              <a:t>responsabilidad</a:t>
            </a:r>
            <a:r>
              <a:rPr dirty="0"/>
              <a:t> de </a:t>
            </a:r>
            <a:r>
              <a:rPr dirty="0" err="1"/>
              <a:t>disenar</a:t>
            </a:r>
            <a:r>
              <a:rPr dirty="0"/>
              <a:t> sus </a:t>
            </a:r>
            <a:r>
              <a:rPr dirty="0" err="1"/>
              <a:t>condiciones</a:t>
            </a:r>
            <a:r>
              <a:rPr dirty="0"/>
              <a:t> de </a:t>
            </a:r>
            <a:r>
              <a:rPr dirty="0" err="1"/>
              <a:t>seguridad</a:t>
            </a:r>
            <a:r>
              <a:rPr dirty="0"/>
              <a:t>. Un </a:t>
            </a:r>
            <a:r>
              <a:rPr dirty="0" err="1"/>
              <a:t>sistema</a:t>
            </a:r>
            <a:r>
              <a:rPr dirty="0"/>
              <a:t> </a:t>
            </a:r>
            <a:r>
              <a:rPr dirty="0" err="1"/>
              <a:t>automatico</a:t>
            </a:r>
            <a:r>
              <a:rPr dirty="0"/>
              <a:t> debe saber </a:t>
            </a:r>
            <a:r>
              <a:rPr dirty="0" err="1"/>
              <a:t>cuando</a:t>
            </a:r>
            <a:r>
              <a:rPr dirty="0"/>
              <a:t> </a:t>
            </a:r>
            <a:r>
              <a:rPr dirty="0" err="1"/>
              <a:t>actuar</a:t>
            </a:r>
            <a:r>
              <a:rPr dirty="0"/>
              <a:t>, </a:t>
            </a:r>
            <a:r>
              <a:rPr dirty="0" err="1"/>
              <a:t>cuando</a:t>
            </a:r>
            <a:r>
              <a:rPr dirty="0"/>
              <a:t> </a:t>
            </a:r>
            <a:r>
              <a:rPr dirty="0" err="1"/>
              <a:t>pedir</a:t>
            </a:r>
            <a:r>
              <a:rPr dirty="0"/>
              <a:t> </a:t>
            </a:r>
            <a:r>
              <a:rPr dirty="0" err="1"/>
              <a:t>confirmacion</a:t>
            </a:r>
            <a:r>
              <a:rPr dirty="0"/>
              <a:t> y </a:t>
            </a:r>
            <a:r>
              <a:rPr dirty="0" err="1"/>
              <a:t>cuando</a:t>
            </a:r>
            <a:r>
              <a:rPr dirty="0"/>
              <a:t> </a:t>
            </a:r>
            <a:r>
              <a:rPr dirty="0" err="1"/>
              <a:t>ceder</a:t>
            </a:r>
            <a:r>
              <a:rPr dirty="0"/>
              <a:t> </a:t>
            </a:r>
            <a:r>
              <a:rPr dirty="0" err="1"/>
              <a:t>el</a:t>
            </a:r>
            <a:r>
              <a:rPr dirty="0"/>
              <a:t> control a una persona.</a:t>
            </a:r>
            <a:br>
              <a:rPr dirty="0"/>
            </a:br>
            <a:br>
              <a:rPr dirty="0"/>
            </a:br>
            <a:r>
              <a:rPr dirty="0"/>
              <a:t>La </a:t>
            </a:r>
            <a:r>
              <a:rPr dirty="0" err="1"/>
              <a:t>autonomia</a:t>
            </a:r>
            <a:r>
              <a:rPr dirty="0"/>
              <a:t> sin </a:t>
            </a:r>
            <a:r>
              <a:rPr dirty="0" err="1"/>
              <a:t>limites</a:t>
            </a:r>
            <a:r>
              <a:rPr dirty="0"/>
              <a:t> </a:t>
            </a:r>
            <a:r>
              <a:rPr dirty="0" err="1"/>
              <a:t>puede</a:t>
            </a:r>
            <a:r>
              <a:rPr dirty="0"/>
              <a:t> </a:t>
            </a:r>
            <a:r>
              <a:rPr dirty="0" err="1"/>
              <a:t>hacer</a:t>
            </a:r>
            <a:r>
              <a:rPr dirty="0"/>
              <a:t> que un error </a:t>
            </a:r>
            <a:r>
              <a:rPr dirty="0" err="1"/>
              <a:t>pequeno</a:t>
            </a:r>
            <a:r>
              <a:rPr dirty="0"/>
              <a:t> se </a:t>
            </a:r>
            <a:r>
              <a:rPr dirty="0" err="1"/>
              <a:t>convierta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una </a:t>
            </a:r>
            <a:r>
              <a:rPr dirty="0" err="1"/>
              <a:t>secuencia</a:t>
            </a:r>
            <a:r>
              <a:rPr dirty="0"/>
              <a:t> </a:t>
            </a:r>
            <a:r>
              <a:rPr dirty="0" err="1"/>
              <a:t>dificil</a:t>
            </a:r>
            <a:r>
              <a:rPr dirty="0"/>
              <a:t> de </a:t>
            </a:r>
            <a:r>
              <a:rPr dirty="0" err="1"/>
              <a:t>detener</a:t>
            </a:r>
            <a:r>
              <a:rPr dirty="0"/>
              <a:t>. Por </a:t>
            </a:r>
            <a:r>
              <a:rPr dirty="0" err="1"/>
              <a:t>eso</a:t>
            </a:r>
            <a:r>
              <a:rPr dirty="0"/>
              <a:t>, </a:t>
            </a:r>
            <a:r>
              <a:rPr dirty="0" err="1"/>
              <a:t>cada</a:t>
            </a:r>
            <a:r>
              <a:rPr dirty="0"/>
              <a:t> </a:t>
            </a:r>
            <a:r>
              <a:rPr dirty="0" err="1"/>
              <a:t>automatizacion</a:t>
            </a:r>
            <a:r>
              <a:rPr dirty="0"/>
              <a:t> </a:t>
            </a:r>
            <a:r>
              <a:rPr dirty="0" err="1"/>
              <a:t>necesita</a:t>
            </a:r>
            <a:r>
              <a:rPr dirty="0"/>
              <a:t> </a:t>
            </a:r>
            <a:r>
              <a:rPr dirty="0" err="1"/>
              <a:t>reglas</a:t>
            </a:r>
            <a:r>
              <a:rPr dirty="0"/>
              <a:t> de </a:t>
            </a:r>
            <a:r>
              <a:rPr dirty="0" err="1"/>
              <a:t>activacion</a:t>
            </a:r>
            <a:r>
              <a:rPr dirty="0"/>
              <a:t>, </a:t>
            </a:r>
            <a:r>
              <a:rPr dirty="0" err="1"/>
              <a:t>mecanismos</a:t>
            </a:r>
            <a:r>
              <a:rPr dirty="0"/>
              <a:t> de </a:t>
            </a:r>
            <a:r>
              <a:rPr dirty="0" err="1"/>
              <a:t>anulacion</a:t>
            </a:r>
            <a:r>
              <a:rPr dirty="0"/>
              <a:t> y </a:t>
            </a:r>
            <a:r>
              <a:rPr dirty="0" err="1"/>
              <a:t>comportamiento</a:t>
            </a:r>
            <a:r>
              <a:rPr dirty="0"/>
              <a:t> </a:t>
            </a:r>
            <a:r>
              <a:rPr dirty="0" err="1"/>
              <a:t>seguro</a:t>
            </a:r>
            <a:r>
              <a:rPr dirty="0"/>
              <a:t> ante </a:t>
            </a:r>
            <a:r>
              <a:rPr dirty="0" err="1"/>
              <a:t>incertidumbre</a:t>
            </a:r>
            <a:r>
              <a:rPr dirty="0"/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26679" y="1234440"/>
            <a:ext cx="3931920" cy="5257800"/>
          </a:xfrm>
          <a:prstGeom prst="roundRect">
            <a:avLst/>
          </a:prstGeom>
          <a:solidFill>
            <a:srgbClr val="EEF4FA"/>
          </a:solidFill>
          <a:ln>
            <a:solidFill>
              <a:srgbClr val="AEC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01000" y="1508760"/>
            <a:ext cx="3383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03361"/>
                </a:solidFill>
              </a:defRPr>
            </a:pPr>
            <a:r>
              <a:t>Relacion directa con el concepto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2440" y="2148840"/>
            <a:ext cx="1828800" cy="621792"/>
          </a:xfrm>
          <a:prstGeom prst="roundRect">
            <a:avLst/>
          </a:prstGeom>
          <a:solidFill>
            <a:srgbClr val="CFE2F3"/>
          </a:solidFill>
          <a:ln>
            <a:solidFill>
              <a:srgbClr val="677C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100" b="1">
                <a:solidFill>
                  <a:srgbClr val="1E2A37"/>
                </a:solidFill>
              </a:defRPr>
            </a:pPr>
            <a:r>
              <a:t>DATO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55480" y="3063240"/>
            <a:ext cx="1828800" cy="621792"/>
          </a:xfrm>
          <a:prstGeom prst="roundRect">
            <a:avLst/>
          </a:prstGeom>
          <a:solidFill>
            <a:srgbClr val="FFEBBE"/>
          </a:solidFill>
          <a:ln>
            <a:solidFill>
              <a:srgbClr val="677C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100" b="1">
                <a:solidFill>
                  <a:srgbClr val="1E2A37"/>
                </a:solidFill>
              </a:defRPr>
            </a:pPr>
            <a:r>
              <a:t>AUTOMATISMO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4160520"/>
            <a:ext cx="1828800" cy="621792"/>
          </a:xfrm>
          <a:prstGeom prst="roundRect">
            <a:avLst/>
          </a:prstGeom>
          <a:solidFill>
            <a:srgbClr val="DAF2E1"/>
          </a:solidFill>
          <a:ln>
            <a:solidFill>
              <a:srgbClr val="677C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100" b="1">
                <a:solidFill>
                  <a:srgbClr val="1E2A37"/>
                </a:solidFill>
              </a:defRPr>
            </a:pPr>
            <a:r>
              <a:t>ALERTA / ANULACION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0" y="5074920"/>
            <a:ext cx="338328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D343C"/>
                </a:solidFill>
              </a:defRPr>
            </a:pPr>
            <a:r>
              <a:rPr dirty="0"/>
              <a:t>Los </a:t>
            </a:r>
            <a:r>
              <a:rPr dirty="0" err="1"/>
              <a:t>controles</a:t>
            </a:r>
            <a:r>
              <a:rPr dirty="0"/>
              <a:t> de la </a:t>
            </a:r>
            <a:r>
              <a:rPr dirty="0" err="1"/>
              <a:t>cabina</a:t>
            </a:r>
            <a:r>
              <a:rPr dirty="0"/>
              <a:t> </a:t>
            </a:r>
            <a:r>
              <a:rPr dirty="0" err="1"/>
              <a:t>representan</a:t>
            </a:r>
            <a:r>
              <a:rPr dirty="0"/>
              <a:t> los </a:t>
            </a:r>
            <a:r>
              <a:rPr dirty="0" err="1"/>
              <a:t>limites</a:t>
            </a:r>
            <a:r>
              <a:rPr dirty="0"/>
              <a:t>, </a:t>
            </a:r>
            <a:r>
              <a:rPr dirty="0" err="1"/>
              <a:t>alertas</a:t>
            </a:r>
            <a:r>
              <a:rPr dirty="0"/>
              <a:t> y </a:t>
            </a:r>
            <a:r>
              <a:rPr dirty="0" err="1"/>
              <a:t>mecanismos</a:t>
            </a:r>
            <a:r>
              <a:rPr dirty="0"/>
              <a:t> de </a:t>
            </a:r>
            <a:r>
              <a:rPr dirty="0" err="1"/>
              <a:t>anulacion</a:t>
            </a:r>
            <a:r>
              <a:rPr dirty="0"/>
              <a:t> que una </a:t>
            </a:r>
            <a:r>
              <a:rPr dirty="0" err="1"/>
              <a:t>automatizacion</a:t>
            </a:r>
            <a:r>
              <a:rPr dirty="0"/>
              <a:t> </a:t>
            </a:r>
            <a:r>
              <a:rPr dirty="0" err="1"/>
              <a:t>responsable</a:t>
            </a:r>
            <a:r>
              <a:rPr dirty="0"/>
              <a:t> debe </a:t>
            </a:r>
            <a:r>
              <a:rPr dirty="0" err="1"/>
              <a:t>ofrecer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033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Las decisiones arquitectonicas tienen consecuencias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34440"/>
            <a:ext cx="6903720" cy="5257800"/>
          </a:xfrm>
          <a:prstGeom prst="roundRect">
            <a:avLst/>
          </a:prstGeom>
          <a:solidFill>
            <a:srgbClr val="FFFFFF"/>
          </a:solidFill>
          <a:ln>
            <a:solidFill>
              <a:srgbClr val="C3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554480"/>
            <a:ext cx="6309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103361"/>
                </a:solidFill>
              </a:defRPr>
            </a:pPr>
            <a:r>
              <a:t>Las decisiones arquitectonicas tienen consecuencias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240280"/>
            <a:ext cx="6309360" cy="2185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262C34"/>
                </a:solidFill>
              </a:defRPr>
            </a:pPr>
            <a:r>
              <a:rPr dirty="0"/>
              <a:t>Una </a:t>
            </a:r>
            <a:r>
              <a:rPr dirty="0" err="1"/>
              <a:t>eleccion</a:t>
            </a:r>
            <a:r>
              <a:rPr dirty="0"/>
              <a:t> de </a:t>
            </a:r>
            <a:r>
              <a:rPr dirty="0" err="1"/>
              <a:t>arquitectura</a:t>
            </a:r>
            <a:r>
              <a:rPr dirty="0"/>
              <a:t> </a:t>
            </a:r>
            <a:r>
              <a:rPr dirty="0" err="1"/>
              <a:t>puede</a:t>
            </a:r>
            <a:r>
              <a:rPr dirty="0"/>
              <a:t> </a:t>
            </a:r>
            <a:r>
              <a:rPr dirty="0" err="1"/>
              <a:t>afectar</a:t>
            </a:r>
            <a:r>
              <a:rPr dirty="0"/>
              <a:t> </a:t>
            </a:r>
            <a:r>
              <a:rPr dirty="0" err="1"/>
              <a:t>escalabilidad</a:t>
            </a:r>
            <a:r>
              <a:rPr dirty="0"/>
              <a:t>, </a:t>
            </a:r>
            <a:r>
              <a:rPr dirty="0" err="1"/>
              <a:t>seguridad</a:t>
            </a:r>
            <a:r>
              <a:rPr dirty="0"/>
              <a:t>, </a:t>
            </a:r>
            <a:r>
              <a:rPr dirty="0" err="1"/>
              <a:t>privacidad</a:t>
            </a:r>
            <a:r>
              <a:rPr dirty="0"/>
              <a:t>, </a:t>
            </a:r>
            <a:r>
              <a:rPr dirty="0" err="1"/>
              <a:t>accesibilidad</a:t>
            </a:r>
            <a:r>
              <a:rPr dirty="0"/>
              <a:t>, </a:t>
            </a:r>
            <a:r>
              <a:rPr dirty="0" err="1"/>
              <a:t>disponibilidad</a:t>
            </a:r>
            <a:r>
              <a:rPr dirty="0"/>
              <a:t> y </a:t>
            </a:r>
            <a:r>
              <a:rPr dirty="0" err="1"/>
              <a:t>cumplimiento</a:t>
            </a:r>
            <a:r>
              <a:rPr dirty="0"/>
              <a:t>. La </a:t>
            </a:r>
            <a:r>
              <a:rPr dirty="0" err="1"/>
              <a:t>consecuencia</a:t>
            </a:r>
            <a:r>
              <a:rPr dirty="0"/>
              <a:t> </a:t>
            </a:r>
            <a:r>
              <a:rPr dirty="0" err="1"/>
              <a:t>puede</a:t>
            </a:r>
            <a:r>
              <a:rPr dirty="0"/>
              <a:t> ser </a:t>
            </a:r>
            <a:r>
              <a:rPr dirty="0" err="1"/>
              <a:t>tecnica</a:t>
            </a:r>
            <a:r>
              <a:rPr dirty="0"/>
              <a:t>, </a:t>
            </a:r>
            <a:r>
              <a:rPr dirty="0" err="1"/>
              <a:t>economica</a:t>
            </a:r>
            <a:r>
              <a:rPr dirty="0"/>
              <a:t>, social o </a:t>
            </a:r>
            <a:r>
              <a:rPr dirty="0" err="1"/>
              <a:t>etica</a:t>
            </a:r>
            <a:r>
              <a:rPr dirty="0"/>
              <a:t>.</a:t>
            </a:r>
            <a:br>
              <a:rPr dirty="0"/>
            </a:br>
            <a:br>
              <a:rPr dirty="0"/>
            </a:br>
            <a:r>
              <a:rPr dirty="0" err="1"/>
              <a:t>Esto</a:t>
            </a:r>
            <a:r>
              <a:rPr dirty="0"/>
              <a:t> </a:t>
            </a:r>
            <a:r>
              <a:rPr dirty="0" err="1"/>
              <a:t>aplica</a:t>
            </a:r>
            <a:r>
              <a:rPr dirty="0"/>
              <a:t> a </a:t>
            </a:r>
            <a:r>
              <a:rPr dirty="0" err="1"/>
              <a:t>cualquier</a:t>
            </a:r>
            <a:r>
              <a:rPr dirty="0"/>
              <a:t> sector: </a:t>
            </a:r>
            <a:r>
              <a:rPr dirty="0" err="1"/>
              <a:t>aviacion</a:t>
            </a:r>
            <a:r>
              <a:rPr dirty="0"/>
              <a:t>, </a:t>
            </a:r>
            <a:r>
              <a:rPr dirty="0" err="1"/>
              <a:t>salud</a:t>
            </a:r>
            <a:r>
              <a:rPr dirty="0"/>
              <a:t>, banca, </a:t>
            </a:r>
            <a:r>
              <a:rPr dirty="0" err="1"/>
              <a:t>educacion</a:t>
            </a:r>
            <a:r>
              <a:rPr dirty="0"/>
              <a:t> o una startup. El </a:t>
            </a:r>
            <a:r>
              <a:rPr dirty="0" err="1"/>
              <a:t>contexto</a:t>
            </a:r>
            <a:r>
              <a:rPr dirty="0"/>
              <a:t> cambia, </a:t>
            </a:r>
            <a:r>
              <a:rPr dirty="0" err="1"/>
              <a:t>pero</a:t>
            </a:r>
            <a:r>
              <a:rPr dirty="0"/>
              <a:t> la </a:t>
            </a:r>
            <a:r>
              <a:rPr dirty="0" err="1"/>
              <a:t>responsabilidad</a:t>
            </a:r>
            <a:r>
              <a:rPr dirty="0"/>
              <a:t> </a:t>
            </a:r>
            <a:r>
              <a:rPr dirty="0" err="1"/>
              <a:t>permanece</a:t>
            </a:r>
            <a:r>
              <a:rPr dirty="0"/>
              <a:t>: </a:t>
            </a:r>
            <a:r>
              <a:rPr dirty="0" err="1"/>
              <a:t>construir</a:t>
            </a:r>
            <a:r>
              <a:rPr dirty="0"/>
              <a:t> </a:t>
            </a:r>
            <a:r>
              <a:rPr dirty="0" err="1"/>
              <a:t>sistemas</a:t>
            </a:r>
            <a:r>
              <a:rPr dirty="0"/>
              <a:t> </a:t>
            </a:r>
            <a:r>
              <a:rPr dirty="0" err="1"/>
              <a:t>cuyo</a:t>
            </a:r>
            <a:r>
              <a:rPr dirty="0"/>
              <a:t> </a:t>
            </a:r>
            <a:r>
              <a:rPr dirty="0" err="1"/>
              <a:t>comportamiento</a:t>
            </a:r>
            <a:r>
              <a:rPr dirty="0"/>
              <a:t> sea </a:t>
            </a:r>
            <a:r>
              <a:rPr dirty="0" err="1"/>
              <a:t>comprensible</a:t>
            </a:r>
            <a:r>
              <a:rPr dirty="0"/>
              <a:t> y </a:t>
            </a:r>
            <a:r>
              <a:rPr dirty="0" err="1"/>
              <a:t>controlable</a:t>
            </a:r>
            <a:r>
              <a:rPr dirty="0"/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26679" y="1234440"/>
            <a:ext cx="3931920" cy="5257800"/>
          </a:xfrm>
          <a:prstGeom prst="roundRect">
            <a:avLst/>
          </a:prstGeom>
          <a:solidFill>
            <a:srgbClr val="EEF4FA"/>
          </a:solidFill>
          <a:ln>
            <a:solidFill>
              <a:srgbClr val="AEC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01000" y="1508760"/>
            <a:ext cx="3383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03361"/>
                </a:solidFill>
              </a:defRPr>
            </a:pPr>
            <a:r>
              <a:t>Relacion directa con el concepto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01000" y="2057400"/>
            <a:ext cx="1828800" cy="621792"/>
          </a:xfrm>
          <a:prstGeom prst="roundRect">
            <a:avLst/>
          </a:prstGeom>
          <a:solidFill>
            <a:srgbClr val="FFD8D8"/>
          </a:solidFill>
          <a:ln>
            <a:solidFill>
              <a:srgbClr val="677C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100" b="1">
                <a:solidFill>
                  <a:srgbClr val="1E2A37"/>
                </a:solidFill>
              </a:defRPr>
            </a:pPr>
            <a:r>
              <a:t>PROBLEMA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464040" y="3063240"/>
            <a:ext cx="1828800" cy="621792"/>
          </a:xfrm>
          <a:prstGeom prst="roundRect">
            <a:avLst/>
          </a:prstGeom>
          <a:solidFill>
            <a:srgbClr val="FFEBBE"/>
          </a:solidFill>
          <a:ln>
            <a:solidFill>
              <a:srgbClr val="677C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100" b="1">
                <a:solidFill>
                  <a:srgbClr val="1E2A37"/>
                </a:solidFill>
              </a:defRPr>
            </a:pPr>
            <a:r>
              <a:t>DECISION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01000" y="4160520"/>
            <a:ext cx="1828800" cy="621792"/>
          </a:xfrm>
          <a:prstGeom prst="roundRect">
            <a:avLst/>
          </a:prstGeom>
          <a:solidFill>
            <a:srgbClr val="DAF2E1"/>
          </a:solidFill>
          <a:ln>
            <a:solidFill>
              <a:srgbClr val="677C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100" b="1">
                <a:solidFill>
                  <a:srgbClr val="1E2A37"/>
                </a:solidFill>
              </a:defRPr>
            </a:pPr>
            <a:r>
              <a:t>CONSECUENCIA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0" y="5074920"/>
            <a:ext cx="338328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D343C"/>
                </a:solidFill>
              </a:defRPr>
            </a:pPr>
            <a:r>
              <a:t>La imagen de ingenieria representa que las decisiones arquitectonicas deben evaluarse por sus efectos tecnicos, operativos, economicos y eticos.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033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El arquitecto no se limita a dibujar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34440"/>
            <a:ext cx="6903720" cy="5257800"/>
          </a:xfrm>
          <a:prstGeom prst="roundRect">
            <a:avLst/>
          </a:prstGeom>
          <a:solidFill>
            <a:srgbClr val="FFFFFF"/>
          </a:solidFill>
          <a:ln>
            <a:solidFill>
              <a:srgbClr val="C3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554480"/>
            <a:ext cx="6309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103361"/>
                </a:solidFill>
              </a:defRPr>
            </a:pPr>
            <a:r>
              <a:t>El arquitecto no se limita a dibujar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240280"/>
            <a:ext cx="6309360" cy="2185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262C34"/>
                </a:solidFill>
              </a:defRPr>
            </a:pPr>
            <a:r>
              <a:rPr dirty="0"/>
              <a:t>El </a:t>
            </a:r>
            <a:r>
              <a:rPr dirty="0" err="1"/>
              <a:t>trabajo</a:t>
            </a:r>
            <a:r>
              <a:rPr dirty="0"/>
              <a:t> </a:t>
            </a:r>
            <a:r>
              <a:rPr dirty="0" err="1"/>
              <a:t>arquitectonico</a:t>
            </a:r>
            <a:r>
              <a:rPr dirty="0"/>
              <a:t> </a:t>
            </a:r>
            <a:r>
              <a:rPr dirty="0" err="1"/>
              <a:t>incluye</a:t>
            </a:r>
            <a:r>
              <a:rPr dirty="0"/>
              <a:t> </a:t>
            </a:r>
            <a:r>
              <a:rPr dirty="0" err="1"/>
              <a:t>abstraer</a:t>
            </a:r>
            <a:r>
              <a:rPr dirty="0"/>
              <a:t> </a:t>
            </a:r>
            <a:r>
              <a:rPr dirty="0" err="1"/>
              <a:t>complejidad</a:t>
            </a:r>
            <a:r>
              <a:rPr dirty="0"/>
              <a:t>, </a:t>
            </a:r>
            <a:r>
              <a:rPr dirty="0" err="1"/>
              <a:t>cuestionar</a:t>
            </a:r>
            <a:r>
              <a:rPr dirty="0"/>
              <a:t> </a:t>
            </a:r>
            <a:r>
              <a:rPr dirty="0" err="1"/>
              <a:t>supuestos</a:t>
            </a:r>
            <a:r>
              <a:rPr dirty="0"/>
              <a:t>, </a:t>
            </a:r>
            <a:r>
              <a:rPr dirty="0" err="1"/>
              <a:t>reconocer</a:t>
            </a:r>
            <a:r>
              <a:rPr dirty="0"/>
              <a:t> </a:t>
            </a:r>
            <a:r>
              <a:rPr dirty="0" err="1"/>
              <a:t>riesgos</a:t>
            </a:r>
            <a:r>
              <a:rPr dirty="0"/>
              <a:t> y </a:t>
            </a:r>
            <a:r>
              <a:rPr dirty="0" err="1"/>
              <a:t>negociar</a:t>
            </a:r>
            <a:r>
              <a:rPr dirty="0"/>
              <a:t> con las personas que </a:t>
            </a:r>
            <a:r>
              <a:rPr dirty="0" err="1"/>
              <a:t>tienen</a:t>
            </a:r>
            <a:r>
              <a:rPr dirty="0"/>
              <a:t> </a:t>
            </a:r>
            <a:r>
              <a:rPr dirty="0" err="1"/>
              <a:t>intereses</a:t>
            </a:r>
            <a:r>
              <a:rPr dirty="0"/>
              <a:t> </a:t>
            </a:r>
            <a:r>
              <a:rPr dirty="0" err="1"/>
              <a:t>sobre</a:t>
            </a:r>
            <a:r>
              <a:rPr dirty="0"/>
              <a:t>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sistema</a:t>
            </a:r>
            <a:r>
              <a:rPr dirty="0"/>
              <a:t>.</a:t>
            </a:r>
            <a:br>
              <a:rPr dirty="0"/>
            </a:br>
            <a:br>
              <a:rPr dirty="0"/>
            </a:br>
            <a:r>
              <a:rPr dirty="0"/>
              <a:t>Un </a:t>
            </a:r>
            <a:r>
              <a:rPr dirty="0" err="1"/>
              <a:t>diagrama</a:t>
            </a:r>
            <a:r>
              <a:rPr dirty="0"/>
              <a:t> </a:t>
            </a:r>
            <a:r>
              <a:rPr dirty="0" err="1"/>
              <a:t>puede</a:t>
            </a:r>
            <a:r>
              <a:rPr dirty="0"/>
              <a:t> </a:t>
            </a:r>
            <a:r>
              <a:rPr dirty="0" err="1"/>
              <a:t>ayudar</a:t>
            </a:r>
            <a:r>
              <a:rPr dirty="0"/>
              <a:t> a </a:t>
            </a:r>
            <a:r>
              <a:rPr dirty="0" err="1"/>
              <a:t>conversar</a:t>
            </a:r>
            <a:r>
              <a:rPr dirty="0"/>
              <a:t>, </a:t>
            </a:r>
            <a:r>
              <a:rPr dirty="0" err="1"/>
              <a:t>pero</a:t>
            </a:r>
            <a:r>
              <a:rPr dirty="0"/>
              <a:t> no </a:t>
            </a:r>
            <a:r>
              <a:rPr dirty="0" err="1"/>
              <a:t>reemplaza</a:t>
            </a:r>
            <a:r>
              <a:rPr dirty="0"/>
              <a:t> la </a:t>
            </a:r>
            <a:r>
              <a:rPr dirty="0" err="1"/>
              <a:t>investigacion</a:t>
            </a:r>
            <a:r>
              <a:rPr dirty="0"/>
              <a:t> </a:t>
            </a:r>
            <a:r>
              <a:rPr dirty="0" err="1"/>
              <a:t>ni</a:t>
            </a:r>
            <a:r>
              <a:rPr dirty="0"/>
              <a:t> la </a:t>
            </a:r>
            <a:r>
              <a:rPr dirty="0" err="1"/>
              <a:t>toma</a:t>
            </a:r>
            <a:r>
              <a:rPr dirty="0"/>
              <a:t> de </a:t>
            </a:r>
            <a:r>
              <a:rPr dirty="0" err="1"/>
              <a:t>decisiones</a:t>
            </a:r>
            <a:r>
              <a:rPr dirty="0"/>
              <a:t>. La </a:t>
            </a:r>
            <a:r>
              <a:rPr dirty="0" err="1"/>
              <a:t>arquitectura</a:t>
            </a:r>
            <a:r>
              <a:rPr dirty="0"/>
              <a:t> se </a:t>
            </a:r>
            <a:r>
              <a:rPr dirty="0" err="1"/>
              <a:t>demuestra</a:t>
            </a:r>
            <a:r>
              <a:rPr dirty="0"/>
              <a:t> </a:t>
            </a:r>
            <a:r>
              <a:rPr dirty="0" err="1"/>
              <a:t>cuando</a:t>
            </a:r>
            <a:r>
              <a:rPr dirty="0"/>
              <a:t>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equipo</a:t>
            </a:r>
            <a:r>
              <a:rPr dirty="0"/>
              <a:t> </a:t>
            </a:r>
            <a:r>
              <a:rPr dirty="0" err="1"/>
              <a:t>puede</a:t>
            </a:r>
            <a:r>
              <a:rPr dirty="0"/>
              <a:t> </a:t>
            </a:r>
            <a:r>
              <a:rPr dirty="0" err="1"/>
              <a:t>explicar</a:t>
            </a:r>
            <a:r>
              <a:rPr dirty="0"/>
              <a:t> por que </a:t>
            </a:r>
            <a:r>
              <a:rPr dirty="0" err="1"/>
              <a:t>eligio</a:t>
            </a:r>
            <a:r>
              <a:rPr dirty="0"/>
              <a:t> una </a:t>
            </a:r>
            <a:r>
              <a:rPr dirty="0" err="1"/>
              <a:t>alternativa</a:t>
            </a:r>
            <a:r>
              <a:rPr dirty="0"/>
              <a:t> y que </a:t>
            </a:r>
            <a:r>
              <a:rPr dirty="0" err="1"/>
              <a:t>consecuencias</a:t>
            </a:r>
            <a:r>
              <a:rPr dirty="0"/>
              <a:t> </a:t>
            </a:r>
            <a:r>
              <a:rPr dirty="0" err="1"/>
              <a:t>esta</a:t>
            </a:r>
            <a:r>
              <a:rPr dirty="0"/>
              <a:t> </a:t>
            </a:r>
            <a:r>
              <a:rPr dirty="0" err="1"/>
              <a:t>dispuesto</a:t>
            </a:r>
            <a:r>
              <a:rPr dirty="0"/>
              <a:t> a </a:t>
            </a:r>
            <a:r>
              <a:rPr dirty="0" err="1"/>
              <a:t>aceptar</a:t>
            </a:r>
            <a:r>
              <a:rPr dirty="0"/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26679" y="1234440"/>
            <a:ext cx="3931920" cy="5257800"/>
          </a:xfrm>
          <a:prstGeom prst="roundRect">
            <a:avLst/>
          </a:prstGeom>
          <a:solidFill>
            <a:srgbClr val="EEF4FA"/>
          </a:solidFill>
          <a:ln>
            <a:solidFill>
              <a:srgbClr val="AEC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01000" y="1508760"/>
            <a:ext cx="3383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03361"/>
                </a:solidFill>
              </a:defRPr>
            </a:pPr>
            <a:r>
              <a:t>Relacion directa con el concepto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01000" y="2057400"/>
            <a:ext cx="1828800" cy="621792"/>
          </a:xfrm>
          <a:prstGeom prst="roundRect">
            <a:avLst/>
          </a:prstGeom>
          <a:solidFill>
            <a:srgbClr val="FFEBBE"/>
          </a:solidFill>
          <a:ln>
            <a:solidFill>
              <a:srgbClr val="677C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100" b="1">
                <a:solidFill>
                  <a:srgbClr val="1E2A37"/>
                </a:solidFill>
              </a:defRPr>
            </a:pPr>
            <a:r>
              <a:t>NEGOCIO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55480" y="3063240"/>
            <a:ext cx="1828800" cy="621792"/>
          </a:xfrm>
          <a:prstGeom prst="roundRect">
            <a:avLst/>
          </a:prstGeom>
          <a:solidFill>
            <a:srgbClr val="CFE2F3"/>
          </a:solidFill>
          <a:ln>
            <a:solidFill>
              <a:srgbClr val="677C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100" b="1">
                <a:solidFill>
                  <a:srgbClr val="1E2A37"/>
                </a:solidFill>
              </a:defRPr>
            </a:pPr>
            <a:r>
              <a:t>DECISION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01000" y="4160520"/>
            <a:ext cx="1828800" cy="621792"/>
          </a:xfrm>
          <a:prstGeom prst="roundRect">
            <a:avLst/>
          </a:prstGeom>
          <a:solidFill>
            <a:srgbClr val="DAF2E1"/>
          </a:solidFill>
          <a:ln>
            <a:solidFill>
              <a:srgbClr val="677C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100" b="1">
                <a:solidFill>
                  <a:srgbClr val="1E2A37"/>
                </a:solidFill>
              </a:defRPr>
            </a:pPr>
            <a:r>
              <a:t>OPERACION + SEGURIDAD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0" y="5074920"/>
            <a:ext cx="338328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D343C"/>
                </a:solidFill>
              </a:defRPr>
            </a:pPr>
            <a:r>
              <a:rPr dirty="0"/>
              <a:t>La </a:t>
            </a:r>
            <a:r>
              <a:rPr dirty="0" err="1"/>
              <a:t>pizarra</a:t>
            </a:r>
            <a:r>
              <a:rPr dirty="0"/>
              <a:t> y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equipo</a:t>
            </a:r>
            <a:r>
              <a:rPr dirty="0"/>
              <a:t> </a:t>
            </a:r>
            <a:r>
              <a:rPr dirty="0" err="1"/>
              <a:t>representan</a:t>
            </a:r>
            <a:r>
              <a:rPr dirty="0"/>
              <a:t> al </a:t>
            </a:r>
            <a:r>
              <a:rPr dirty="0" err="1"/>
              <a:t>arquitecto</a:t>
            </a:r>
            <a:r>
              <a:rPr dirty="0"/>
              <a:t> </a:t>
            </a:r>
            <a:r>
              <a:rPr dirty="0" err="1"/>
              <a:t>facilitando</a:t>
            </a:r>
            <a:r>
              <a:rPr dirty="0"/>
              <a:t> </a:t>
            </a:r>
            <a:r>
              <a:rPr dirty="0" err="1"/>
              <a:t>conversaciones</a:t>
            </a:r>
            <a:r>
              <a:rPr dirty="0"/>
              <a:t> entre personas con </a:t>
            </a:r>
            <a:r>
              <a:rPr dirty="0" err="1"/>
              <a:t>intereses</a:t>
            </a:r>
            <a:r>
              <a:rPr dirty="0"/>
              <a:t> </a:t>
            </a:r>
            <a:r>
              <a:rPr dirty="0" err="1"/>
              <a:t>diferentes</a:t>
            </a:r>
            <a:r>
              <a:rPr dirty="0"/>
              <a:t> </a:t>
            </a:r>
            <a:r>
              <a:rPr dirty="0" err="1"/>
              <a:t>sobre</a:t>
            </a:r>
            <a:r>
              <a:rPr dirty="0"/>
              <a:t>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mismo</a:t>
            </a:r>
            <a:r>
              <a:rPr dirty="0"/>
              <a:t> </a:t>
            </a:r>
            <a:r>
              <a:rPr dirty="0" err="1"/>
              <a:t>sistema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033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Pensar en los stakeholders cambia la decision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34440"/>
            <a:ext cx="6903720" cy="5257800"/>
          </a:xfrm>
          <a:prstGeom prst="roundRect">
            <a:avLst/>
          </a:prstGeom>
          <a:solidFill>
            <a:srgbClr val="FFFFFF"/>
          </a:solidFill>
          <a:ln>
            <a:solidFill>
              <a:srgbClr val="C3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554480"/>
            <a:ext cx="6309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103361"/>
                </a:solidFill>
              </a:defRPr>
            </a:pPr>
            <a:r>
              <a:t>Pensar en los stakeholders cambia la decision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240280"/>
            <a:ext cx="6309360" cy="2446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262C34"/>
                </a:solidFill>
              </a:defRPr>
            </a:pPr>
            <a:r>
              <a:rPr dirty="0"/>
              <a:t>Los stakeholders son las personas, </a:t>
            </a:r>
            <a:r>
              <a:rPr dirty="0" err="1"/>
              <a:t>equipos</a:t>
            </a:r>
            <a:r>
              <a:rPr dirty="0"/>
              <a:t> y </a:t>
            </a:r>
            <a:r>
              <a:rPr dirty="0" err="1"/>
              <a:t>organizaciones</a:t>
            </a:r>
            <a:r>
              <a:rPr dirty="0"/>
              <a:t> </a:t>
            </a:r>
            <a:r>
              <a:rPr dirty="0" err="1"/>
              <a:t>afectadas</a:t>
            </a:r>
            <a:r>
              <a:rPr dirty="0"/>
              <a:t> por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sistema</a:t>
            </a:r>
            <a:r>
              <a:rPr dirty="0"/>
              <a:t> o </a:t>
            </a:r>
            <a:r>
              <a:rPr dirty="0" err="1"/>
              <a:t>capaces</a:t>
            </a:r>
            <a:r>
              <a:rPr dirty="0"/>
              <a:t> de </a:t>
            </a:r>
            <a:r>
              <a:rPr dirty="0" err="1"/>
              <a:t>influir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el. Sus </a:t>
            </a:r>
            <a:r>
              <a:rPr dirty="0" err="1"/>
              <a:t>expectativas</a:t>
            </a:r>
            <a:r>
              <a:rPr dirty="0"/>
              <a:t> </a:t>
            </a:r>
            <a:r>
              <a:rPr dirty="0" err="1"/>
              <a:t>pueden</a:t>
            </a:r>
            <a:r>
              <a:rPr dirty="0"/>
              <a:t> ser </a:t>
            </a:r>
            <a:r>
              <a:rPr dirty="0" err="1"/>
              <a:t>diferentes</a:t>
            </a:r>
            <a:r>
              <a:rPr dirty="0"/>
              <a:t>: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negocio</a:t>
            </a:r>
            <a:r>
              <a:rPr dirty="0"/>
              <a:t> </a:t>
            </a:r>
            <a:r>
              <a:rPr dirty="0" err="1"/>
              <a:t>busca</a:t>
            </a:r>
            <a:r>
              <a:rPr dirty="0"/>
              <a:t> valor, </a:t>
            </a:r>
            <a:r>
              <a:rPr dirty="0" err="1"/>
              <a:t>operaciones</a:t>
            </a:r>
            <a:r>
              <a:rPr dirty="0"/>
              <a:t> </a:t>
            </a:r>
            <a:r>
              <a:rPr dirty="0" err="1"/>
              <a:t>busca</a:t>
            </a:r>
            <a:r>
              <a:rPr dirty="0"/>
              <a:t> </a:t>
            </a:r>
            <a:r>
              <a:rPr dirty="0" err="1"/>
              <a:t>estabilidad</a:t>
            </a:r>
            <a:r>
              <a:rPr dirty="0"/>
              <a:t>, </a:t>
            </a:r>
            <a:r>
              <a:rPr dirty="0" err="1"/>
              <a:t>seguridad</a:t>
            </a:r>
            <a:r>
              <a:rPr dirty="0"/>
              <a:t> </a:t>
            </a:r>
            <a:r>
              <a:rPr dirty="0" err="1"/>
              <a:t>busca</a:t>
            </a:r>
            <a:r>
              <a:rPr dirty="0"/>
              <a:t> </a:t>
            </a:r>
            <a:r>
              <a:rPr dirty="0" err="1"/>
              <a:t>reducir</a:t>
            </a:r>
            <a:r>
              <a:rPr dirty="0"/>
              <a:t> </a:t>
            </a:r>
            <a:r>
              <a:rPr dirty="0" err="1"/>
              <a:t>amenazas</a:t>
            </a:r>
            <a:r>
              <a:rPr dirty="0"/>
              <a:t> y los </a:t>
            </a:r>
            <a:r>
              <a:rPr dirty="0" err="1"/>
              <a:t>usuarios</a:t>
            </a:r>
            <a:r>
              <a:rPr dirty="0"/>
              <a:t> </a:t>
            </a:r>
            <a:r>
              <a:rPr dirty="0" err="1"/>
              <a:t>buscan</a:t>
            </a:r>
            <a:r>
              <a:rPr dirty="0"/>
              <a:t> una </a:t>
            </a:r>
            <a:r>
              <a:rPr dirty="0" err="1"/>
              <a:t>experiencia</a:t>
            </a:r>
            <a:r>
              <a:rPr dirty="0"/>
              <a:t> </a:t>
            </a:r>
            <a:r>
              <a:rPr dirty="0" err="1"/>
              <a:t>confiable</a:t>
            </a:r>
            <a:r>
              <a:rPr dirty="0"/>
              <a:t>.</a:t>
            </a:r>
            <a:br>
              <a:rPr dirty="0"/>
            </a:br>
            <a:br>
              <a:rPr dirty="0"/>
            </a:br>
            <a:r>
              <a:rPr dirty="0"/>
              <a:t>Una decision </a:t>
            </a:r>
            <a:r>
              <a:rPr dirty="0" err="1"/>
              <a:t>arquitectonica</a:t>
            </a:r>
            <a:r>
              <a:rPr dirty="0"/>
              <a:t> </a:t>
            </a:r>
            <a:r>
              <a:rPr dirty="0" err="1"/>
              <a:t>completa</a:t>
            </a:r>
            <a:r>
              <a:rPr dirty="0"/>
              <a:t> </a:t>
            </a:r>
            <a:r>
              <a:rPr dirty="0" err="1"/>
              <a:t>considera</a:t>
            </a:r>
            <a:r>
              <a:rPr dirty="0"/>
              <a:t> </a:t>
            </a:r>
            <a:r>
              <a:rPr dirty="0" err="1"/>
              <a:t>esas</a:t>
            </a:r>
            <a:r>
              <a:rPr dirty="0"/>
              <a:t> </a:t>
            </a:r>
            <a:r>
              <a:rPr dirty="0" err="1"/>
              <a:t>perspectivas</a:t>
            </a:r>
            <a:r>
              <a:rPr dirty="0"/>
              <a:t> y </a:t>
            </a:r>
            <a:r>
              <a:rPr dirty="0" err="1"/>
              <a:t>hace</a:t>
            </a:r>
            <a:r>
              <a:rPr dirty="0"/>
              <a:t> </a:t>
            </a:r>
            <a:r>
              <a:rPr dirty="0" err="1"/>
              <a:t>explicitos</a:t>
            </a:r>
            <a:r>
              <a:rPr dirty="0"/>
              <a:t> los </a:t>
            </a:r>
            <a:r>
              <a:rPr dirty="0" err="1"/>
              <a:t>conflictos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lugar</a:t>
            </a:r>
            <a:r>
              <a:rPr dirty="0"/>
              <a:t> de </a:t>
            </a:r>
            <a:r>
              <a:rPr dirty="0" err="1"/>
              <a:t>ocultarlos</a:t>
            </a:r>
            <a:r>
              <a:rPr dirty="0"/>
              <a:t> bajo una </a:t>
            </a:r>
            <a:r>
              <a:rPr dirty="0" err="1"/>
              <a:t>solucion</a:t>
            </a:r>
            <a:r>
              <a:rPr dirty="0"/>
              <a:t> </a:t>
            </a:r>
            <a:r>
              <a:rPr dirty="0" err="1"/>
              <a:t>tecnica</a:t>
            </a:r>
            <a:r>
              <a:rPr dirty="0"/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26679" y="1234440"/>
            <a:ext cx="3931920" cy="5257800"/>
          </a:xfrm>
          <a:prstGeom prst="roundRect">
            <a:avLst/>
          </a:prstGeom>
          <a:solidFill>
            <a:srgbClr val="EEF4FA"/>
          </a:solidFill>
          <a:ln>
            <a:solidFill>
              <a:srgbClr val="AEC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01000" y="1508760"/>
            <a:ext cx="3383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03361"/>
                </a:solidFill>
              </a:defRPr>
            </a:pPr>
            <a:r>
              <a:t>Relacion directa con el concepto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01000" y="2057400"/>
            <a:ext cx="1828800" cy="621792"/>
          </a:xfrm>
          <a:prstGeom prst="roundRect">
            <a:avLst/>
          </a:prstGeom>
          <a:solidFill>
            <a:srgbClr val="FFEBBE"/>
          </a:solidFill>
          <a:ln>
            <a:solidFill>
              <a:srgbClr val="677C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100" b="1">
                <a:solidFill>
                  <a:srgbClr val="1E2A37"/>
                </a:solidFill>
              </a:defRPr>
            </a:pPr>
            <a:r>
              <a:t>NEGOCIO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55480" y="3063240"/>
            <a:ext cx="1828800" cy="621792"/>
          </a:xfrm>
          <a:prstGeom prst="roundRect">
            <a:avLst/>
          </a:prstGeom>
          <a:solidFill>
            <a:srgbClr val="CFE2F3"/>
          </a:solidFill>
          <a:ln>
            <a:solidFill>
              <a:srgbClr val="677C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100" b="1">
                <a:solidFill>
                  <a:srgbClr val="1E2A37"/>
                </a:solidFill>
              </a:defRPr>
            </a:pPr>
            <a:r>
              <a:t>DECISION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01000" y="4160520"/>
            <a:ext cx="1828800" cy="621792"/>
          </a:xfrm>
          <a:prstGeom prst="roundRect">
            <a:avLst/>
          </a:prstGeom>
          <a:solidFill>
            <a:srgbClr val="DAF2E1"/>
          </a:solidFill>
          <a:ln>
            <a:solidFill>
              <a:srgbClr val="677C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100" b="1">
                <a:solidFill>
                  <a:srgbClr val="1E2A37"/>
                </a:solidFill>
              </a:defRPr>
            </a:pPr>
            <a:r>
              <a:t>OPERACION + SEGURIDAD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0" y="5074920"/>
            <a:ext cx="3372492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D343C"/>
                </a:solidFill>
              </a:defRPr>
            </a:pPr>
            <a:r>
              <a:rPr dirty="0"/>
              <a:t>La reunion </a:t>
            </a:r>
            <a:r>
              <a:rPr dirty="0" err="1"/>
              <a:t>representa</a:t>
            </a:r>
            <a:r>
              <a:rPr dirty="0"/>
              <a:t> a los stakeholders: </a:t>
            </a:r>
            <a:r>
              <a:rPr dirty="0" err="1"/>
              <a:t>negocio</a:t>
            </a:r>
            <a:r>
              <a:rPr dirty="0"/>
              <a:t>, </a:t>
            </a:r>
            <a:r>
              <a:rPr dirty="0" err="1"/>
              <a:t>operaciones</a:t>
            </a:r>
            <a:r>
              <a:rPr dirty="0"/>
              <a:t>, </a:t>
            </a:r>
            <a:r>
              <a:rPr dirty="0" err="1"/>
              <a:t>seguridad</a:t>
            </a:r>
            <a:r>
              <a:rPr dirty="0"/>
              <a:t> y </a:t>
            </a:r>
            <a:r>
              <a:rPr dirty="0" err="1"/>
              <a:t>desarrollo</a:t>
            </a:r>
            <a:r>
              <a:rPr dirty="0"/>
              <a:t> </a:t>
            </a:r>
            <a:r>
              <a:rPr dirty="0" err="1"/>
              <a:t>deben</a:t>
            </a:r>
            <a:r>
              <a:rPr dirty="0"/>
              <a:t> </a:t>
            </a:r>
            <a:r>
              <a:rPr dirty="0" err="1"/>
              <a:t>construir</a:t>
            </a:r>
            <a:r>
              <a:rPr dirty="0"/>
              <a:t> </a:t>
            </a:r>
            <a:r>
              <a:rPr dirty="0" err="1"/>
              <a:t>criterios</a:t>
            </a:r>
            <a:r>
              <a:rPr dirty="0"/>
              <a:t> </a:t>
            </a:r>
            <a:r>
              <a:rPr dirty="0" err="1"/>
              <a:t>compartidos</a:t>
            </a:r>
            <a:r>
              <a:rPr dirty="0"/>
              <a:t> para </a:t>
            </a:r>
            <a:r>
              <a:rPr dirty="0" err="1"/>
              <a:t>decidir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033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Comunicar la arquitectura evita perder el razonamiento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34440"/>
            <a:ext cx="6903720" cy="5257800"/>
          </a:xfrm>
          <a:prstGeom prst="roundRect">
            <a:avLst/>
          </a:prstGeom>
          <a:solidFill>
            <a:srgbClr val="FFFFFF"/>
          </a:solidFill>
          <a:ln>
            <a:solidFill>
              <a:srgbClr val="C3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554480"/>
            <a:ext cx="6309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103361"/>
                </a:solidFill>
              </a:defRPr>
            </a:pPr>
            <a:r>
              <a:t>Comunicar la arquitectura evita perder el razonamiento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240280"/>
            <a:ext cx="6191339" cy="2185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262C34"/>
                </a:solidFill>
              </a:defRPr>
            </a:pPr>
            <a:r>
              <a:rPr dirty="0"/>
              <a:t>Una </a:t>
            </a:r>
            <a:r>
              <a:rPr dirty="0" err="1"/>
              <a:t>arquitectura</a:t>
            </a:r>
            <a:r>
              <a:rPr dirty="0"/>
              <a:t> que solo </a:t>
            </a:r>
            <a:r>
              <a:rPr dirty="0" err="1"/>
              <a:t>vive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la </a:t>
            </a:r>
            <a:r>
              <a:rPr dirty="0" err="1"/>
              <a:t>memoria</a:t>
            </a:r>
            <a:r>
              <a:rPr dirty="0"/>
              <a:t> de una persona se </a:t>
            </a:r>
            <a:r>
              <a:rPr dirty="0" err="1"/>
              <a:t>vuelve</a:t>
            </a:r>
            <a:r>
              <a:rPr dirty="0"/>
              <a:t> </a:t>
            </a:r>
            <a:r>
              <a:rPr dirty="0" err="1"/>
              <a:t>dificil</a:t>
            </a:r>
            <a:r>
              <a:rPr dirty="0"/>
              <a:t> de </a:t>
            </a:r>
            <a:r>
              <a:rPr dirty="0" err="1"/>
              <a:t>mantener</a:t>
            </a:r>
            <a:r>
              <a:rPr dirty="0"/>
              <a:t>. </a:t>
            </a:r>
            <a:r>
              <a:rPr dirty="0" err="1"/>
              <a:t>Cuando</a:t>
            </a:r>
            <a:r>
              <a:rPr dirty="0"/>
              <a:t> </a:t>
            </a:r>
            <a:r>
              <a:rPr dirty="0" err="1"/>
              <a:t>esa</a:t>
            </a:r>
            <a:r>
              <a:rPr dirty="0"/>
              <a:t> persona cambia de </a:t>
            </a:r>
            <a:r>
              <a:rPr dirty="0" err="1"/>
              <a:t>equipo</a:t>
            </a:r>
            <a:r>
              <a:rPr dirty="0"/>
              <a:t>, las </a:t>
            </a:r>
            <a:r>
              <a:rPr dirty="0" err="1"/>
              <a:t>decisiones</a:t>
            </a:r>
            <a:r>
              <a:rPr dirty="0"/>
              <a:t> </a:t>
            </a:r>
            <a:r>
              <a:rPr dirty="0" err="1"/>
              <a:t>pierden</a:t>
            </a:r>
            <a:r>
              <a:rPr dirty="0"/>
              <a:t> </a:t>
            </a:r>
            <a:r>
              <a:rPr dirty="0" err="1"/>
              <a:t>contexto</a:t>
            </a:r>
            <a:r>
              <a:rPr dirty="0"/>
              <a:t> y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sistema</a:t>
            </a:r>
            <a:r>
              <a:rPr dirty="0"/>
              <a:t> </a:t>
            </a:r>
            <a:r>
              <a:rPr dirty="0" err="1"/>
              <a:t>comienza</a:t>
            </a:r>
            <a:r>
              <a:rPr dirty="0"/>
              <a:t> a </a:t>
            </a:r>
            <a:r>
              <a:rPr dirty="0" err="1"/>
              <a:t>evolucionar</a:t>
            </a:r>
            <a:r>
              <a:rPr dirty="0"/>
              <a:t> por </a:t>
            </a:r>
            <a:r>
              <a:rPr dirty="0" err="1"/>
              <a:t>costumbre</a:t>
            </a:r>
            <a:r>
              <a:rPr dirty="0"/>
              <a:t> o </a:t>
            </a:r>
            <a:r>
              <a:rPr dirty="0" err="1"/>
              <a:t>improvisacion</a:t>
            </a:r>
            <a:r>
              <a:rPr dirty="0"/>
              <a:t>.</a:t>
            </a:r>
            <a:br>
              <a:rPr dirty="0"/>
            </a:br>
            <a:br>
              <a:rPr dirty="0"/>
            </a:br>
            <a:r>
              <a:rPr dirty="0" err="1"/>
              <a:t>Documentar</a:t>
            </a:r>
            <a:r>
              <a:rPr dirty="0"/>
              <a:t> </a:t>
            </a:r>
            <a:r>
              <a:rPr dirty="0" err="1"/>
              <a:t>arquitectura</a:t>
            </a:r>
            <a:r>
              <a:rPr dirty="0"/>
              <a:t> </a:t>
            </a:r>
            <a:r>
              <a:rPr dirty="0" err="1"/>
              <a:t>significa</a:t>
            </a:r>
            <a:r>
              <a:rPr dirty="0"/>
              <a:t> </a:t>
            </a:r>
            <a:r>
              <a:rPr dirty="0" err="1"/>
              <a:t>conservar</a:t>
            </a:r>
            <a:r>
              <a:rPr dirty="0"/>
              <a:t>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razonamiento</a:t>
            </a:r>
            <a:r>
              <a:rPr dirty="0"/>
              <a:t>: que </a:t>
            </a:r>
            <a:r>
              <a:rPr dirty="0" err="1"/>
              <a:t>problema</a:t>
            </a:r>
            <a:r>
              <a:rPr dirty="0"/>
              <a:t> </a:t>
            </a:r>
            <a:r>
              <a:rPr dirty="0" err="1"/>
              <a:t>existia</a:t>
            </a:r>
            <a:r>
              <a:rPr dirty="0"/>
              <a:t>, que </a:t>
            </a:r>
            <a:r>
              <a:rPr dirty="0" err="1"/>
              <a:t>alternativas</a:t>
            </a:r>
            <a:r>
              <a:rPr dirty="0"/>
              <a:t> se </a:t>
            </a:r>
            <a:r>
              <a:rPr dirty="0" err="1"/>
              <a:t>evaluaron</a:t>
            </a:r>
            <a:r>
              <a:rPr dirty="0"/>
              <a:t>, que se </a:t>
            </a:r>
            <a:r>
              <a:rPr dirty="0" err="1"/>
              <a:t>eligio</a:t>
            </a:r>
            <a:r>
              <a:rPr dirty="0"/>
              <a:t> y que </a:t>
            </a:r>
            <a:r>
              <a:rPr dirty="0" err="1"/>
              <a:t>riesgos</a:t>
            </a:r>
            <a:r>
              <a:rPr dirty="0"/>
              <a:t> </a:t>
            </a:r>
            <a:r>
              <a:rPr dirty="0" err="1"/>
              <a:t>quedaron</a:t>
            </a:r>
            <a:r>
              <a:rPr dirty="0"/>
              <a:t> </a:t>
            </a:r>
            <a:r>
              <a:rPr dirty="0" err="1"/>
              <a:t>abiertos</a:t>
            </a:r>
            <a:r>
              <a:rPr dirty="0"/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26679" y="1234440"/>
            <a:ext cx="3931920" cy="5257800"/>
          </a:xfrm>
          <a:prstGeom prst="roundRect">
            <a:avLst/>
          </a:prstGeom>
          <a:solidFill>
            <a:srgbClr val="EEF4FA"/>
          </a:solidFill>
          <a:ln>
            <a:solidFill>
              <a:srgbClr val="AEC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01000" y="1508760"/>
            <a:ext cx="3383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03361"/>
                </a:solidFill>
              </a:defRPr>
            </a:pPr>
            <a:r>
              <a:t>Relacion directa con el concepto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01000" y="2057400"/>
            <a:ext cx="1828800" cy="621792"/>
          </a:xfrm>
          <a:prstGeom prst="roundRect">
            <a:avLst/>
          </a:prstGeom>
          <a:solidFill>
            <a:srgbClr val="FFEBBE"/>
          </a:solidFill>
          <a:ln>
            <a:solidFill>
              <a:srgbClr val="677C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100" b="1">
                <a:solidFill>
                  <a:srgbClr val="1E2A37"/>
                </a:solidFill>
              </a:defRPr>
            </a:pPr>
            <a:r>
              <a:t>NEGOCIO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55480" y="3063240"/>
            <a:ext cx="1828800" cy="621792"/>
          </a:xfrm>
          <a:prstGeom prst="roundRect">
            <a:avLst/>
          </a:prstGeom>
          <a:solidFill>
            <a:srgbClr val="CFE2F3"/>
          </a:solidFill>
          <a:ln>
            <a:solidFill>
              <a:srgbClr val="677C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100" b="1">
                <a:solidFill>
                  <a:srgbClr val="1E2A37"/>
                </a:solidFill>
              </a:defRPr>
            </a:pPr>
            <a:r>
              <a:t>DECISION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01000" y="4160520"/>
            <a:ext cx="1828800" cy="621792"/>
          </a:xfrm>
          <a:prstGeom prst="roundRect">
            <a:avLst/>
          </a:prstGeom>
          <a:solidFill>
            <a:srgbClr val="DAF2E1"/>
          </a:solidFill>
          <a:ln>
            <a:solidFill>
              <a:srgbClr val="677C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100" b="1">
                <a:solidFill>
                  <a:srgbClr val="1E2A37"/>
                </a:solidFill>
              </a:defRPr>
            </a:pPr>
            <a:r>
              <a:t>OPERACION + SEGURIDAD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0" y="5074920"/>
            <a:ext cx="338328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D343C"/>
                </a:solidFill>
              </a:defRPr>
            </a:pPr>
            <a:r>
              <a:rPr dirty="0"/>
              <a:t>La </a:t>
            </a:r>
            <a:r>
              <a:rPr dirty="0" err="1"/>
              <a:t>documentacion</a:t>
            </a:r>
            <a:r>
              <a:rPr dirty="0"/>
              <a:t> </a:t>
            </a:r>
            <a:r>
              <a:rPr dirty="0" err="1"/>
              <a:t>representa</a:t>
            </a:r>
            <a:r>
              <a:rPr dirty="0"/>
              <a:t> la </a:t>
            </a:r>
            <a:r>
              <a:rPr dirty="0" err="1"/>
              <a:t>memoria</a:t>
            </a:r>
            <a:r>
              <a:rPr dirty="0"/>
              <a:t> de las </a:t>
            </a:r>
            <a:r>
              <a:rPr dirty="0" err="1"/>
              <a:t>decisiones</a:t>
            </a:r>
            <a:r>
              <a:rPr dirty="0"/>
              <a:t>; sin </a:t>
            </a:r>
            <a:r>
              <a:rPr dirty="0" err="1"/>
              <a:t>ella</a:t>
            </a:r>
            <a:r>
              <a:rPr dirty="0"/>
              <a:t>,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equipo</a:t>
            </a:r>
            <a:r>
              <a:rPr dirty="0"/>
              <a:t> </a:t>
            </a:r>
            <a:r>
              <a:rPr dirty="0" err="1"/>
              <a:t>pierde</a:t>
            </a:r>
            <a:r>
              <a:rPr dirty="0"/>
              <a:t>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razonamiento</a:t>
            </a:r>
            <a:r>
              <a:rPr dirty="0"/>
              <a:t> </a:t>
            </a:r>
            <a:r>
              <a:rPr dirty="0" err="1"/>
              <a:t>cuando</a:t>
            </a:r>
            <a:r>
              <a:rPr dirty="0"/>
              <a:t>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sistema</a:t>
            </a:r>
            <a:r>
              <a:rPr dirty="0"/>
              <a:t> </a:t>
            </a:r>
            <a:r>
              <a:rPr dirty="0" err="1"/>
              <a:t>evoluciona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033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ARCHITECTURE.md como punto de entrada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34440"/>
            <a:ext cx="6903720" cy="5257800"/>
          </a:xfrm>
          <a:prstGeom prst="roundRect">
            <a:avLst/>
          </a:prstGeom>
          <a:solidFill>
            <a:srgbClr val="FFFFFF"/>
          </a:solidFill>
          <a:ln>
            <a:solidFill>
              <a:srgbClr val="C3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554480"/>
            <a:ext cx="6309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103361"/>
                </a:solidFill>
              </a:defRPr>
            </a:pPr>
            <a:r>
              <a:t>ARCHITECTURE.md como punto de entrada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240280"/>
            <a:ext cx="6309360" cy="2185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262C34"/>
                </a:solidFill>
              </a:defRPr>
            </a:pPr>
            <a:r>
              <a:rPr dirty="0"/>
              <a:t>Una </a:t>
            </a:r>
            <a:r>
              <a:rPr dirty="0" err="1"/>
              <a:t>practica</a:t>
            </a:r>
            <a:r>
              <a:rPr dirty="0"/>
              <a:t> </a:t>
            </a:r>
            <a:r>
              <a:rPr dirty="0" err="1"/>
              <a:t>sencilla</a:t>
            </a:r>
            <a:r>
              <a:rPr dirty="0"/>
              <a:t> es </a:t>
            </a:r>
            <a:r>
              <a:rPr dirty="0" err="1"/>
              <a:t>crear</a:t>
            </a:r>
            <a:r>
              <a:rPr dirty="0"/>
              <a:t> un </a:t>
            </a:r>
            <a:r>
              <a:rPr dirty="0" err="1"/>
              <a:t>archivo</a:t>
            </a:r>
            <a:r>
              <a:rPr dirty="0"/>
              <a:t> ARCHITECTURE.md </a:t>
            </a:r>
            <a:r>
              <a:rPr dirty="0" err="1"/>
              <a:t>en</a:t>
            </a:r>
            <a:r>
              <a:rPr dirty="0"/>
              <a:t> la </a:t>
            </a:r>
            <a:r>
              <a:rPr dirty="0" err="1"/>
              <a:t>raiz</a:t>
            </a:r>
            <a:r>
              <a:rPr dirty="0"/>
              <a:t> del </a:t>
            </a:r>
            <a:r>
              <a:rPr dirty="0" err="1"/>
              <a:t>repositorio</a:t>
            </a:r>
            <a:r>
              <a:rPr dirty="0"/>
              <a:t>. No debe ser una </a:t>
            </a:r>
            <a:r>
              <a:rPr dirty="0" err="1"/>
              <a:t>enciclopedia</a:t>
            </a:r>
            <a:r>
              <a:rPr dirty="0"/>
              <a:t> </a:t>
            </a:r>
            <a:r>
              <a:rPr dirty="0" err="1"/>
              <a:t>ni</a:t>
            </a:r>
            <a:r>
              <a:rPr dirty="0"/>
              <a:t> </a:t>
            </a:r>
            <a:r>
              <a:rPr dirty="0" err="1"/>
              <a:t>repetir</a:t>
            </a:r>
            <a:r>
              <a:rPr dirty="0"/>
              <a:t> </a:t>
            </a:r>
            <a:r>
              <a:rPr dirty="0" err="1"/>
              <a:t>cada</a:t>
            </a:r>
            <a:r>
              <a:rPr dirty="0"/>
              <a:t> </a:t>
            </a:r>
            <a:r>
              <a:rPr dirty="0" err="1"/>
              <a:t>detalle</a:t>
            </a:r>
            <a:r>
              <a:rPr dirty="0"/>
              <a:t> del </a:t>
            </a:r>
            <a:r>
              <a:rPr dirty="0" err="1"/>
              <a:t>codigo</a:t>
            </a:r>
            <a:r>
              <a:rPr dirty="0"/>
              <a:t>. Debe </a:t>
            </a:r>
            <a:r>
              <a:rPr dirty="0" err="1"/>
              <a:t>permitir</a:t>
            </a:r>
            <a:r>
              <a:rPr dirty="0"/>
              <a:t> que una persona </a:t>
            </a:r>
            <a:r>
              <a:rPr dirty="0" err="1"/>
              <a:t>nueva</a:t>
            </a:r>
            <a:r>
              <a:rPr dirty="0"/>
              <a:t> </a:t>
            </a:r>
            <a:r>
              <a:rPr dirty="0" err="1"/>
              <a:t>entienda</a:t>
            </a:r>
            <a:r>
              <a:rPr dirty="0"/>
              <a:t> </a:t>
            </a:r>
            <a:r>
              <a:rPr dirty="0" err="1"/>
              <a:t>rapidamente</a:t>
            </a:r>
            <a:r>
              <a:rPr dirty="0"/>
              <a:t> </a:t>
            </a:r>
            <a:r>
              <a:rPr dirty="0" err="1"/>
              <a:t>como</a:t>
            </a:r>
            <a:r>
              <a:rPr dirty="0"/>
              <a:t> </a:t>
            </a:r>
            <a:r>
              <a:rPr dirty="0" err="1"/>
              <a:t>esta</a:t>
            </a:r>
            <a:r>
              <a:rPr dirty="0"/>
              <a:t> </a:t>
            </a:r>
            <a:r>
              <a:rPr dirty="0" err="1"/>
              <a:t>organizado</a:t>
            </a:r>
            <a:r>
              <a:rPr dirty="0"/>
              <a:t>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sistema</a:t>
            </a:r>
            <a:r>
              <a:rPr dirty="0"/>
              <a:t>.</a:t>
            </a:r>
            <a:br>
              <a:rPr dirty="0"/>
            </a:br>
            <a:br>
              <a:rPr dirty="0"/>
            </a:br>
            <a:r>
              <a:rPr dirty="0"/>
              <a:t>El </a:t>
            </a:r>
            <a:r>
              <a:rPr dirty="0" err="1"/>
              <a:t>documento</a:t>
            </a:r>
            <a:r>
              <a:rPr dirty="0"/>
              <a:t> </a:t>
            </a:r>
            <a:r>
              <a:rPr dirty="0" err="1"/>
              <a:t>funciona</a:t>
            </a:r>
            <a:r>
              <a:rPr dirty="0"/>
              <a:t> </a:t>
            </a:r>
            <a:r>
              <a:rPr dirty="0" err="1"/>
              <a:t>como</a:t>
            </a:r>
            <a:r>
              <a:rPr dirty="0"/>
              <a:t> una </a:t>
            </a:r>
            <a:r>
              <a:rPr dirty="0" err="1"/>
              <a:t>puerta</a:t>
            </a:r>
            <a:r>
              <a:rPr dirty="0"/>
              <a:t> de entrada para </a:t>
            </a:r>
            <a:r>
              <a:rPr dirty="0" err="1"/>
              <a:t>explorar</a:t>
            </a:r>
            <a:r>
              <a:rPr dirty="0"/>
              <a:t>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repositorio</a:t>
            </a:r>
            <a:r>
              <a:rPr dirty="0"/>
              <a:t> y </a:t>
            </a:r>
            <a:r>
              <a:rPr dirty="0" err="1"/>
              <a:t>como</a:t>
            </a:r>
            <a:r>
              <a:rPr dirty="0"/>
              <a:t> </a:t>
            </a:r>
            <a:r>
              <a:rPr dirty="0" err="1"/>
              <a:t>memoria</a:t>
            </a:r>
            <a:r>
              <a:rPr dirty="0"/>
              <a:t> </a:t>
            </a:r>
            <a:r>
              <a:rPr dirty="0" err="1"/>
              <a:t>compartida</a:t>
            </a:r>
            <a:r>
              <a:rPr dirty="0"/>
              <a:t> de las </a:t>
            </a:r>
            <a:r>
              <a:rPr dirty="0" err="1"/>
              <a:t>decisiones</a:t>
            </a:r>
            <a:r>
              <a:rPr dirty="0"/>
              <a:t> </a:t>
            </a:r>
            <a:r>
              <a:rPr dirty="0" err="1"/>
              <a:t>importantes</a:t>
            </a:r>
            <a:r>
              <a:rPr dirty="0"/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26679" y="1234440"/>
            <a:ext cx="3931920" cy="5257800"/>
          </a:xfrm>
          <a:prstGeom prst="roundRect">
            <a:avLst/>
          </a:prstGeom>
          <a:solidFill>
            <a:srgbClr val="EEF4FA"/>
          </a:solidFill>
          <a:ln>
            <a:solidFill>
              <a:srgbClr val="AEC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01000" y="1508760"/>
            <a:ext cx="3383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03361"/>
                </a:solidFill>
              </a:defRPr>
            </a:pPr>
            <a:r>
              <a:t>Relacion directa con el concepto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2440" y="2057400"/>
            <a:ext cx="1828800" cy="621792"/>
          </a:xfrm>
          <a:prstGeom prst="roundRect">
            <a:avLst/>
          </a:prstGeom>
          <a:solidFill>
            <a:srgbClr val="CFE2F3"/>
          </a:solidFill>
          <a:ln>
            <a:solidFill>
              <a:srgbClr val="677C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100" b="1">
                <a:solidFill>
                  <a:srgbClr val="1E2A37"/>
                </a:solidFill>
              </a:defRPr>
            </a:pPr>
            <a:r>
              <a:t>REPOSITORIO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3063240"/>
            <a:ext cx="1828800" cy="621792"/>
          </a:xfrm>
          <a:prstGeom prst="roundRect">
            <a:avLst/>
          </a:prstGeom>
          <a:solidFill>
            <a:srgbClr val="DAF2E1"/>
          </a:solidFill>
          <a:ln>
            <a:solidFill>
              <a:srgbClr val="677C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100" b="1">
                <a:solidFill>
                  <a:srgbClr val="1E2A37"/>
                </a:solidFill>
              </a:defRPr>
            </a:pPr>
            <a:r>
              <a:t>ARCHITECTURE.md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4069080"/>
            <a:ext cx="1828800" cy="621792"/>
          </a:xfrm>
          <a:prstGeom prst="roundRect">
            <a:avLst/>
          </a:prstGeom>
          <a:solidFill>
            <a:srgbClr val="EBEBEB"/>
          </a:solidFill>
          <a:ln>
            <a:solidFill>
              <a:srgbClr val="677C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100" b="1">
                <a:solidFill>
                  <a:srgbClr val="1E2A37"/>
                </a:solidFill>
              </a:defRPr>
            </a:pPr>
            <a:r>
              <a:t>CODIGO + DECISIONES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0" y="5074920"/>
            <a:ext cx="338328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D343C"/>
                </a:solidFill>
              </a:defRPr>
            </a:pPr>
            <a:r>
              <a:rPr dirty="0"/>
              <a:t>El </a:t>
            </a:r>
            <a:r>
              <a:rPr dirty="0" err="1"/>
              <a:t>repositorio</a:t>
            </a:r>
            <a:r>
              <a:rPr dirty="0"/>
              <a:t> </a:t>
            </a:r>
            <a:r>
              <a:rPr dirty="0" err="1"/>
              <a:t>representa</a:t>
            </a:r>
            <a:r>
              <a:rPr dirty="0"/>
              <a:t>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lugar</a:t>
            </a:r>
            <a:r>
              <a:rPr dirty="0"/>
              <a:t> </a:t>
            </a:r>
            <a:r>
              <a:rPr dirty="0" err="1"/>
              <a:t>donde</a:t>
            </a:r>
            <a:r>
              <a:rPr dirty="0"/>
              <a:t> ARCHITECTURE.md debe </a:t>
            </a:r>
            <a:r>
              <a:rPr dirty="0" err="1"/>
              <a:t>vivir</a:t>
            </a:r>
            <a:r>
              <a:rPr dirty="0"/>
              <a:t> junto al </a:t>
            </a:r>
            <a:r>
              <a:rPr dirty="0" err="1"/>
              <a:t>codigo</a:t>
            </a:r>
            <a:r>
              <a:rPr dirty="0"/>
              <a:t> para que la </a:t>
            </a:r>
            <a:r>
              <a:rPr dirty="0" err="1"/>
              <a:t>estructura</a:t>
            </a:r>
            <a:r>
              <a:rPr dirty="0"/>
              <a:t> del </a:t>
            </a:r>
            <a:r>
              <a:rPr dirty="0" err="1"/>
              <a:t>sistema</a:t>
            </a:r>
            <a:r>
              <a:rPr dirty="0"/>
              <a:t> sea </a:t>
            </a:r>
            <a:r>
              <a:rPr dirty="0" err="1"/>
              <a:t>facil</a:t>
            </a:r>
            <a:r>
              <a:rPr dirty="0"/>
              <a:t> de </a:t>
            </a:r>
            <a:r>
              <a:rPr dirty="0" err="1"/>
              <a:t>consultar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033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Que debe contener ARCHITECTURE.md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34440"/>
            <a:ext cx="6903720" cy="5257800"/>
          </a:xfrm>
          <a:prstGeom prst="roundRect">
            <a:avLst/>
          </a:prstGeom>
          <a:solidFill>
            <a:srgbClr val="FFFFFF"/>
          </a:solidFill>
          <a:ln>
            <a:solidFill>
              <a:srgbClr val="C3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554480"/>
            <a:ext cx="6309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103361"/>
                </a:solidFill>
              </a:defRPr>
            </a:pPr>
            <a:r>
              <a:t>Que debe contener ARCHITECTURE.md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240280"/>
            <a:ext cx="6201971" cy="2446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262C34"/>
                </a:solidFill>
              </a:defRPr>
            </a:pPr>
            <a:r>
              <a:rPr dirty="0"/>
              <a:t>El </a:t>
            </a:r>
            <a:r>
              <a:rPr dirty="0" err="1"/>
              <a:t>documento</a:t>
            </a:r>
            <a:r>
              <a:rPr dirty="0"/>
              <a:t> debe </a:t>
            </a:r>
            <a:r>
              <a:rPr dirty="0" err="1"/>
              <a:t>comenzar</a:t>
            </a:r>
            <a:r>
              <a:rPr dirty="0"/>
              <a:t> </a:t>
            </a:r>
            <a:r>
              <a:rPr dirty="0" err="1"/>
              <a:t>explicando</a:t>
            </a:r>
            <a:r>
              <a:rPr dirty="0"/>
              <a:t>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proposito</a:t>
            </a:r>
            <a:r>
              <a:rPr dirty="0"/>
              <a:t> general del </a:t>
            </a:r>
            <a:r>
              <a:rPr dirty="0" err="1"/>
              <a:t>sistema</a:t>
            </a:r>
            <a:r>
              <a:rPr dirty="0"/>
              <a:t> y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problema</a:t>
            </a:r>
            <a:r>
              <a:rPr dirty="0"/>
              <a:t> que </a:t>
            </a:r>
            <a:r>
              <a:rPr dirty="0" err="1"/>
              <a:t>resuelve</a:t>
            </a:r>
            <a:r>
              <a:rPr dirty="0"/>
              <a:t>. </a:t>
            </a:r>
            <a:r>
              <a:rPr dirty="0" err="1"/>
              <a:t>Luego</a:t>
            </a:r>
            <a:r>
              <a:rPr dirty="0"/>
              <a:t> debe </a:t>
            </a:r>
            <a:r>
              <a:rPr dirty="0" err="1"/>
              <a:t>presentar</a:t>
            </a:r>
            <a:r>
              <a:rPr dirty="0"/>
              <a:t> un </a:t>
            </a:r>
            <a:r>
              <a:rPr dirty="0" err="1"/>
              <a:t>mapa</a:t>
            </a:r>
            <a:r>
              <a:rPr dirty="0"/>
              <a:t> breve de </a:t>
            </a:r>
            <a:r>
              <a:rPr dirty="0" err="1"/>
              <a:t>modulos</a:t>
            </a:r>
            <a:r>
              <a:rPr dirty="0"/>
              <a:t>, </a:t>
            </a:r>
            <a:r>
              <a:rPr dirty="0" err="1"/>
              <a:t>responsabilidades</a:t>
            </a:r>
            <a:r>
              <a:rPr dirty="0"/>
              <a:t> </a:t>
            </a:r>
            <a:r>
              <a:rPr dirty="0" err="1"/>
              <a:t>principales</a:t>
            </a:r>
            <a:r>
              <a:rPr dirty="0"/>
              <a:t> y </a:t>
            </a:r>
            <a:r>
              <a:rPr dirty="0" err="1"/>
              <a:t>relaciones</a:t>
            </a:r>
            <a:r>
              <a:rPr dirty="0"/>
              <a:t> </a:t>
            </a:r>
            <a:r>
              <a:rPr dirty="0" err="1"/>
              <a:t>relevantes</a:t>
            </a:r>
            <a:r>
              <a:rPr dirty="0"/>
              <a:t>.</a:t>
            </a:r>
            <a:br>
              <a:rPr dirty="0"/>
            </a:br>
            <a:br>
              <a:rPr dirty="0"/>
            </a:br>
            <a:r>
              <a:rPr dirty="0"/>
              <a:t>Tambien debe registrar </a:t>
            </a:r>
            <a:r>
              <a:rPr dirty="0" err="1"/>
              <a:t>conceptos</a:t>
            </a:r>
            <a:r>
              <a:rPr dirty="0"/>
              <a:t> clave, </a:t>
            </a:r>
            <a:r>
              <a:rPr dirty="0" err="1"/>
              <a:t>restricciones</a:t>
            </a:r>
            <a:r>
              <a:rPr dirty="0"/>
              <a:t> </a:t>
            </a:r>
            <a:r>
              <a:rPr dirty="0" err="1"/>
              <a:t>conocidas</a:t>
            </a:r>
            <a:r>
              <a:rPr dirty="0"/>
              <a:t>, </a:t>
            </a:r>
            <a:r>
              <a:rPr dirty="0" err="1"/>
              <a:t>dependencias</a:t>
            </a:r>
            <a:r>
              <a:rPr dirty="0"/>
              <a:t> </a:t>
            </a:r>
            <a:r>
              <a:rPr dirty="0" err="1"/>
              <a:t>externas</a:t>
            </a:r>
            <a:r>
              <a:rPr dirty="0"/>
              <a:t> y </a:t>
            </a:r>
            <a:r>
              <a:rPr dirty="0" err="1"/>
              <a:t>riesgos</a:t>
            </a:r>
            <a:r>
              <a:rPr dirty="0"/>
              <a:t> que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equipo</a:t>
            </a:r>
            <a:r>
              <a:rPr dirty="0"/>
              <a:t> </a:t>
            </a:r>
            <a:r>
              <a:rPr dirty="0" err="1"/>
              <a:t>todavia</a:t>
            </a:r>
            <a:r>
              <a:rPr dirty="0"/>
              <a:t> debe </a:t>
            </a:r>
            <a:r>
              <a:rPr dirty="0" err="1"/>
              <a:t>vigilar</a:t>
            </a:r>
            <a:r>
              <a:rPr dirty="0"/>
              <a:t>. El </a:t>
            </a:r>
            <a:r>
              <a:rPr dirty="0" err="1"/>
              <a:t>objetivo</a:t>
            </a:r>
            <a:r>
              <a:rPr dirty="0"/>
              <a:t> es </a:t>
            </a:r>
            <a:r>
              <a:rPr dirty="0" err="1"/>
              <a:t>orientar</a:t>
            </a:r>
            <a:r>
              <a:rPr dirty="0"/>
              <a:t>, no </a:t>
            </a:r>
            <a:r>
              <a:rPr dirty="0" err="1"/>
              <a:t>reemplazar</a:t>
            </a:r>
            <a:r>
              <a:rPr dirty="0"/>
              <a:t>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codigo</a:t>
            </a:r>
            <a:r>
              <a:rPr dirty="0"/>
              <a:t> </a:t>
            </a:r>
            <a:r>
              <a:rPr dirty="0" err="1"/>
              <a:t>ni</a:t>
            </a:r>
            <a:r>
              <a:rPr dirty="0"/>
              <a:t> la </a:t>
            </a:r>
            <a:r>
              <a:rPr dirty="0" err="1"/>
              <a:t>documentacion</a:t>
            </a:r>
            <a:r>
              <a:rPr dirty="0"/>
              <a:t> </a:t>
            </a:r>
            <a:r>
              <a:rPr dirty="0" err="1"/>
              <a:t>detallada</a:t>
            </a:r>
            <a:r>
              <a:rPr dirty="0"/>
              <a:t> de </a:t>
            </a:r>
            <a:r>
              <a:rPr dirty="0" err="1"/>
              <a:t>cada</a:t>
            </a:r>
            <a:r>
              <a:rPr dirty="0"/>
              <a:t> </a:t>
            </a:r>
            <a:r>
              <a:rPr dirty="0" err="1"/>
              <a:t>componente</a:t>
            </a:r>
            <a:r>
              <a:rPr dirty="0"/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26679" y="1234440"/>
            <a:ext cx="3931920" cy="5257800"/>
          </a:xfrm>
          <a:prstGeom prst="roundRect">
            <a:avLst/>
          </a:prstGeom>
          <a:solidFill>
            <a:srgbClr val="EEF4FA"/>
          </a:solidFill>
          <a:ln>
            <a:solidFill>
              <a:srgbClr val="AEC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01000" y="1508760"/>
            <a:ext cx="3383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03361"/>
                </a:solidFill>
              </a:defRPr>
            </a:pPr>
            <a:r>
              <a:t>Relacion directa con el concepto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01000" y="2057400"/>
            <a:ext cx="1828800" cy="621792"/>
          </a:xfrm>
          <a:prstGeom prst="roundRect">
            <a:avLst/>
          </a:prstGeom>
          <a:solidFill>
            <a:srgbClr val="CFE2F3"/>
          </a:solidFill>
          <a:ln>
            <a:solidFill>
              <a:srgbClr val="677C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100" b="1">
                <a:solidFill>
                  <a:srgbClr val="1E2A37"/>
                </a:solidFill>
              </a:defRPr>
            </a:pPr>
            <a:r>
              <a:t>PEDIDOS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464040" y="2057400"/>
            <a:ext cx="1828800" cy="621792"/>
          </a:xfrm>
          <a:prstGeom prst="roundRect">
            <a:avLst/>
          </a:prstGeom>
          <a:solidFill>
            <a:srgbClr val="CFE2F3"/>
          </a:solidFill>
          <a:ln>
            <a:solidFill>
              <a:srgbClr val="677C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100" b="1">
                <a:solidFill>
                  <a:srgbClr val="1E2A37"/>
                </a:solidFill>
              </a:defRPr>
            </a:pPr>
            <a:r>
              <a:t>RUTEO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732520" y="3246120"/>
            <a:ext cx="1828800" cy="621792"/>
          </a:xfrm>
          <a:prstGeom prst="roundRect">
            <a:avLst/>
          </a:prstGeom>
          <a:solidFill>
            <a:srgbClr val="DAF2E1"/>
          </a:solidFill>
          <a:ln>
            <a:solidFill>
              <a:srgbClr val="677C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100" b="1">
                <a:solidFill>
                  <a:srgbClr val="1E2A37"/>
                </a:solidFill>
              </a:defRPr>
            </a:pPr>
            <a:r>
              <a:t>INCIDENCIAS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0" y="5074920"/>
            <a:ext cx="338328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D343C"/>
                </a:solidFill>
              </a:defRPr>
            </a:pPr>
            <a:r>
              <a:t>Los bloques representan modulos y responsabilidades; el documento debe mostrar esta estructura sin describir cada detalle de implementacion.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033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Un diagrama sencillo es suficiente cuando responde preguntas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34440"/>
            <a:ext cx="6903720" cy="5257800"/>
          </a:xfrm>
          <a:prstGeom prst="roundRect">
            <a:avLst/>
          </a:prstGeom>
          <a:solidFill>
            <a:srgbClr val="FFFFFF"/>
          </a:solidFill>
          <a:ln>
            <a:solidFill>
              <a:srgbClr val="C3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554480"/>
            <a:ext cx="630936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103361"/>
                </a:solidFill>
              </a:defRPr>
            </a:pPr>
            <a:r>
              <a:rPr dirty="0"/>
              <a:t>Un </a:t>
            </a:r>
            <a:r>
              <a:rPr dirty="0" err="1"/>
              <a:t>diagrama</a:t>
            </a:r>
            <a:r>
              <a:rPr dirty="0"/>
              <a:t> </a:t>
            </a:r>
            <a:r>
              <a:rPr dirty="0" err="1"/>
              <a:t>sencillo</a:t>
            </a:r>
            <a:r>
              <a:rPr dirty="0"/>
              <a:t> es </a:t>
            </a:r>
            <a:r>
              <a:rPr dirty="0" err="1"/>
              <a:t>suficiente</a:t>
            </a:r>
            <a:r>
              <a:rPr dirty="0"/>
              <a:t> </a:t>
            </a:r>
            <a:r>
              <a:rPr dirty="0" err="1"/>
              <a:t>cuando</a:t>
            </a:r>
            <a:r>
              <a:rPr dirty="0"/>
              <a:t> </a:t>
            </a:r>
            <a:r>
              <a:rPr dirty="0" err="1"/>
              <a:t>responde</a:t>
            </a:r>
            <a:r>
              <a:rPr dirty="0"/>
              <a:t> </a:t>
            </a:r>
            <a:r>
              <a:rPr dirty="0" err="1"/>
              <a:t>preguntas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868680" y="2240280"/>
            <a:ext cx="6223236" cy="2185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262C34"/>
                </a:solidFill>
              </a:defRPr>
            </a:pPr>
            <a:r>
              <a:rPr dirty="0"/>
              <a:t>El </a:t>
            </a:r>
            <a:r>
              <a:rPr dirty="0" err="1"/>
              <a:t>diagrama</a:t>
            </a:r>
            <a:r>
              <a:rPr dirty="0"/>
              <a:t> que </a:t>
            </a:r>
            <a:r>
              <a:rPr dirty="0" err="1"/>
              <a:t>acompana</a:t>
            </a:r>
            <a:r>
              <a:rPr dirty="0"/>
              <a:t> ARCHITECTURE.md debe </a:t>
            </a:r>
            <a:r>
              <a:rPr dirty="0" err="1"/>
              <a:t>ayudar</a:t>
            </a:r>
            <a:r>
              <a:rPr dirty="0"/>
              <a:t> a responder </a:t>
            </a:r>
            <a:r>
              <a:rPr dirty="0" err="1"/>
              <a:t>preguntas</a:t>
            </a:r>
            <a:r>
              <a:rPr dirty="0"/>
              <a:t> </a:t>
            </a:r>
            <a:r>
              <a:rPr dirty="0" err="1"/>
              <a:t>concretas</a:t>
            </a:r>
            <a:r>
              <a:rPr dirty="0"/>
              <a:t>: que </a:t>
            </a:r>
            <a:r>
              <a:rPr dirty="0" err="1"/>
              <a:t>partes</a:t>
            </a:r>
            <a:r>
              <a:rPr dirty="0"/>
              <a:t> </a:t>
            </a:r>
            <a:r>
              <a:rPr dirty="0" err="1"/>
              <a:t>existen</a:t>
            </a:r>
            <a:r>
              <a:rPr dirty="0"/>
              <a:t>, </a:t>
            </a:r>
            <a:r>
              <a:rPr dirty="0" err="1"/>
              <a:t>como</a:t>
            </a:r>
            <a:r>
              <a:rPr dirty="0"/>
              <a:t> se </a:t>
            </a:r>
            <a:r>
              <a:rPr dirty="0" err="1"/>
              <a:t>comunican</a:t>
            </a:r>
            <a:r>
              <a:rPr dirty="0"/>
              <a:t> y </a:t>
            </a:r>
            <a:r>
              <a:rPr dirty="0" err="1"/>
              <a:t>donde</a:t>
            </a:r>
            <a:r>
              <a:rPr dirty="0"/>
              <a:t> </a:t>
            </a:r>
            <a:r>
              <a:rPr dirty="0" err="1"/>
              <a:t>estan</a:t>
            </a:r>
            <a:r>
              <a:rPr dirty="0"/>
              <a:t> los </a:t>
            </a:r>
            <a:r>
              <a:rPr dirty="0" err="1"/>
              <a:t>limites</a:t>
            </a:r>
            <a:r>
              <a:rPr dirty="0"/>
              <a:t>.</a:t>
            </a:r>
            <a:br>
              <a:rPr dirty="0"/>
            </a:br>
            <a:br>
              <a:rPr dirty="0"/>
            </a:br>
            <a:r>
              <a:rPr dirty="0"/>
              <a:t>No es </a:t>
            </a:r>
            <a:r>
              <a:rPr dirty="0" err="1"/>
              <a:t>necesario</a:t>
            </a:r>
            <a:r>
              <a:rPr dirty="0"/>
              <a:t> </a:t>
            </a:r>
            <a:r>
              <a:rPr dirty="0" err="1"/>
              <a:t>dibujar</a:t>
            </a:r>
            <a:r>
              <a:rPr dirty="0"/>
              <a:t> </a:t>
            </a:r>
            <a:r>
              <a:rPr dirty="0" err="1"/>
              <a:t>toda</a:t>
            </a:r>
            <a:r>
              <a:rPr dirty="0"/>
              <a:t> la </a:t>
            </a:r>
            <a:r>
              <a:rPr dirty="0" err="1"/>
              <a:t>plataforma</a:t>
            </a:r>
            <a:r>
              <a:rPr dirty="0"/>
              <a:t>. Un </a:t>
            </a:r>
            <a:r>
              <a:rPr dirty="0" err="1"/>
              <a:t>buen</a:t>
            </a:r>
            <a:r>
              <a:rPr dirty="0"/>
              <a:t> </a:t>
            </a:r>
            <a:r>
              <a:rPr dirty="0" err="1"/>
              <a:t>diagrama</a:t>
            </a:r>
            <a:r>
              <a:rPr dirty="0"/>
              <a:t> de </a:t>
            </a:r>
            <a:r>
              <a:rPr dirty="0" err="1"/>
              <a:t>contexto</a:t>
            </a:r>
            <a:r>
              <a:rPr dirty="0"/>
              <a:t> o de </a:t>
            </a:r>
            <a:r>
              <a:rPr dirty="0" err="1"/>
              <a:t>componentes</a:t>
            </a:r>
            <a:r>
              <a:rPr dirty="0"/>
              <a:t> </a:t>
            </a:r>
            <a:r>
              <a:rPr dirty="0" err="1"/>
              <a:t>muestra</a:t>
            </a:r>
            <a:r>
              <a:rPr dirty="0"/>
              <a:t> la </a:t>
            </a:r>
            <a:r>
              <a:rPr dirty="0" err="1"/>
              <a:t>estructura</a:t>
            </a:r>
            <a:r>
              <a:rPr dirty="0"/>
              <a:t> </a:t>
            </a:r>
            <a:r>
              <a:rPr dirty="0" err="1"/>
              <a:t>suficiente</a:t>
            </a:r>
            <a:r>
              <a:rPr dirty="0"/>
              <a:t> para </a:t>
            </a:r>
            <a:r>
              <a:rPr dirty="0" err="1"/>
              <a:t>comprender</a:t>
            </a:r>
            <a:r>
              <a:rPr dirty="0"/>
              <a:t> </a:t>
            </a:r>
            <a:r>
              <a:rPr dirty="0" err="1"/>
              <a:t>decisiones</a:t>
            </a:r>
            <a:r>
              <a:rPr dirty="0"/>
              <a:t> </a:t>
            </a:r>
            <a:r>
              <a:rPr dirty="0" err="1"/>
              <a:t>importantes</a:t>
            </a:r>
            <a:r>
              <a:rPr dirty="0"/>
              <a:t> sin </a:t>
            </a:r>
            <a:r>
              <a:rPr dirty="0" err="1"/>
              <a:t>convertir</a:t>
            </a:r>
            <a:r>
              <a:rPr dirty="0"/>
              <a:t> la </a:t>
            </a:r>
            <a:r>
              <a:rPr dirty="0" err="1"/>
              <a:t>arquitectura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un </a:t>
            </a:r>
            <a:r>
              <a:rPr dirty="0" err="1"/>
              <a:t>plano</a:t>
            </a:r>
            <a:r>
              <a:rPr dirty="0"/>
              <a:t> </a:t>
            </a:r>
            <a:r>
              <a:rPr dirty="0" err="1"/>
              <a:t>imposible</a:t>
            </a:r>
            <a:r>
              <a:rPr dirty="0"/>
              <a:t> de </a:t>
            </a:r>
            <a:r>
              <a:rPr dirty="0" err="1"/>
              <a:t>mantener</a:t>
            </a:r>
            <a:r>
              <a:rPr dirty="0"/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26679" y="1234440"/>
            <a:ext cx="3931920" cy="5257800"/>
          </a:xfrm>
          <a:prstGeom prst="roundRect">
            <a:avLst/>
          </a:prstGeom>
          <a:solidFill>
            <a:srgbClr val="EEF4FA"/>
          </a:solidFill>
          <a:ln>
            <a:solidFill>
              <a:srgbClr val="AEC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01000" y="1508760"/>
            <a:ext cx="3383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03361"/>
                </a:solidFill>
              </a:defRPr>
            </a:pPr>
            <a:r>
              <a:t>Relacion directa con el concepto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01000" y="2057400"/>
            <a:ext cx="1828800" cy="621792"/>
          </a:xfrm>
          <a:prstGeom prst="roundRect">
            <a:avLst/>
          </a:prstGeom>
          <a:solidFill>
            <a:srgbClr val="FFEBBE"/>
          </a:solidFill>
          <a:ln>
            <a:solidFill>
              <a:srgbClr val="677C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100" b="1">
                <a:solidFill>
                  <a:srgbClr val="1E2A37"/>
                </a:solidFill>
              </a:defRPr>
            </a:pPr>
            <a:r>
              <a:t>ACTOR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464040" y="2057400"/>
            <a:ext cx="1828800" cy="621792"/>
          </a:xfrm>
          <a:prstGeom prst="roundRect">
            <a:avLst/>
          </a:prstGeom>
          <a:solidFill>
            <a:srgbClr val="CFE2F3"/>
          </a:solidFill>
          <a:ln>
            <a:solidFill>
              <a:srgbClr val="677C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100" b="1">
                <a:solidFill>
                  <a:srgbClr val="1E2A37"/>
                </a:solidFill>
              </a:defRPr>
            </a:pPr>
            <a:r>
              <a:t>SISTEMA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49640" y="3657600"/>
            <a:ext cx="1828800" cy="621792"/>
          </a:xfrm>
          <a:prstGeom prst="roundRect">
            <a:avLst/>
          </a:prstGeom>
          <a:solidFill>
            <a:srgbClr val="DAF2E1"/>
          </a:solidFill>
          <a:ln>
            <a:solidFill>
              <a:srgbClr val="677C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100" b="1">
                <a:solidFill>
                  <a:srgbClr val="1E2A37"/>
                </a:solidFill>
              </a:defRPr>
            </a:pPr>
            <a:r>
              <a:t>SISTEMA EXTERNO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0" y="5074920"/>
            <a:ext cx="338328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D343C"/>
                </a:solidFill>
              </a:defRPr>
            </a:pPr>
            <a:r>
              <a:rPr dirty="0"/>
              <a:t>El </a:t>
            </a:r>
            <a:r>
              <a:rPr dirty="0" err="1"/>
              <a:t>diagrama</a:t>
            </a:r>
            <a:r>
              <a:rPr dirty="0"/>
              <a:t> </a:t>
            </a:r>
            <a:r>
              <a:rPr dirty="0" err="1"/>
              <a:t>representa</a:t>
            </a:r>
            <a:r>
              <a:rPr dirty="0"/>
              <a:t> una </a:t>
            </a:r>
            <a:r>
              <a:rPr dirty="0" err="1"/>
              <a:t>frontera</a:t>
            </a:r>
            <a:r>
              <a:rPr dirty="0"/>
              <a:t> util: </a:t>
            </a:r>
            <a:r>
              <a:rPr dirty="0" err="1"/>
              <a:t>muestra</a:t>
            </a:r>
            <a:r>
              <a:rPr dirty="0"/>
              <a:t> </a:t>
            </a:r>
            <a:r>
              <a:rPr dirty="0" err="1"/>
              <a:t>componentes</a:t>
            </a:r>
            <a:r>
              <a:rPr dirty="0"/>
              <a:t> y </a:t>
            </a:r>
            <a:r>
              <a:rPr dirty="0" err="1"/>
              <a:t>relaciones</a:t>
            </a:r>
            <a:r>
              <a:rPr dirty="0"/>
              <a:t> </a:t>
            </a:r>
            <a:r>
              <a:rPr dirty="0" err="1"/>
              <a:t>suficientes</a:t>
            </a:r>
            <a:r>
              <a:rPr dirty="0"/>
              <a:t> para </a:t>
            </a:r>
            <a:r>
              <a:rPr dirty="0" err="1"/>
              <a:t>comprender</a:t>
            </a:r>
            <a:r>
              <a:rPr dirty="0"/>
              <a:t>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sistema</a:t>
            </a:r>
            <a:r>
              <a:rPr dirty="0"/>
              <a:t> sin </a:t>
            </a:r>
            <a:r>
              <a:rPr dirty="0" err="1"/>
              <a:t>intentar</a:t>
            </a:r>
            <a:r>
              <a:rPr dirty="0"/>
              <a:t> </a:t>
            </a:r>
            <a:r>
              <a:rPr dirty="0" err="1"/>
              <a:t>dibujar</a:t>
            </a:r>
            <a:r>
              <a:rPr dirty="0"/>
              <a:t> </a:t>
            </a:r>
            <a:r>
              <a:rPr dirty="0" err="1"/>
              <a:t>toda</a:t>
            </a:r>
            <a:r>
              <a:rPr dirty="0"/>
              <a:t> la </a:t>
            </a:r>
            <a:r>
              <a:rPr dirty="0" err="1"/>
              <a:t>plataforma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033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De la documentacion a la accion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34440"/>
            <a:ext cx="6903720" cy="5257800"/>
          </a:xfrm>
          <a:prstGeom prst="roundRect">
            <a:avLst/>
          </a:prstGeom>
          <a:solidFill>
            <a:srgbClr val="FFFFFF"/>
          </a:solidFill>
          <a:ln>
            <a:solidFill>
              <a:srgbClr val="C3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554480"/>
            <a:ext cx="6309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103361"/>
                </a:solidFill>
              </a:defRPr>
            </a:pPr>
            <a:r>
              <a:t>De la documentacion a la accion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240280"/>
            <a:ext cx="6309360" cy="2185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262C34"/>
                </a:solidFill>
              </a:defRPr>
            </a:pPr>
            <a:r>
              <a:rPr dirty="0" err="1"/>
              <a:t>Documentar</a:t>
            </a:r>
            <a:r>
              <a:rPr dirty="0"/>
              <a:t> no es </a:t>
            </a:r>
            <a:r>
              <a:rPr dirty="0" err="1"/>
              <a:t>el</a:t>
            </a:r>
            <a:r>
              <a:rPr dirty="0"/>
              <a:t> punto final. La </a:t>
            </a:r>
            <a:r>
              <a:rPr dirty="0" err="1"/>
              <a:t>informacion</a:t>
            </a:r>
            <a:r>
              <a:rPr dirty="0"/>
              <a:t> </a:t>
            </a:r>
            <a:r>
              <a:rPr dirty="0" err="1"/>
              <a:t>escrita</a:t>
            </a:r>
            <a:r>
              <a:rPr dirty="0"/>
              <a:t> debe </a:t>
            </a:r>
            <a:r>
              <a:rPr dirty="0" err="1"/>
              <a:t>ayudar</a:t>
            </a:r>
            <a:r>
              <a:rPr dirty="0"/>
              <a:t> a </a:t>
            </a:r>
            <a:r>
              <a:rPr dirty="0" err="1"/>
              <a:t>revisar</a:t>
            </a:r>
            <a:r>
              <a:rPr dirty="0"/>
              <a:t> </a:t>
            </a:r>
            <a:r>
              <a:rPr dirty="0" err="1"/>
              <a:t>supuestos</a:t>
            </a:r>
            <a:r>
              <a:rPr dirty="0"/>
              <a:t>, </a:t>
            </a:r>
            <a:r>
              <a:rPr dirty="0" err="1"/>
              <a:t>detectar</a:t>
            </a:r>
            <a:r>
              <a:rPr dirty="0"/>
              <a:t> </a:t>
            </a:r>
            <a:r>
              <a:rPr dirty="0" err="1"/>
              <a:t>riesgos</a:t>
            </a:r>
            <a:r>
              <a:rPr dirty="0"/>
              <a:t> y </a:t>
            </a:r>
            <a:r>
              <a:rPr dirty="0" err="1"/>
              <a:t>tomar</a:t>
            </a:r>
            <a:r>
              <a:rPr dirty="0"/>
              <a:t> </a:t>
            </a:r>
            <a:r>
              <a:rPr dirty="0" err="1"/>
              <a:t>mejores</a:t>
            </a:r>
            <a:r>
              <a:rPr dirty="0"/>
              <a:t> </a:t>
            </a:r>
            <a:r>
              <a:rPr dirty="0" err="1"/>
              <a:t>decisiones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siguiente</a:t>
            </a:r>
            <a:r>
              <a:rPr dirty="0"/>
              <a:t> </a:t>
            </a:r>
            <a:r>
              <a:rPr dirty="0" err="1"/>
              <a:t>cambio</a:t>
            </a:r>
            <a:r>
              <a:rPr dirty="0"/>
              <a:t>.</a:t>
            </a:r>
            <a:br>
              <a:rPr dirty="0"/>
            </a:br>
            <a:br>
              <a:rPr dirty="0"/>
            </a:br>
            <a:r>
              <a:rPr dirty="0" err="1"/>
              <a:t>Cada</a:t>
            </a:r>
            <a:r>
              <a:rPr dirty="0"/>
              <a:t> </a:t>
            </a:r>
            <a:r>
              <a:rPr dirty="0" err="1"/>
              <a:t>modificacion</a:t>
            </a:r>
            <a:r>
              <a:rPr dirty="0"/>
              <a:t> </a:t>
            </a:r>
            <a:r>
              <a:rPr dirty="0" err="1"/>
              <a:t>importante</a:t>
            </a:r>
            <a:r>
              <a:rPr dirty="0"/>
              <a:t> del </a:t>
            </a:r>
            <a:r>
              <a:rPr dirty="0" err="1"/>
              <a:t>sistema</a:t>
            </a:r>
            <a:r>
              <a:rPr dirty="0"/>
              <a:t> </a:t>
            </a:r>
            <a:r>
              <a:rPr dirty="0" err="1"/>
              <a:t>deberia</a:t>
            </a:r>
            <a:r>
              <a:rPr dirty="0"/>
              <a:t> </a:t>
            </a:r>
            <a:r>
              <a:rPr dirty="0" err="1"/>
              <a:t>preguntarse</a:t>
            </a:r>
            <a:r>
              <a:rPr dirty="0"/>
              <a:t> </a:t>
            </a:r>
            <a:r>
              <a:rPr dirty="0" err="1"/>
              <a:t>si</a:t>
            </a:r>
            <a:r>
              <a:rPr dirty="0"/>
              <a:t> cambia una </a:t>
            </a:r>
            <a:r>
              <a:rPr dirty="0" err="1"/>
              <a:t>responsabilidad</a:t>
            </a:r>
            <a:r>
              <a:rPr dirty="0"/>
              <a:t>, una </a:t>
            </a:r>
            <a:r>
              <a:rPr dirty="0" err="1"/>
              <a:t>dependencia</a:t>
            </a:r>
            <a:r>
              <a:rPr dirty="0"/>
              <a:t>, un </a:t>
            </a:r>
            <a:r>
              <a:rPr dirty="0" err="1"/>
              <a:t>contrato</a:t>
            </a:r>
            <a:r>
              <a:rPr dirty="0"/>
              <a:t> o un </a:t>
            </a:r>
            <a:r>
              <a:rPr dirty="0" err="1"/>
              <a:t>riesgo</a:t>
            </a:r>
            <a:r>
              <a:rPr dirty="0"/>
              <a:t>. Si la </a:t>
            </a:r>
            <a:r>
              <a:rPr dirty="0" err="1"/>
              <a:t>respuesta</a:t>
            </a:r>
            <a:r>
              <a:rPr dirty="0"/>
              <a:t> es </a:t>
            </a:r>
            <a:r>
              <a:rPr dirty="0" err="1"/>
              <a:t>afirmativa</a:t>
            </a:r>
            <a:r>
              <a:rPr dirty="0"/>
              <a:t>, la </a:t>
            </a:r>
            <a:r>
              <a:rPr dirty="0" err="1"/>
              <a:t>documentacion</a:t>
            </a:r>
            <a:r>
              <a:rPr dirty="0"/>
              <a:t> </a:t>
            </a:r>
            <a:r>
              <a:rPr dirty="0" err="1"/>
              <a:t>arquitectonica</a:t>
            </a:r>
            <a:r>
              <a:rPr dirty="0"/>
              <a:t> </a:t>
            </a:r>
            <a:r>
              <a:rPr dirty="0" err="1"/>
              <a:t>tambien</a:t>
            </a:r>
            <a:r>
              <a:rPr dirty="0"/>
              <a:t> debe </a:t>
            </a:r>
            <a:r>
              <a:rPr dirty="0" err="1"/>
              <a:t>evolucionar</a:t>
            </a:r>
            <a:r>
              <a:rPr dirty="0"/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26679" y="1234440"/>
            <a:ext cx="3931920" cy="5257800"/>
          </a:xfrm>
          <a:prstGeom prst="roundRect">
            <a:avLst/>
          </a:prstGeom>
          <a:solidFill>
            <a:srgbClr val="EEF4FA"/>
          </a:solidFill>
          <a:ln>
            <a:solidFill>
              <a:srgbClr val="AEC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01000" y="1508760"/>
            <a:ext cx="3383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03361"/>
                </a:solidFill>
              </a:defRPr>
            </a:pPr>
            <a:r>
              <a:t>Relacion directa con el concepto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2440" y="2057400"/>
            <a:ext cx="1828800" cy="621792"/>
          </a:xfrm>
          <a:prstGeom prst="roundRect">
            <a:avLst/>
          </a:prstGeom>
          <a:solidFill>
            <a:srgbClr val="CFE2F3"/>
          </a:solidFill>
          <a:ln>
            <a:solidFill>
              <a:srgbClr val="677C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100" b="1">
                <a:solidFill>
                  <a:srgbClr val="1E2A37"/>
                </a:solidFill>
              </a:defRPr>
            </a:pPr>
            <a:r>
              <a:t>REPOSITORIO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3063240"/>
            <a:ext cx="1828800" cy="621792"/>
          </a:xfrm>
          <a:prstGeom prst="roundRect">
            <a:avLst/>
          </a:prstGeom>
          <a:solidFill>
            <a:srgbClr val="DAF2E1"/>
          </a:solidFill>
          <a:ln>
            <a:solidFill>
              <a:srgbClr val="677C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100" b="1">
                <a:solidFill>
                  <a:srgbClr val="1E2A37"/>
                </a:solidFill>
              </a:defRPr>
            </a:pPr>
            <a:r>
              <a:t>ARCHITECTURE.md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4069080"/>
            <a:ext cx="1828800" cy="621792"/>
          </a:xfrm>
          <a:prstGeom prst="roundRect">
            <a:avLst/>
          </a:prstGeom>
          <a:solidFill>
            <a:srgbClr val="EBEBEB"/>
          </a:solidFill>
          <a:ln>
            <a:solidFill>
              <a:srgbClr val="677C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100" b="1">
                <a:solidFill>
                  <a:srgbClr val="1E2A37"/>
                </a:solidFill>
              </a:defRPr>
            </a:pPr>
            <a:r>
              <a:t>CODIGO + DECISIONES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0" y="5074920"/>
            <a:ext cx="338328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D343C"/>
                </a:solidFill>
              </a:defRPr>
            </a:pPr>
            <a:r>
              <a:rPr dirty="0"/>
              <a:t>La imagen </a:t>
            </a:r>
            <a:r>
              <a:rPr dirty="0" err="1"/>
              <a:t>representa</a:t>
            </a:r>
            <a:r>
              <a:rPr dirty="0"/>
              <a:t> </a:t>
            </a:r>
            <a:r>
              <a:rPr dirty="0" err="1"/>
              <a:t>mantenimiento</a:t>
            </a:r>
            <a:r>
              <a:rPr dirty="0"/>
              <a:t> continuo: </a:t>
            </a:r>
            <a:r>
              <a:rPr dirty="0" err="1"/>
              <a:t>cuando</a:t>
            </a:r>
            <a:r>
              <a:rPr dirty="0"/>
              <a:t> una decision cambia, la </a:t>
            </a:r>
            <a:r>
              <a:rPr dirty="0" err="1"/>
              <a:t>documentacion</a:t>
            </a:r>
            <a:r>
              <a:rPr dirty="0"/>
              <a:t> debe </a:t>
            </a:r>
            <a:r>
              <a:rPr dirty="0" err="1"/>
              <a:t>actualizarse</a:t>
            </a:r>
            <a:r>
              <a:rPr dirty="0"/>
              <a:t> para </a:t>
            </a:r>
            <a:r>
              <a:rPr dirty="0" err="1"/>
              <a:t>conservar</a:t>
            </a:r>
            <a:r>
              <a:rPr dirty="0"/>
              <a:t>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contexto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033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La perspectiva arquitectonica amplia el desarrollo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34440"/>
            <a:ext cx="6903720" cy="5257800"/>
          </a:xfrm>
          <a:prstGeom prst="roundRect">
            <a:avLst/>
          </a:prstGeom>
          <a:solidFill>
            <a:srgbClr val="FFFFFF"/>
          </a:solidFill>
          <a:ln>
            <a:solidFill>
              <a:srgbClr val="C3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554480"/>
            <a:ext cx="6309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103361"/>
                </a:solidFill>
              </a:defRPr>
            </a:pPr>
            <a:r>
              <a:t>La perspectiva arquitectonica amplia el desarrollo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240280"/>
            <a:ext cx="6191339" cy="2185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262C34"/>
                </a:solidFill>
              </a:defRPr>
            </a:pPr>
            <a:r>
              <a:rPr dirty="0"/>
              <a:t>El </a:t>
            </a:r>
            <a:r>
              <a:rPr dirty="0" err="1"/>
              <a:t>desarrollo</a:t>
            </a:r>
            <a:r>
              <a:rPr dirty="0"/>
              <a:t> </a:t>
            </a:r>
            <a:r>
              <a:rPr dirty="0" err="1"/>
              <a:t>resuelve</a:t>
            </a:r>
            <a:r>
              <a:rPr dirty="0"/>
              <a:t> </a:t>
            </a:r>
            <a:r>
              <a:rPr dirty="0" err="1"/>
              <a:t>funcionalidades</a:t>
            </a:r>
            <a:r>
              <a:rPr dirty="0"/>
              <a:t> </a:t>
            </a:r>
            <a:r>
              <a:rPr dirty="0" err="1"/>
              <a:t>concretas</a:t>
            </a:r>
            <a:r>
              <a:rPr dirty="0"/>
              <a:t>; la </a:t>
            </a:r>
            <a:r>
              <a:rPr dirty="0" err="1"/>
              <a:t>arquitectura</a:t>
            </a:r>
            <a:r>
              <a:rPr dirty="0"/>
              <a:t> </a:t>
            </a:r>
            <a:r>
              <a:rPr dirty="0" err="1"/>
              <a:t>observa</a:t>
            </a:r>
            <a:r>
              <a:rPr dirty="0"/>
              <a:t> </a:t>
            </a:r>
            <a:r>
              <a:rPr dirty="0" err="1"/>
              <a:t>como</a:t>
            </a:r>
            <a:r>
              <a:rPr dirty="0"/>
              <a:t> </a:t>
            </a:r>
            <a:r>
              <a:rPr dirty="0" err="1"/>
              <a:t>esas</a:t>
            </a:r>
            <a:r>
              <a:rPr dirty="0"/>
              <a:t> </a:t>
            </a:r>
            <a:r>
              <a:rPr dirty="0" err="1"/>
              <a:t>funcionalidades</a:t>
            </a:r>
            <a:r>
              <a:rPr dirty="0"/>
              <a:t> </a:t>
            </a:r>
            <a:r>
              <a:rPr dirty="0" err="1"/>
              <a:t>conviviran</a:t>
            </a:r>
            <a:r>
              <a:rPr dirty="0"/>
              <a:t>, </a:t>
            </a:r>
            <a:r>
              <a:rPr dirty="0" err="1"/>
              <a:t>cambiaran</a:t>
            </a:r>
            <a:r>
              <a:rPr dirty="0"/>
              <a:t> y </a:t>
            </a:r>
            <a:r>
              <a:rPr dirty="0" err="1"/>
              <a:t>operaran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tiempo</a:t>
            </a:r>
            <a:r>
              <a:rPr dirty="0"/>
              <a:t>. </a:t>
            </a:r>
            <a:r>
              <a:rPr dirty="0" err="1"/>
              <a:t>Esa</a:t>
            </a:r>
            <a:r>
              <a:rPr dirty="0"/>
              <a:t> </a:t>
            </a:r>
            <a:r>
              <a:rPr dirty="0" err="1"/>
              <a:t>perspectiva</a:t>
            </a:r>
            <a:r>
              <a:rPr dirty="0"/>
              <a:t> no </a:t>
            </a:r>
            <a:r>
              <a:rPr dirty="0" err="1"/>
              <a:t>compite</a:t>
            </a:r>
            <a:r>
              <a:rPr dirty="0"/>
              <a:t> con </a:t>
            </a:r>
            <a:r>
              <a:rPr dirty="0" err="1"/>
              <a:t>programar</a:t>
            </a:r>
            <a:r>
              <a:rPr dirty="0"/>
              <a:t>: </a:t>
            </a:r>
            <a:r>
              <a:rPr dirty="0" err="1"/>
              <a:t>ayuda</a:t>
            </a:r>
            <a:r>
              <a:rPr dirty="0"/>
              <a:t> a </a:t>
            </a:r>
            <a:r>
              <a:rPr dirty="0" err="1"/>
              <a:t>programar</a:t>
            </a:r>
            <a:r>
              <a:rPr dirty="0"/>
              <a:t> con mayor </a:t>
            </a:r>
            <a:r>
              <a:rPr dirty="0" err="1"/>
              <a:t>claridad</a:t>
            </a:r>
            <a:r>
              <a:rPr dirty="0"/>
              <a:t>.</a:t>
            </a:r>
            <a:br>
              <a:rPr dirty="0"/>
            </a:br>
            <a:br>
              <a:rPr dirty="0"/>
            </a:br>
            <a:r>
              <a:rPr dirty="0"/>
              <a:t>El </a:t>
            </a:r>
            <a:r>
              <a:rPr dirty="0" err="1"/>
              <a:t>objetivo</a:t>
            </a:r>
            <a:r>
              <a:rPr dirty="0"/>
              <a:t> es </a:t>
            </a:r>
            <a:r>
              <a:rPr dirty="0" err="1"/>
              <a:t>diseñar</a:t>
            </a:r>
            <a:r>
              <a:rPr dirty="0"/>
              <a:t> </a:t>
            </a:r>
            <a:r>
              <a:rPr dirty="0" err="1"/>
              <a:t>sistemas</a:t>
            </a:r>
            <a:r>
              <a:rPr dirty="0"/>
              <a:t> </a:t>
            </a:r>
            <a:r>
              <a:rPr dirty="0" err="1"/>
              <a:t>seguros</a:t>
            </a:r>
            <a:r>
              <a:rPr dirty="0"/>
              <a:t>, </a:t>
            </a:r>
            <a:r>
              <a:rPr dirty="0" err="1"/>
              <a:t>escalables</a:t>
            </a:r>
            <a:r>
              <a:rPr dirty="0"/>
              <a:t> y </a:t>
            </a:r>
            <a:r>
              <a:rPr dirty="0" err="1"/>
              <a:t>efectivos</a:t>
            </a:r>
            <a:r>
              <a:rPr dirty="0"/>
              <a:t>, </a:t>
            </a:r>
            <a:r>
              <a:rPr dirty="0" err="1"/>
              <a:t>pero</a:t>
            </a:r>
            <a:r>
              <a:rPr dirty="0"/>
              <a:t> </a:t>
            </a:r>
            <a:r>
              <a:rPr dirty="0" err="1"/>
              <a:t>tambien</a:t>
            </a:r>
            <a:r>
              <a:rPr dirty="0"/>
              <a:t> </a:t>
            </a:r>
            <a:r>
              <a:rPr dirty="0" err="1"/>
              <a:t>comprensibles</a:t>
            </a:r>
            <a:r>
              <a:rPr dirty="0"/>
              <a:t>, </a:t>
            </a:r>
            <a:r>
              <a:rPr dirty="0" err="1"/>
              <a:t>mantenibles</a:t>
            </a:r>
            <a:r>
              <a:rPr dirty="0"/>
              <a:t> y </a:t>
            </a:r>
            <a:r>
              <a:rPr dirty="0" err="1"/>
              <a:t>honestos</a:t>
            </a:r>
            <a:r>
              <a:rPr dirty="0"/>
              <a:t> </a:t>
            </a:r>
            <a:r>
              <a:rPr dirty="0" err="1"/>
              <a:t>frente</a:t>
            </a:r>
            <a:r>
              <a:rPr dirty="0"/>
              <a:t> a sus </a:t>
            </a:r>
            <a:r>
              <a:rPr dirty="0" err="1"/>
              <a:t>limitaciones</a:t>
            </a:r>
            <a:r>
              <a:rPr dirty="0"/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26679" y="1234440"/>
            <a:ext cx="3931920" cy="5257800"/>
          </a:xfrm>
          <a:prstGeom prst="roundRect">
            <a:avLst/>
          </a:prstGeom>
          <a:solidFill>
            <a:srgbClr val="EEF4FA"/>
          </a:solidFill>
          <a:ln>
            <a:solidFill>
              <a:srgbClr val="AEC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01000" y="1508760"/>
            <a:ext cx="3383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03361"/>
                </a:solidFill>
              </a:defRPr>
            </a:pPr>
            <a:r>
              <a:t>Relacion directa con el concepto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01000" y="2057400"/>
            <a:ext cx="1828800" cy="621792"/>
          </a:xfrm>
          <a:prstGeom prst="roundRect">
            <a:avLst/>
          </a:prstGeom>
          <a:solidFill>
            <a:srgbClr val="FFEBBE"/>
          </a:solidFill>
          <a:ln>
            <a:solidFill>
              <a:srgbClr val="677C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100" b="1">
                <a:solidFill>
                  <a:srgbClr val="1E2A37"/>
                </a:solidFill>
              </a:defRPr>
            </a:pPr>
            <a:r>
              <a:t>NEGOCIO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55480" y="3063240"/>
            <a:ext cx="1828800" cy="621792"/>
          </a:xfrm>
          <a:prstGeom prst="roundRect">
            <a:avLst/>
          </a:prstGeom>
          <a:solidFill>
            <a:srgbClr val="CFE2F3"/>
          </a:solidFill>
          <a:ln>
            <a:solidFill>
              <a:srgbClr val="677C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100" b="1">
                <a:solidFill>
                  <a:srgbClr val="1E2A37"/>
                </a:solidFill>
              </a:defRPr>
            </a:pPr>
            <a:r>
              <a:t>DECISION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01000" y="4160520"/>
            <a:ext cx="1828800" cy="621792"/>
          </a:xfrm>
          <a:prstGeom prst="roundRect">
            <a:avLst/>
          </a:prstGeom>
          <a:solidFill>
            <a:srgbClr val="DAF2E1"/>
          </a:solidFill>
          <a:ln>
            <a:solidFill>
              <a:srgbClr val="677C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100" b="1">
                <a:solidFill>
                  <a:srgbClr val="1E2A37"/>
                </a:solidFill>
              </a:defRPr>
            </a:pPr>
            <a:r>
              <a:t>OPERACION + SEGURIDAD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0" y="5074920"/>
            <a:ext cx="338647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D343C"/>
                </a:solidFill>
              </a:defRPr>
            </a:pPr>
            <a:r>
              <a:rPr dirty="0"/>
              <a:t>El </a:t>
            </a:r>
            <a:r>
              <a:rPr dirty="0" err="1"/>
              <a:t>equipo</a:t>
            </a:r>
            <a:r>
              <a:rPr dirty="0"/>
              <a:t> </a:t>
            </a:r>
            <a:r>
              <a:rPr dirty="0" err="1"/>
              <a:t>representa</a:t>
            </a:r>
            <a:r>
              <a:rPr dirty="0"/>
              <a:t> la </a:t>
            </a:r>
            <a:r>
              <a:rPr dirty="0" err="1"/>
              <a:t>perspectiva</a:t>
            </a:r>
            <a:r>
              <a:rPr dirty="0"/>
              <a:t> </a:t>
            </a:r>
            <a:r>
              <a:rPr dirty="0" err="1"/>
              <a:t>amplia</a:t>
            </a:r>
            <a:r>
              <a:rPr dirty="0"/>
              <a:t> del </a:t>
            </a:r>
            <a:r>
              <a:rPr dirty="0" err="1"/>
              <a:t>desarrollo</a:t>
            </a:r>
            <a:r>
              <a:rPr dirty="0"/>
              <a:t>: </a:t>
            </a:r>
            <a:r>
              <a:rPr dirty="0" err="1"/>
              <a:t>construir</a:t>
            </a:r>
            <a:r>
              <a:rPr dirty="0"/>
              <a:t> software </a:t>
            </a:r>
            <a:r>
              <a:rPr dirty="0" err="1"/>
              <a:t>tambien</a:t>
            </a:r>
            <a:r>
              <a:rPr dirty="0"/>
              <a:t> </a:t>
            </a:r>
            <a:r>
              <a:rPr dirty="0" err="1"/>
              <a:t>implica</a:t>
            </a:r>
            <a:r>
              <a:rPr dirty="0"/>
              <a:t> </a:t>
            </a:r>
            <a:r>
              <a:rPr dirty="0" err="1"/>
              <a:t>comprender</a:t>
            </a:r>
            <a:r>
              <a:rPr dirty="0"/>
              <a:t> </a:t>
            </a:r>
            <a:r>
              <a:rPr dirty="0" err="1"/>
              <a:t>evolucion</a:t>
            </a:r>
            <a:r>
              <a:rPr dirty="0"/>
              <a:t>, </a:t>
            </a:r>
            <a:r>
              <a:rPr dirty="0" err="1"/>
              <a:t>riesgos</a:t>
            </a:r>
            <a:r>
              <a:rPr dirty="0"/>
              <a:t>, </a:t>
            </a:r>
            <a:r>
              <a:rPr dirty="0" err="1"/>
              <a:t>usuarios</a:t>
            </a:r>
            <a:r>
              <a:rPr dirty="0"/>
              <a:t> y </a:t>
            </a:r>
            <a:r>
              <a:rPr dirty="0" err="1"/>
              <a:t>consecuencias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1950</TotalTime>
  <Words>1751</Words>
  <Application>Microsoft Office PowerPoint</Application>
  <PresentationFormat>Panorámica</PresentationFormat>
  <Paragraphs>120</Paragraphs>
  <Slides>15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/>
  <cp:keywords/>
  <dc:description>generated using python-pptx</dc:description>
  <cp:lastModifiedBy>Juan Esteban Angulo Uribe</cp:lastModifiedBy>
  <cp:revision>3</cp:revision>
  <dcterms:created xsi:type="dcterms:W3CDTF">2013-01-27T09:14:16Z</dcterms:created>
  <dcterms:modified xsi:type="dcterms:W3CDTF">2026-08-26T01:59:06Z</dcterms:modified>
  <cp:category/>
</cp:coreProperties>
</file>