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Arquitectura de Software - Recorrido narrativo profundo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Presentacion expandida con apoyo visual</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Este material desarrolla los veinte temas iniciales con texto extendido para lectura en pantalla y explicacion continua.</a:t>
            </a:r>
          </a:p>
          <a:p>
            <a:pPr>
              <a:defRPr sz="1500">
                <a:solidFill>
                  <a:srgbClr val="262D36"/>
                </a:solidFill>
              </a:defRPr>
            </a:pPr>
            <a:r>
              <a:t>Cada bloque profundiza contexto, implicaciones tecnicas y criterio de decision aplicado al caso de logistica retail.</a:t>
            </a:r>
          </a:p>
          <a:p>
            <a:pPr>
              <a:defRPr sz="1500">
                <a:solidFill>
                  <a:srgbClr val="262D36"/>
                </a:solidFill>
              </a:defRPr>
            </a:pPr>
            <a:r>
              <a:t>Se incorporan imagenes relevantes obtenidas desde internet mediante busqueda por palabras clave para reforzar comprension visual.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Arquitectura de software: decisiones, no solo diagramas</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Durante mucho tiempo se asumio que hacer arquitectura era producir una gran coleccion de diagramas y documentos antes de comenzar a construir. Ese enfoque parecia ordenado, pero en la practica dejaba a los equipos con una falsa sensacion de control: habia mucho material visual y poca claridad sobre que decisiones realmente sostenian el negocio.</a:t>
            </a:r>
          </a:p>
          <a:p>
            <a:pPr>
              <a:defRPr sz="1500">
                <a:solidFill>
                  <a:srgbClr val="262D36"/>
                </a:solidFill>
              </a:defRPr>
            </a:pPr>
            <a:r>
              <a:t>Una arquitectura madura no compite con el desarrollo: lo habilita. Define limites, responsabilidades, contratos y reglas de evolucion para que el software soporte cambios reales sin colapsar. Los diagramas siguen siendo utiles, pero solo cuando nacen de decisiones explicitas y comprobables.</a:t>
            </a:r>
          </a:p>
          <a:p>
            <a:pPr>
              <a:defRPr sz="1500">
                <a:solidFill>
                  <a:srgbClr val="262D36"/>
                </a:solidFill>
              </a:defRPr>
            </a:pPr>
            <a:r>
              <a:t>La idea central de este recorrido es simple: cada vez que hablamos de arquitectura, en realidad estamos hablando de decisiones con consecuencias tecnicas, economicas y operativas. Esa perspectiva evita caer en soluciones vistosas pero fragiles.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Arquitectura de software: decisiones, no solo diagramas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Una arquitectura madura no compite con el desarrollo: lo habilita. Define limites, responsabilidades, contratos y reglas de evolucion para que el software soporte cambios reales sin colapsar. Los diagramas siguen siendo utiles, pero solo cuando nacen de decisiones explicitas y comprobables.</a:t>
            </a:r>
          </a:p>
          <a:p>
            <a:pPr>
              <a:defRPr sz="1400">
                <a:solidFill>
                  <a:srgbClr val="262D36"/>
                </a:solidFill>
              </a:defRPr>
            </a:pPr>
            <a:r>
              <a:t>La idea central de este recorrido es simple: cada vez que hablamos de arquitectura, en realidad estamos hablando de decisiones con consecuencias tecnicas, economicas y operativas. Esa perspectiva evita caer en soluciones vistosas pero fragiles.</a:t>
            </a:r>
          </a:p>
          <a:p>
            <a:pPr>
              <a:defRPr sz="1400">
                <a:solidFill>
                  <a:srgbClr val="262D36"/>
                </a:solidFill>
              </a:defRPr>
            </a:pPr>
            <a:r>
              <a:t>Caso transversal: En una plataforma logistica de retail digital, la pregunta clave no es cuan bonito luce el diagrama. La pregunta clave es si una variacion de demanda, una falla de un proveedor o un cambio en reglas de entrega puede resolverse sin romper todo el sistema.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En una plataforma logistica de retail digital, la pregunta clave no es cuan bonito luce el diagrama. La pregunta clave es si una variacion de demanda, una falla de un proveedor o un cambio en reglas de entrega puede resolverse sin romper todo el sistema.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Arquitectura de software: decisiones, no solo diagramas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Una arquitectura madura no compite con el desarrollo: lo habilita. Define limites, responsabilidades, contratos y reglas de evolucion para que el software soporte cambios reales sin colapsar. Los diagramas siguen siendo utiles, pero solo cuando nacen de decisiones explicitas y comprobables.</a:t>
            </a:r>
          </a:p>
          <a:p>
            <a:pPr>
              <a:defRPr sz="1400">
                <a:solidFill>
                  <a:srgbClr val="262D36"/>
                </a:solidFill>
              </a:defRPr>
            </a:pPr>
            <a:r>
              <a:t>La idea central de este recorrido es simple: cada vez que hablamos de arquitectura, en realidad estamos hablando de decisiones con consecuencias tecnicas, economicas y operativas. Esa perspectiva evita caer en soluciones vistosas pero fragiles.</a:t>
            </a:r>
          </a:p>
          <a:p>
            <a:pPr>
              <a:defRPr sz="1400">
                <a:solidFill>
                  <a:srgbClr val="262D36"/>
                </a:solidFill>
              </a:defRPr>
            </a:pPr>
            <a:r>
              <a:t>Caso transversal: En una plataforma logistica de retail digital, la pregunta clave no es cuan bonito luce el diagrama. La pregunta clave es si una variacion de demanda, una falla de un proveedor o un cambio en reglas de entrega puede resolverse sin romper todo el sistema.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En una plataforma logistica de retail digital, la pregunta clave no es cuan bonito luce el diagrama. La pregunta clave es si una variacion de demanda, una falla de un proveedor o un cambio en reglas de entrega puede resolverse sin romper todo el sistema.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Decidir con evidencia tecnica y de negocio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Una decision arquitectonica no deberia surgir de preferencias personales ni de modas tecnicas. Deberia surgir de evidencia. Por evidencia de negocio entendemos objetivos, restricciones economicas, perfil de usuarios, estacionalidad de demanda y riesgos de operacion.</a:t>
            </a:r>
          </a:p>
          <a:p>
            <a:pPr>
              <a:defRPr sz="1500">
                <a:solidFill>
                  <a:srgbClr val="262D36"/>
                </a:solidFill>
              </a:defRPr>
            </a:pPr>
            <a:r>
              <a:t>Por evidencia tecnica entendemos estado actual del sistema, deuda acumulada, limitaciones de talento, costo de integraciones, observabilidad disponible y capacidad real de despliegue. Sin esa doble evidencia, la arquitectura queda reducida a opinion.</a:t>
            </a:r>
          </a:p>
          <a:p>
            <a:pPr>
              <a:defRPr sz="1500">
                <a:solidFill>
                  <a:srgbClr val="262D36"/>
                </a:solidFill>
              </a:defRPr>
            </a:pPr>
            <a:r>
              <a:t>Cuando negocio y tecnica se leen juntas, las conversaciones cambian: ya no se discute quien tiene la razon, se discute que alternativa tiene mejor relacion entre valor, costo y riesgo en el contexto real.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Decidir con evidencia tecnica y de negocio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Por evidencia tecnica entendemos estado actual del sistema, deuda acumulada, limitaciones de talento, costo de integraciones, observabilidad disponible y capacidad real de despliegue. Sin esa doble evidencia, la arquitectura queda reducida a opinion.</a:t>
            </a:r>
          </a:p>
          <a:p>
            <a:pPr>
              <a:defRPr sz="1400">
                <a:solidFill>
                  <a:srgbClr val="262D36"/>
                </a:solidFill>
              </a:defRPr>
            </a:pPr>
            <a:r>
              <a:t>Cuando negocio y tecnica se leen juntas, las conversaciones cambian: ya no se discute quien tiene la razon, se discute que alternativa tiene mejor relacion entre valor, costo y riesgo en el contexto real.</a:t>
            </a:r>
          </a:p>
          <a:p>
            <a:pPr>
              <a:defRPr sz="1400">
                <a:solidFill>
                  <a:srgbClr val="262D36"/>
                </a:solidFill>
              </a:defRPr>
            </a:pPr>
            <a:r>
              <a:t>Caso transversal: Si el negocio exige reducir retrasos sin duplicar gasto operativo, la arquitectura debe priorizar trazabilidad, reaccion ante incidencias y control de capacidad antes que complejidad prematura.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2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el negocio exige reducir retrasos sin duplicar gasto operativo, la arquitectura debe priorizar trazabilidad, reaccion ante incidencias y control de capacidad antes que complejidad prematura.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Decidir con evidencia tecnica y de negocio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Por evidencia tecnica entendemos estado actual del sistema, deuda acumulada, limitaciones de talento, costo de integraciones, observabilidad disponible y capacidad real de despliegue. Sin esa doble evidencia, la arquitectura queda reducida a opinion.</a:t>
            </a:r>
          </a:p>
          <a:p>
            <a:pPr>
              <a:defRPr sz="1400">
                <a:solidFill>
                  <a:srgbClr val="262D36"/>
                </a:solidFill>
              </a:defRPr>
            </a:pPr>
            <a:r>
              <a:t>Cuando negocio y tecnica se leen juntas, las conversaciones cambian: ya no se discute quien tiene la razon, se discute que alternativa tiene mejor relacion entre valor, costo y riesgo en el contexto real.</a:t>
            </a:r>
          </a:p>
          <a:p>
            <a:pPr>
              <a:defRPr sz="1400">
                <a:solidFill>
                  <a:srgbClr val="262D36"/>
                </a:solidFill>
              </a:defRPr>
            </a:pPr>
            <a:r>
              <a:t>Caso transversal: Si el negocio exige reducir retrasos sin duplicar gasto operativo, la arquitectura debe priorizar trazabilidad, reaccion ante incidencias y control de capacidad antes que complejidad prematura.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2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el negocio exige reducir retrasos sin duplicar gasto operativo, la arquitectura debe priorizar trazabilidad, reaccion ante incidencias y control de capacidad antes que complejidad prematura.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invisible y deuda arquitectonica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Muchas malas decisiones no duelen el primer mes. Duelen cuando el producto necesita cambiar con velocidad y cada ajuste tarda semanas. Ese atraso se vuelve gasto: mas incidentes, mas soporte, mas retrabajo, mas horas improductivas.</a:t>
            </a:r>
          </a:p>
          <a:p>
            <a:pPr>
              <a:defRPr sz="1500">
                <a:solidFill>
                  <a:srgbClr val="262D36"/>
                </a:solidFill>
              </a:defRPr>
            </a:pPr>
            <a:r>
              <a:t>La deuda arquitectonica no es solo codigo sucio. Es perdida de opcionalidad. Cada acoplamiento innecesario reduce capacidad de evolucion y eleva el costo de cualquier iniciativa futura.</a:t>
            </a:r>
          </a:p>
          <a:p>
            <a:pPr>
              <a:defRPr sz="1500">
                <a:solidFill>
                  <a:srgbClr val="262D36"/>
                </a:solidFill>
              </a:defRPr>
            </a:pPr>
            <a:r>
              <a:t>Visualizar ese costo invisible es una habilidad estrategica. Un equipo que lo entiende deja de celebrar entregas rapidas pero fragiles y empieza a proteger capacidad de cambio como un activo de negocio.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invisible y deuda arquitectonica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La deuda arquitectonica no es solo codigo sucio. Es perdida de opcionalidad. Cada acoplamiento innecesario reduce capacidad de evolucion y eleva el costo de cualquier iniciativa futura.</a:t>
            </a:r>
          </a:p>
          <a:p>
            <a:pPr>
              <a:defRPr sz="1400">
                <a:solidFill>
                  <a:srgbClr val="262D36"/>
                </a:solidFill>
              </a:defRPr>
            </a:pPr>
            <a:r>
              <a:t>Visualizar ese costo invisible es una habilidad estrategica. Un equipo que lo entiende deja de celebrar entregas rapidas pero fragiles y empieza a proteger capacidad de cambio como un activo de negocio.</a:t>
            </a:r>
          </a:p>
          <a:p>
            <a:pPr>
              <a:defRPr sz="1400">
                <a:solidFill>
                  <a:srgbClr val="262D36"/>
                </a:solidFill>
              </a:defRPr>
            </a:pPr>
            <a:r>
              <a:t>Caso transversal: Si cambiar reglas de ruteo obliga a tocar pagos, inventario y notificaciones, el sistema esta pagando intereses de deuda. La solucion no es mas esfuerzo manual: es redisenar limites y contratos.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3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cambiar reglas de ruteo obliga a tocar pagos, inventario y notificaciones, el sistema esta pagando intereses de deuda. La solucion no es mas esfuerzo manual: es redisenar limites y contratos.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invisible y deuda arquitectonica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La deuda arquitectonica no es solo codigo sucio. Es perdida de opcionalidad. Cada acoplamiento innecesario reduce capacidad de evolucion y eleva el costo de cualquier iniciativa futura.</a:t>
            </a:r>
          </a:p>
          <a:p>
            <a:pPr>
              <a:defRPr sz="1400">
                <a:solidFill>
                  <a:srgbClr val="262D36"/>
                </a:solidFill>
              </a:defRPr>
            </a:pPr>
            <a:r>
              <a:t>Visualizar ese costo invisible es una habilidad estrategica. Un equipo que lo entiende deja de celebrar entregas rapidas pero fragiles y empieza a proteger capacidad de cambio como un activo de negocio.</a:t>
            </a:r>
          </a:p>
          <a:p>
            <a:pPr>
              <a:defRPr sz="1400">
                <a:solidFill>
                  <a:srgbClr val="262D36"/>
                </a:solidFill>
              </a:defRPr>
            </a:pPr>
            <a:r>
              <a:t>Caso transversal: Si cambiar reglas de ruteo obliga a tocar pagos, inventario y notificaciones, el sistema esta pagando intereses de deuda. La solucion no es mas esfuerzo manual: es redisenar limites y contratos.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3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cambiar reglas de ruteo obliga a tocar pagos, inventario y notificaciones, el sistema esta pagando intereses de deuda. La solucion no es mas esfuerzo manual: es redisenar limites y contratos.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Conversaciones dificiles y rol arquitectonico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La arquitectura no se define en aislamiento tecnico. Surge en conversaciones donde existen intereses en tension: negocio pide velocidad, operaciones pide estabilidad, seguridad exige controles, desarrollo busca simplicidad.</a:t>
            </a:r>
          </a:p>
          <a:p>
            <a:pPr>
              <a:defRPr sz="1500">
                <a:solidFill>
                  <a:srgbClr val="262D36"/>
                </a:solidFill>
              </a:defRPr>
            </a:pPr>
            <a:r>
              <a:t>El rol arquitectonico consiste en transformar ese conflicto en decisiones transparentes. No se trata de ganar discusiones, se trata de explicitar criterios: impacto en cliente, riesgo operativo, costo total y sostenibilidad de cambio.</a:t>
            </a:r>
          </a:p>
          <a:p>
            <a:pPr>
              <a:defRPr sz="1500">
                <a:solidFill>
                  <a:srgbClr val="262D36"/>
                </a:solidFill>
              </a:defRPr>
            </a:pPr>
            <a:r>
              <a:t>Cuando la conversacion se vuelve trazable, el equipo deja de depender de autoridad personal y empieza a construir criterio compartido. Esa transicion mejora calidad de decision y reduce friccion organizacional.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Conversaciones dificiles y rol arquitectonico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El rol arquitectonico consiste en transformar ese conflicto en decisiones transparentes. No se trata de ganar discusiones, se trata de explicitar criterios: impacto en cliente, riesgo operativo, costo total y sostenibilidad de cambio.</a:t>
            </a:r>
          </a:p>
          <a:p>
            <a:pPr>
              <a:defRPr sz="1400">
                <a:solidFill>
                  <a:srgbClr val="262D36"/>
                </a:solidFill>
              </a:defRPr>
            </a:pPr>
            <a:r>
              <a:t>Cuando la conversacion se vuelve trazable, el equipo deja de depender de autoridad personal y empieza a construir criterio compartido. Esa transicion mejora calidad de decision y reduce friccion organizacional.</a:t>
            </a:r>
          </a:p>
          <a:p>
            <a:pPr>
              <a:defRPr sz="1400">
                <a:solidFill>
                  <a:srgbClr val="262D36"/>
                </a:solidFill>
              </a:defRPr>
            </a:pPr>
            <a:r>
              <a:t>Caso transversal: En retail digital, aceptar todos los pedidos en pico puede mejorar ventas de corto plazo y destruir experiencia por incumplimiento. La arquitectura debe sostener ese equilibrio con reglas claras.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4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En retail digital, aceptar todos los pedidos en pico puede mejorar ventas de corto plazo y destruir experiencia por incumplimiento. La arquitectura debe sostener ese equilibrio con reglas claras.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Conversaciones dificiles y rol arquitectonico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El rol arquitectonico consiste en transformar ese conflicto en decisiones transparentes. No se trata de ganar discusiones, se trata de explicitar criterios: impacto en cliente, riesgo operativo, costo total y sostenibilidad de cambio.</a:t>
            </a:r>
          </a:p>
          <a:p>
            <a:pPr>
              <a:defRPr sz="1400">
                <a:solidFill>
                  <a:srgbClr val="262D36"/>
                </a:solidFill>
              </a:defRPr>
            </a:pPr>
            <a:r>
              <a:t>Cuando la conversacion se vuelve trazable, el equipo deja de depender de autoridad personal y empieza a construir criterio compartido. Esa transicion mejora calidad de decision y reduce friccion organizacional.</a:t>
            </a:r>
          </a:p>
          <a:p>
            <a:pPr>
              <a:defRPr sz="1400">
                <a:solidFill>
                  <a:srgbClr val="262D36"/>
                </a:solidFill>
              </a:defRPr>
            </a:pPr>
            <a:r>
              <a:t>Caso transversal: En retail digital, aceptar todos los pedidos en pico puede mejorar ventas de corto plazo y destruir experiencia por incumplimiento. La arquitectura debe sostener ese equilibrio con reglas claras.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4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En retail digital, aceptar todos los pedidos en pico puede mejorar ventas de corto plazo y destruir experiencia por incumplimiento. La arquitectura debe sostener ese equilibrio con reglas claras.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Problema esencial y complejidad incidental</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Un error clasico es enamorarse de soluciones antes de formular bien el problema. En arquitectura, esa inversion de orden genera sistemas complejos que optimizan detalles secundarios y descuidan el objetivo principal del producto.</a:t>
            </a:r>
          </a:p>
          <a:p>
            <a:pPr>
              <a:defRPr sz="1500">
                <a:solidFill>
                  <a:srgbClr val="262D36"/>
                </a:solidFill>
              </a:defRPr>
            </a:pPr>
            <a:r>
              <a:t>El problema esencial es aquello que, si no se resuelve, invalida la propuesta de valor. Lo incidental son elecciones de herramienta o implementacion que pueden variar sin afectar la esencia del negocio.</a:t>
            </a:r>
          </a:p>
          <a:p>
            <a:pPr>
              <a:defRPr sz="1500">
                <a:solidFill>
                  <a:srgbClr val="262D36"/>
                </a:solidFill>
              </a:defRPr>
            </a:pPr>
            <a:r>
              <a:t>Separar ambos niveles evita sobredisenar y ayuda a mantener foco. Primero se protege el resultado de negocio; despues se elige la tecnologia que mejor lo habilita con el menor costo de complejidad.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Problema esencial y complejidad incidental</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El problema esencial es aquello que, si no se resuelve, invalida la propuesta de valor. Lo incidental son elecciones de herramienta o implementacion que pueden variar sin afectar la esencia del negocio.</a:t>
            </a:r>
          </a:p>
          <a:p>
            <a:pPr>
              <a:defRPr sz="1400">
                <a:solidFill>
                  <a:srgbClr val="262D36"/>
                </a:solidFill>
              </a:defRPr>
            </a:pPr>
            <a:r>
              <a:t>Separar ambos niveles evita sobredisenar y ayuda a mantener foco. Primero se protege el resultado de negocio; despues se elige la tecnologia que mejor lo habilita con el menor costo de complejidad.</a:t>
            </a:r>
          </a:p>
          <a:p>
            <a:pPr>
              <a:defRPr sz="1400">
                <a:solidFill>
                  <a:srgbClr val="262D36"/>
                </a:solidFill>
              </a:defRPr>
            </a:pPr>
            <a:r>
              <a:t>Caso transversal: Reducir retrasos y mejorar trazabilidad es esencial. Elegir entre dos frameworks equivalentes es incidental mientras ambos cumplan los objetivos de calidad y cambio.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5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Reducir retrasos y mejorar trazabilidad es esencial. Elegir entre dos frameworks equivalentes es incidental mientras ambos cumplan los objetivos de calidad y cambio.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Problema esencial y complejidad incidental</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El problema esencial es aquello que, si no se resuelve, invalida la propuesta de valor. Lo incidental son elecciones de herramienta o implementacion que pueden variar sin afectar la esencia del negocio.</a:t>
            </a:r>
          </a:p>
          <a:p>
            <a:pPr>
              <a:defRPr sz="1400">
                <a:solidFill>
                  <a:srgbClr val="262D36"/>
                </a:solidFill>
              </a:defRPr>
            </a:pPr>
            <a:r>
              <a:t>Separar ambos niveles evita sobredisenar y ayuda a mantener foco. Primero se protege el resultado de negocio; despues se elige la tecnologia que mejor lo habilita con el menor costo de complejidad.</a:t>
            </a:r>
          </a:p>
          <a:p>
            <a:pPr>
              <a:defRPr sz="1400">
                <a:solidFill>
                  <a:srgbClr val="262D36"/>
                </a:solidFill>
              </a:defRPr>
            </a:pPr>
            <a:r>
              <a:t>Caso transversal: Reducir retrasos y mejorar trazabilidad es esencial. Elegir entre dos frameworks equivalentes es incidental mientras ambos cumplan los objetivos de calidad y cambio.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5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Reducir retrasos y mejorar trazabilidad es esencial. Elegir entre dos frameworks equivalentes es incidental mientras ambos cumplan los objetivos de calidad y cambio.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Acoplamiento, cohesion y salud del sistema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La salud arquitectonica se percibe en la facilidad de cambio. Si una mejora pequena obliga a modificar demasiadas piezas, existe acoplamiento excesivo. Si cada modulo tiene una responsabilidad clara, la cohesion mejora y el sistema se vuelve maniobrable.</a:t>
            </a:r>
          </a:p>
          <a:p>
            <a:pPr>
              <a:defRPr sz="1500">
                <a:solidFill>
                  <a:srgbClr val="262D36"/>
                </a:solidFill>
              </a:defRPr>
            </a:pPr>
            <a:r>
              <a:t>Acoplamiento alto no solo complica codigo: tambien paraliza decisiones de negocio porque cada iniciativa parece riesgosa. Cohesion alta acelera entregas porque limita el impacto de cambio y facilita pruebas confiables.</a:t>
            </a:r>
          </a:p>
          <a:p>
            <a:pPr>
              <a:defRPr sz="1500">
                <a:solidFill>
                  <a:srgbClr val="262D36"/>
                </a:solidFill>
              </a:defRPr>
            </a:pPr>
            <a:r>
              <a:t>Observar dependencias, ciclos, duplicacion de reglas y fragilidad de despliegue permite detectar deterioro temprano y corregirlo antes de que la deuda se vuelva estructural.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Acoplamiento, cohesion y salud del sistema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Acoplamiento alto no solo complica codigo: tambien paraliza decisiones de negocio porque cada iniciativa parece riesgosa. Cohesion alta acelera entregas porque limita el impacto de cambio y facilita pruebas confiables.</a:t>
            </a:r>
          </a:p>
          <a:p>
            <a:pPr>
              <a:defRPr sz="1400">
                <a:solidFill>
                  <a:srgbClr val="262D36"/>
                </a:solidFill>
              </a:defRPr>
            </a:pPr>
            <a:r>
              <a:t>Observar dependencias, ciclos, duplicacion de reglas y fragilidad de despliegue permite detectar deterioro temprano y corregirlo antes de que la deuda se vuelva estructural.</a:t>
            </a:r>
          </a:p>
          <a:p>
            <a:pPr>
              <a:defRPr sz="1400">
                <a:solidFill>
                  <a:srgbClr val="262D36"/>
                </a:solidFill>
              </a:defRPr>
            </a:pPr>
            <a:r>
              <a:t>Caso transversal: Cuando pedidos conoce detalles de ruteo, pagos y notificaciones en la misma capa, conviene separar responsabilidades para recuperar control evolutivo.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6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Cuando pedidos conoce detalles de ruteo, pagos y notificaciones en la misma capa, conviene separar responsabilidades para recuperar control evolutivo.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Acoplamiento, cohesion y salud del sistema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Acoplamiento alto no solo complica codigo: tambien paraliza decisiones de negocio porque cada iniciativa parece riesgosa. Cohesion alta acelera entregas porque limita el impacto de cambio y facilita pruebas confiables.</a:t>
            </a:r>
          </a:p>
          <a:p>
            <a:pPr>
              <a:defRPr sz="1400">
                <a:solidFill>
                  <a:srgbClr val="262D36"/>
                </a:solidFill>
              </a:defRPr>
            </a:pPr>
            <a:r>
              <a:t>Observar dependencias, ciclos, duplicacion de reglas y fragilidad de despliegue permite detectar deterioro temprano y corregirlo antes de que la deuda se vuelva estructural.</a:t>
            </a:r>
          </a:p>
          <a:p>
            <a:pPr>
              <a:defRPr sz="1400">
                <a:solidFill>
                  <a:srgbClr val="262D36"/>
                </a:solidFill>
              </a:defRPr>
            </a:pPr>
            <a:r>
              <a:t>Caso transversal: Cuando pedidos conoce detalles de ruteo, pagos y notificaciones en la misma capa, conviene separar responsabilidades para recuperar control evolutivo.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6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Cuando pedidos conoce detalles de ruteo, pagos y notificaciones en la misma capa, conviene separar responsabilidades para recuperar control evolutivo.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Fronteras y contexto del sistema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Sin fronteras claras, la arquitectura se vuelve ambigua. Definir contexto significa declarar que responsabilidades son propias del sistema y cuales dependen de actores o plataformas externas.</a:t>
            </a:r>
          </a:p>
          <a:p>
            <a:pPr>
              <a:defRPr sz="1500">
                <a:solidFill>
                  <a:srgbClr val="262D36"/>
                </a:solidFill>
              </a:defRPr>
            </a:pPr>
            <a:r>
              <a:t>Ese mapa inicial ordena discusiones tecnicas y operativas. Permite diferenciar fallas internas de fallas de dependencia, definir contratos realistas y planear mecanismos de contingencia.</a:t>
            </a:r>
          </a:p>
          <a:p>
            <a:pPr>
              <a:defRPr sz="1500">
                <a:solidFill>
                  <a:srgbClr val="262D36"/>
                </a:solidFill>
              </a:defRPr>
            </a:pPr>
            <a:r>
              <a:t>Las fronteras bien descritas tambien facilitan gobernanza: ownership de equipos, rutas de escalamiento e impacto de cambios en cada interfaz.</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Fronteras y contexto del sistema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Ese mapa inicial ordena discusiones tecnicas y operativas. Permite diferenciar fallas internas de fallas de dependencia, definir contratos realistas y planear mecanismos de contingencia.</a:t>
            </a:r>
          </a:p>
          <a:p>
            <a:pPr>
              <a:defRPr sz="1400">
                <a:solidFill>
                  <a:srgbClr val="262D36"/>
                </a:solidFill>
              </a:defRPr>
            </a:pPr>
            <a:r>
              <a:t>Las fronteras bien descritas tambien facilitan gobernanza: ownership de equipos, rutas de escalamiento e impacto de cambios en cada interfaz.</a:t>
            </a:r>
          </a:p>
          <a:p>
            <a:pPr>
              <a:defRPr sz="1400">
                <a:solidFill>
                  <a:srgbClr val="262D36"/>
                </a:solidFill>
              </a:defRPr>
            </a:pPr>
            <a:r>
              <a:t>Caso transversal: En ultima milla, pagos, mapas y ERP son externos. El sistema central debe protegerse con contratos, reintentos y observabilidad sin asumir control que no posee.</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7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En ultima milla, pagos, mapas y ERP son externos. El sistema central debe protegerse con contratos, reintentos y observabilidad sin asumir control que no posee.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Fronteras y contexto del sistema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Ese mapa inicial ordena discusiones tecnicas y operativas. Permite diferenciar fallas internas de fallas de dependencia, definir contratos realistas y planear mecanismos de contingencia.</a:t>
            </a:r>
          </a:p>
          <a:p>
            <a:pPr>
              <a:defRPr sz="1400">
                <a:solidFill>
                  <a:srgbClr val="262D36"/>
                </a:solidFill>
              </a:defRPr>
            </a:pPr>
            <a:r>
              <a:t>Las fronteras bien descritas tambien facilitan gobernanza: ownership de equipos, rutas de escalamiento e impacto de cambios en cada interfaz.</a:t>
            </a:r>
          </a:p>
          <a:p>
            <a:pPr>
              <a:defRPr sz="1400">
                <a:solidFill>
                  <a:srgbClr val="262D36"/>
                </a:solidFill>
              </a:defRPr>
            </a:pPr>
            <a:r>
              <a:t>Caso transversal: En ultima milla, pagos, mapas y ERP son externos. El sistema central debe protegerse con contratos, reintentos y observabilidad sin asumir control que no posee.</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7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En ultima milla, pagos, mapas y ERP son externos. El sistema central debe protegerse con contratos, reintentos y observabilidad sin asumir control que no posee.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Requisitos que realmente mueven arquitectura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No todo requisito tiene peso arquitectonico. Algunos cambian presentacion; otros exigen decisiones de estructura, datos o integracion. Identificar esa diferencia temprano ahorra meses de retrabajo.</a:t>
            </a:r>
          </a:p>
          <a:p>
            <a:pPr>
              <a:defRPr sz="1500">
                <a:solidFill>
                  <a:srgbClr val="262D36"/>
                </a:solidFill>
              </a:defRPr>
            </a:pPr>
            <a:r>
              <a:t>Priorizar requiere mirar valor de negocio, criticidad operativa, dependencia tecnica y costo de incumplimiento. Esta mezcla evita roadmaps vistosos pero poco estrategicos.</a:t>
            </a:r>
          </a:p>
          <a:p>
            <a:pPr>
              <a:defRPr sz="1500">
                <a:solidFill>
                  <a:srgbClr val="262D36"/>
                </a:solidFill>
              </a:defRPr>
            </a:pPr>
            <a:r>
              <a:t>Cuando la priorizacion es explicita, la arquitectura responde a lo que mas impacta resultado y no a lo que suena mas urgente en la semana.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Requisitos que realmente mueven arquitectura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Priorizar requiere mirar valor de negocio, criticidad operativa, dependencia tecnica y costo de incumplimiento. Esta mezcla evita roadmaps vistosos pero poco estrategicos.</a:t>
            </a:r>
          </a:p>
          <a:p>
            <a:pPr>
              <a:defRPr sz="1400">
                <a:solidFill>
                  <a:srgbClr val="262D36"/>
                </a:solidFill>
              </a:defRPr>
            </a:pPr>
            <a:r>
              <a:t>Cuando la priorizacion es explicita, la arquitectura responde a lo que mas impacta resultado y no a lo que suena mas urgente en la semana.</a:t>
            </a:r>
          </a:p>
          <a:p>
            <a:pPr>
              <a:defRPr sz="1400">
                <a:solidFill>
                  <a:srgbClr val="262D36"/>
                </a:solidFill>
              </a:defRPr>
            </a:pPr>
            <a:r>
              <a:t>Caso transversal: Reasignar rutas en segundos durante incidentes afecta estructura y observabilidad. Cambiar etiquetas de interfaz no tiene ese mismo peso.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8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Reasignar rutas en segundos durante incidentes afecta estructura y observabilidad. Cambiar etiquetas de interfaz no tiene ese mismo peso.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Requisitos que realmente mueven arquitectura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Priorizar requiere mirar valor de negocio, criticidad operativa, dependencia tecnica y costo de incumplimiento. Esta mezcla evita roadmaps vistosos pero poco estrategicos.</a:t>
            </a:r>
          </a:p>
          <a:p>
            <a:pPr>
              <a:defRPr sz="1400">
                <a:solidFill>
                  <a:srgbClr val="262D36"/>
                </a:solidFill>
              </a:defRPr>
            </a:pPr>
            <a:r>
              <a:t>Cuando la priorizacion es explicita, la arquitectura responde a lo que mas impacta resultado y no a lo que suena mas urgente en la semana.</a:t>
            </a:r>
          </a:p>
          <a:p>
            <a:pPr>
              <a:defRPr sz="1400">
                <a:solidFill>
                  <a:srgbClr val="262D36"/>
                </a:solidFill>
              </a:defRPr>
            </a:pPr>
            <a:r>
              <a:t>Caso transversal: Reasignar rutas en segundos durante incidentes afecta estructura y observabilidad. Cambiar etiquetas de interfaz no tiene ese mismo peso.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8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Reasignar rutas en segundos durante incidentes afecta estructura y observabilidad. Cambiar etiquetas de interfaz no tiene ese mismo peso.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Calidad medible como base de decision</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Calidad expresada como adjetivo no sirve para decidir. Rapido, seguro o escalable necesitan definicion cuantitativa: en que escenario, bajo que carga y con que umbral aceptable.</a:t>
            </a:r>
          </a:p>
          <a:p>
            <a:pPr>
              <a:defRPr sz="1500">
                <a:solidFill>
                  <a:srgbClr val="262D36"/>
                </a:solidFill>
              </a:defRPr>
            </a:pPr>
            <a:r>
              <a:t>Los escenarios de calidad convierten aspiraciones en criterios verificables. Gracias a ellos, dos alternativas se comparan por evidencia y no por percepcion.</a:t>
            </a:r>
          </a:p>
          <a:p>
            <a:pPr>
              <a:defRPr sz="1500">
                <a:solidFill>
                  <a:srgbClr val="262D36"/>
                </a:solidFill>
              </a:defRPr>
            </a:pPr>
            <a:r>
              <a:t>Este enfoque vuelve mas objetiva la conversacion con negocio y mejora trazabilidad de compromisos tecnicos en el tiempo.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Calidad medible como base de decision</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Los escenarios de calidad convierten aspiraciones en criterios verificables. Gracias a ellos, dos alternativas se comparan por evidencia y no por percepcion.</a:t>
            </a:r>
          </a:p>
          <a:p>
            <a:pPr>
              <a:defRPr sz="1400">
                <a:solidFill>
                  <a:srgbClr val="262D36"/>
                </a:solidFill>
              </a:defRPr>
            </a:pPr>
            <a:r>
              <a:t>Este enfoque vuelve mas objetiva la conversacion con negocio y mejora trazabilidad de compromisos tecnicos en el tiempo.</a:t>
            </a:r>
          </a:p>
          <a:p>
            <a:pPr>
              <a:defRPr sz="1400">
                <a:solidFill>
                  <a:srgbClr val="262D36"/>
                </a:solidFill>
              </a:defRPr>
            </a:pPr>
            <a:r>
              <a:t>Caso transversal: Si pedidos debe responder en menos de dos segundos con carga pico, la arquitectura debe proteger camino critico y aislar procesos no urgentes.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9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pedidos debe responder en menos de dos segundos con carga pico, la arquitectura debe proteger camino critico y aislar procesos no urgentes.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Calidad medible como base de decision</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Los escenarios de calidad convierten aspiraciones en criterios verificables. Gracias a ellos, dos alternativas se comparan por evidencia y no por percepcion.</a:t>
            </a:r>
          </a:p>
          <a:p>
            <a:pPr>
              <a:defRPr sz="1400">
                <a:solidFill>
                  <a:srgbClr val="262D36"/>
                </a:solidFill>
              </a:defRPr>
            </a:pPr>
            <a:r>
              <a:t>Este enfoque vuelve mas objetiva la conversacion con negocio y mejora trazabilidad de compromisos tecnicos en el tiempo.</a:t>
            </a:r>
          </a:p>
          <a:p>
            <a:pPr>
              <a:defRPr sz="1400">
                <a:solidFill>
                  <a:srgbClr val="262D36"/>
                </a:solidFill>
              </a:defRPr>
            </a:pPr>
            <a:r>
              <a:t>Caso transversal: Si pedidos debe responder en menos de dos segundos con carga pico, la arquitectura debe proteger camino critico y aislar procesos no urgentes.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9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pedidos debe responder en menos de dos segundos con carga pico, la arquitectura debe proteger camino critico y aislar procesos no urgentes.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total de operacion y costo de cambio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El costo real de una arquitectura no termina al desplegar la primera version. Incluye soporte, monitoreo, incidentes, evolucion funcional y entrenamiento del equipo.</a:t>
            </a:r>
          </a:p>
          <a:p>
            <a:pPr>
              <a:defRPr sz="1500">
                <a:solidFill>
                  <a:srgbClr val="262D36"/>
                </a:solidFill>
              </a:defRPr>
            </a:pPr>
            <a:r>
              <a:t>Evaluar costo de cambio es crucial: cuanto esfuerzo exige adaptar una regla central sin afectar estabilidad. Un sistema barato de construir puede ser carisimo de mantener.</a:t>
            </a:r>
          </a:p>
          <a:p>
            <a:pPr>
              <a:defRPr sz="1500">
                <a:solidFill>
                  <a:srgbClr val="262D36"/>
                </a:solidFill>
              </a:defRPr>
            </a:pPr>
            <a:r>
              <a:t>La mirada de ciclo de vida evita decisiones de corto plazo que comprometen sostenibilidad financiera y tecnica.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total de operacion y costo de cambio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Evaluar costo de cambio es crucial: cuanto esfuerzo exige adaptar una regla central sin afectar estabilidad. Un sistema barato de construir puede ser carisimo de mantener.</a:t>
            </a:r>
          </a:p>
          <a:p>
            <a:pPr>
              <a:defRPr sz="1400">
                <a:solidFill>
                  <a:srgbClr val="262D36"/>
                </a:solidFill>
              </a:defRPr>
            </a:pPr>
            <a:r>
              <a:t>La mirada de ciclo de vida evita decisiones de corto plazo que comprometen sostenibilidad financiera y tecnica.</a:t>
            </a:r>
          </a:p>
          <a:p>
            <a:pPr>
              <a:defRPr sz="1400">
                <a:solidFill>
                  <a:srgbClr val="262D36"/>
                </a:solidFill>
              </a:defRPr>
            </a:pPr>
            <a:r>
              <a:t>Caso transversal: Separar responsabilidades desde el inicio puede aumentar esfuerzo inicial, pero reduce costo de adaptacion cuando cambian reglas de entrega o integraciones externas.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0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Separar responsabilidades desde el inicio puede aumentar esfuerzo inicial, pero reduce costo de adaptacion cuando cambian reglas de entrega o integraciones externas.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total de operacion y costo de cambio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Evaluar costo de cambio es crucial: cuanto esfuerzo exige adaptar una regla central sin afectar estabilidad. Un sistema barato de construir puede ser carisimo de mantener.</a:t>
            </a:r>
          </a:p>
          <a:p>
            <a:pPr>
              <a:defRPr sz="1400">
                <a:solidFill>
                  <a:srgbClr val="262D36"/>
                </a:solidFill>
              </a:defRPr>
            </a:pPr>
            <a:r>
              <a:t>La mirada de ciclo de vida evita decisiones de corto plazo que comprometen sostenibilidad financiera y tecnica.</a:t>
            </a:r>
          </a:p>
          <a:p>
            <a:pPr>
              <a:defRPr sz="1400">
                <a:solidFill>
                  <a:srgbClr val="262D36"/>
                </a:solidFill>
              </a:defRPr>
            </a:pPr>
            <a:r>
              <a:t>Caso transversal: Separar responsabilidades desde el inicio puede aumentar esfuerzo inicial, pero reduce costo de adaptacion cuando cambian reglas de entrega o integraciones externas.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0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Separar responsabilidades desde el inicio puede aumentar esfuerzo inicial, pero reduce costo de adaptacion cuando cambian reglas de entrega o integraciones externas.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Disenar para incertidumbre</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Toda arquitectura nace con incertidumbre: demanda, comportamiento de usuarios, performance de proveedores y madurez del equipo. Fingir certeza total produce disenos rigidos y caros de corregir.</a:t>
            </a:r>
          </a:p>
          <a:p>
            <a:pPr>
              <a:defRPr sz="1500">
                <a:solidFill>
                  <a:srgbClr val="262D36"/>
                </a:solidFill>
              </a:defRPr>
            </a:pPr>
            <a:r>
              <a:t>La estrategia sensata es identificar supuestos, priorizar decisiones reversibles y ejecutar experimentos pequenos que reduzcan riesgo antes de comprometer grandes inversiones.</a:t>
            </a:r>
          </a:p>
          <a:p>
            <a:pPr>
              <a:defRPr sz="1500">
                <a:solidFill>
                  <a:srgbClr val="262D36"/>
                </a:solidFill>
              </a:defRPr>
            </a:pPr>
            <a:r>
              <a:t>Disenar para incertidumbre no es improvisar; es aprender sistematicamente y ajustar con disciplina.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Disenar para incertidumbre</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La estrategia sensata es identificar supuestos, priorizar decisiones reversibles y ejecutar experimentos pequenos que reduzcan riesgo antes de comprometer grandes inversiones.</a:t>
            </a:r>
          </a:p>
          <a:p>
            <a:pPr>
              <a:defRPr sz="1400">
                <a:solidFill>
                  <a:srgbClr val="262D36"/>
                </a:solidFill>
              </a:defRPr>
            </a:pPr>
            <a:r>
              <a:t>Disenar para incertidumbre no es improvisar; es aprender sistematicamente y ajustar con disciplina.</a:t>
            </a:r>
          </a:p>
          <a:p>
            <a:pPr>
              <a:defRPr sz="1400">
                <a:solidFill>
                  <a:srgbClr val="262D36"/>
                </a:solidFill>
              </a:defRPr>
            </a:pPr>
            <a:r>
              <a:t>Caso transversal: Validar un flujo asincrono en un componente acotado antes de expandirlo al sistema completo reduce probabilidad de fallas estructurales.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1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Validar un flujo asincrono en un componente acotado antes de expandirlo al sistema completo reduce probabilidad de fallas estructurales.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Disenar para incertidumbre</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La estrategia sensata es identificar supuestos, priorizar decisiones reversibles y ejecutar experimentos pequenos que reduzcan riesgo antes de comprometer grandes inversiones.</a:t>
            </a:r>
          </a:p>
          <a:p>
            <a:pPr>
              <a:defRPr sz="1400">
                <a:solidFill>
                  <a:srgbClr val="262D36"/>
                </a:solidFill>
              </a:defRPr>
            </a:pPr>
            <a:r>
              <a:t>Disenar para incertidumbre no es improvisar; es aprender sistematicamente y ajustar con disciplina.</a:t>
            </a:r>
          </a:p>
          <a:p>
            <a:pPr>
              <a:defRPr sz="1400">
                <a:solidFill>
                  <a:srgbClr val="262D36"/>
                </a:solidFill>
              </a:defRPr>
            </a:pPr>
            <a:r>
              <a:t>Caso transversal: Validar un flujo asincrono en un componente acotado antes de expandirlo al sistema completo reduce probabilidad de fallas estructurales.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1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Validar un flujo asincrono en un componente acotado antes de expandirlo al sistema completo reduce probabilidad de fallas estructurales.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Elegir estructura con criterios y no con modas</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Cada estilo arquitectonico resuelve ciertos problemas y trae costos concretos. Elegir por tendencia suele ocultar esas concesiones hasta que aparecen en produccion.</a:t>
            </a:r>
          </a:p>
          <a:p>
            <a:pPr>
              <a:defRPr sz="1500">
                <a:solidFill>
                  <a:srgbClr val="262D36"/>
                </a:solidFill>
              </a:defRPr>
            </a:pPr>
            <a:r>
              <a:t>Elegir con criterio implica ponderar contexto: presupuesto, tamano de equipo, horizonte de crecimiento, criticidad operativa y tolerancia a complejidad.</a:t>
            </a:r>
          </a:p>
          <a:p>
            <a:pPr>
              <a:defRPr sz="1500">
                <a:solidFill>
                  <a:srgbClr val="262D36"/>
                </a:solidFill>
              </a:defRPr>
            </a:pPr>
            <a:r>
              <a:t>Cuando esos criterios son publicos, la decision se vuelve defendible ante negocio y tecnica por igual.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Elegir estructura con criterios y no con modas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Elegir con criterio implica ponderar contexto: presupuesto, tamano de equipo, horizonte de crecimiento, criticidad operativa y tolerancia a complejidad.</a:t>
            </a:r>
          </a:p>
          <a:p>
            <a:pPr>
              <a:defRPr sz="1400">
                <a:solidFill>
                  <a:srgbClr val="262D36"/>
                </a:solidFill>
              </a:defRPr>
            </a:pPr>
            <a:r>
              <a:t>Cuando esos criterios son publicos, la decision se vuelve defendible ante negocio y tecnica por igual.</a:t>
            </a:r>
          </a:p>
          <a:p>
            <a:pPr>
              <a:defRPr sz="1400">
                <a:solidFill>
                  <a:srgbClr val="262D36"/>
                </a:solidFill>
              </a:defRPr>
            </a:pPr>
            <a:r>
              <a:t>Caso transversal: Para un equipo pequeno con crecimiento moderado, un monolito modular puede ofrecer mejor relacion valor-complejidad que una separacion temprana en muchos servicios.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2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Para un equipo pequeno con crecimiento moderado, un monolito modular puede ofrecer mejor relacion valor-complejidad que una separacion temprana en muchos servicios.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Elegir estructura con criterios y no con modas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Elegir con criterio implica ponderar contexto: presupuesto, tamano de equipo, horizonte de crecimiento, criticidad operativa y tolerancia a complejidad.</a:t>
            </a:r>
          </a:p>
          <a:p>
            <a:pPr>
              <a:defRPr sz="1400">
                <a:solidFill>
                  <a:srgbClr val="262D36"/>
                </a:solidFill>
              </a:defRPr>
            </a:pPr>
            <a:r>
              <a:t>Cuando esos criterios son publicos, la decision se vuelve defendible ante negocio y tecnica por igual.</a:t>
            </a:r>
          </a:p>
          <a:p>
            <a:pPr>
              <a:defRPr sz="1400">
                <a:solidFill>
                  <a:srgbClr val="262D36"/>
                </a:solidFill>
              </a:defRPr>
            </a:pPr>
            <a:r>
              <a:t>Caso transversal: Para un equipo pequeno con crecimiento moderado, un monolito modular puede ofrecer mejor relacion valor-complejidad que una separacion temprana en muchos servicios.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2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Para un equipo pequeno con crecimiento moderado, un monolito modular puede ofrecer mejor relacion valor-complejidad que una separacion temprana en muchos servicios.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Capas que protegen de verdad</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Separar por capas no es un ejercicio estetico. Su objetivo es evitar que detalles transitorios contaminen reglas de negocio que deberian permanecer estables.</a:t>
            </a:r>
          </a:p>
          <a:p>
            <a:pPr>
              <a:defRPr sz="1500">
                <a:solidFill>
                  <a:srgbClr val="262D36"/>
                </a:solidFill>
              </a:defRPr>
            </a:pPr>
            <a:r>
              <a:t>Cuando la capa externa domina a la interna, el sistema se vuelve fragil. Cuando la direccion de dependencias protege el nucleo, el cambio se vuelve mas seguro.</a:t>
            </a:r>
          </a:p>
          <a:p>
            <a:pPr>
              <a:defRPr sz="1500">
                <a:solidFill>
                  <a:srgbClr val="262D36"/>
                </a:solidFill>
              </a:defRPr>
            </a:pPr>
            <a:r>
              <a:t>La arquitectura por capas funciona si cada capa tiene frontera real y reglas de acceso verificables.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Capas que protegen de verdad</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Cuando la capa externa domina a la interna, el sistema se vuelve fragil. Cuando la direccion de dependencias protege el nucleo, el cambio se vuelve mas seguro.</a:t>
            </a:r>
          </a:p>
          <a:p>
            <a:pPr>
              <a:defRPr sz="1400">
                <a:solidFill>
                  <a:srgbClr val="262D36"/>
                </a:solidFill>
              </a:defRPr>
            </a:pPr>
            <a:r>
              <a:t>La arquitectura por capas funciona si cada capa tiene frontera real y reglas de acceso verificables.</a:t>
            </a:r>
          </a:p>
          <a:p>
            <a:pPr>
              <a:defRPr sz="1400">
                <a:solidFill>
                  <a:srgbClr val="262D36"/>
                </a:solidFill>
              </a:defRPr>
            </a:pPr>
            <a:r>
              <a:t>Caso transversal: El caso de uso crear pedido deberia probarse sin servidor HTTP ni base real. Si no es posible, el limite entre capas esta roto.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3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El caso de uso crear pedido deberia probarse sin servidor HTTP ni base real. Si no es posible, el limite entre capas esta roto.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Capas que protegen de verdad</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Cuando la capa externa domina a la interna, el sistema se vuelve fragil. Cuando la direccion de dependencias protege el nucleo, el cambio se vuelve mas seguro.</a:t>
            </a:r>
          </a:p>
          <a:p>
            <a:pPr>
              <a:defRPr sz="1400">
                <a:solidFill>
                  <a:srgbClr val="262D36"/>
                </a:solidFill>
              </a:defRPr>
            </a:pPr>
            <a:r>
              <a:t>La arquitectura por capas funciona si cada capa tiene frontera real y reglas de acceso verificables.</a:t>
            </a:r>
          </a:p>
          <a:p>
            <a:pPr>
              <a:defRPr sz="1400">
                <a:solidFill>
                  <a:srgbClr val="262D36"/>
                </a:solidFill>
              </a:defRPr>
            </a:pPr>
            <a:r>
              <a:t>Caso transversal: El caso de uso crear pedido deberia probarse sin servidor HTTP ni base real. Si no es posible, el limite entre capas esta roto.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3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El caso de uso crear pedido deberia probarse sin servidor HTTP ni base real. Si no es posible, el limite entre capas esta roto.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Monolito modular como punto de partida sano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Un monolito modular bien disenado puede ser una estrategia altamente profesional. Permite velocidad inicial sin renunciar a orden interno y prepara una evolucion gradual.</a:t>
            </a:r>
          </a:p>
          <a:p>
            <a:pPr>
              <a:defRPr sz="1500">
                <a:solidFill>
                  <a:srgbClr val="262D36"/>
                </a:solidFill>
              </a:defRPr>
            </a:pPr>
            <a:r>
              <a:t>La clave esta en definir modulos por responsabilidad de negocio, no por conveniencia tecnica del framework. Cada modulo necesita contratos y limites claros.</a:t>
            </a:r>
          </a:p>
          <a:p>
            <a:pPr>
              <a:defRPr sz="1500">
                <a:solidFill>
                  <a:srgbClr val="262D36"/>
                </a:solidFill>
              </a:defRPr>
            </a:pPr>
            <a:r>
              <a:t>Con esta base, el sistema puede escalar organizacionalmente antes de escalar topologicamente.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Monolito modular como punto de partida sano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La clave esta en definir modulos por responsabilidad de negocio, no por conveniencia tecnica del framework. Cada modulo necesita contratos y limites claros.</a:t>
            </a:r>
          </a:p>
          <a:p>
            <a:pPr>
              <a:defRPr sz="1400">
                <a:solidFill>
                  <a:srgbClr val="262D36"/>
                </a:solidFill>
              </a:defRPr>
            </a:pPr>
            <a:r>
              <a:t>Con esta base, el sistema puede escalar organizacionalmente antes de escalar topologicamente.</a:t>
            </a:r>
          </a:p>
          <a:p>
            <a:pPr>
              <a:defRPr sz="1400">
                <a:solidFill>
                  <a:srgbClr val="262D36"/>
                </a:solidFill>
              </a:defRPr>
            </a:pPr>
            <a:r>
              <a:t>Caso transversal: Pedidos, inventario, ruteo e incidencias pueden convivir en un despliegue unico mientras mantengan interfaces internas estables y pruebas por frontera.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4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Pedidos, inventario, ruteo e incidencias pueden convivir en un despliegue unico mientras mantengan interfaces internas estables y pruebas por frontera.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Monolito modular como punto de partida sano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La clave esta en definir modulos por responsabilidad de negocio, no por conveniencia tecnica del framework. Cada modulo necesita contratos y limites claros.</a:t>
            </a:r>
          </a:p>
          <a:p>
            <a:pPr>
              <a:defRPr sz="1400">
                <a:solidFill>
                  <a:srgbClr val="262D36"/>
                </a:solidFill>
              </a:defRPr>
            </a:pPr>
            <a:r>
              <a:t>Con esta base, el sistema puede escalar organizacionalmente antes de escalar topologicamente.</a:t>
            </a:r>
          </a:p>
          <a:p>
            <a:pPr>
              <a:defRPr sz="1400">
                <a:solidFill>
                  <a:srgbClr val="262D36"/>
                </a:solidFill>
              </a:defRPr>
            </a:pPr>
            <a:r>
              <a:t>Caso transversal: Pedidos, inventario, ruteo e incidencias pueden convivir en un despliegue unico mientras mantengan interfaces internas estables y pruebas por frontera.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4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Pedidos, inventario, ruteo e incidencias pueden convivir en un despliegue unico mientras mantengan interfaces internas estables y pruebas por frontera.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Contratos evolutivos para servicios e integraciones</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Los contratos son acuerdos tecnicos de negocio: que se env ia, que se responde, que errores existen y como evoluciona la interfaz sin romper consumidores.</a:t>
            </a:r>
          </a:p>
          <a:p>
            <a:pPr>
              <a:defRPr sz="1500">
                <a:solidFill>
                  <a:srgbClr val="262D36"/>
                </a:solidFill>
              </a:defRPr>
            </a:pPr>
            <a:r>
              <a:t>Sin disciplina de contrato, cada cambio interno genera friccion externa. Con versionado y compatibilidad, la evolucion se vuelve predecible.</a:t>
            </a:r>
          </a:p>
          <a:p>
            <a:pPr>
              <a:defRPr sz="1500">
                <a:solidFill>
                  <a:srgbClr val="262D36"/>
                </a:solidFill>
              </a:defRPr>
            </a:pPr>
            <a:r>
              <a:t>La calidad de una arquitectura distribuida depende en gran medida de la calidad de sus contratos.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Contratos evolutivos para servicios e integraciones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Sin disciplina de contrato, cada cambio interno genera friccion externa. Con versionado y compatibilidad, la evolucion se vuelve predecible.</a:t>
            </a:r>
          </a:p>
          <a:p>
            <a:pPr>
              <a:defRPr sz="1400">
                <a:solidFill>
                  <a:srgbClr val="262D36"/>
                </a:solidFill>
              </a:defRPr>
            </a:pPr>
            <a:r>
              <a:t>La calidad de una arquitectura distribuida depende en gran medida de la calidad de sus contratos.</a:t>
            </a:r>
          </a:p>
          <a:p>
            <a:pPr>
              <a:defRPr sz="1400">
                <a:solidFill>
                  <a:srgbClr val="262D36"/>
                </a:solidFill>
              </a:defRPr>
            </a:pPr>
            <a:r>
              <a:t>Caso transversal: Una regla nueva en asignacion de repartidores no deberia invalidar clientes existentes si el contrato mantiene compatibilidad y semantica estable.</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5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Una regla nueva en asignacion de repartidores no deberia invalidar clientes existentes si el contrato mantiene compatibilidad y semantica estable.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Contratos evolutivos para servicios e integraciones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Sin disciplina de contrato, cada cambio interno genera friccion externa. Con versionado y compatibilidad, la evolucion se vuelve predecible.</a:t>
            </a:r>
          </a:p>
          <a:p>
            <a:pPr>
              <a:defRPr sz="1400">
                <a:solidFill>
                  <a:srgbClr val="262D36"/>
                </a:solidFill>
              </a:defRPr>
            </a:pPr>
            <a:r>
              <a:t>La calidad de una arquitectura distribuida depende en gran medida de la calidad de sus contratos.</a:t>
            </a:r>
          </a:p>
          <a:p>
            <a:pPr>
              <a:defRPr sz="1400">
                <a:solidFill>
                  <a:srgbClr val="262D36"/>
                </a:solidFill>
              </a:defRPr>
            </a:pPr>
            <a:r>
              <a:t>Caso transversal: Una regla nueva en asignacion de repartidores no deberia invalidar clientes existentes si el contrato mantiene compatibilidad y semantica estable.</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5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Una regla nueva en asignacion de repartidores no deberia invalidar clientes existentes si el contrato mantiene compatibilidad y semantica estable.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Eventos, consistencia y recuperacion</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Arquitectura orientada a eventos aporta desacoplamiento, pero exige madurez en consistencia y recuperacion. En sistemas reales, los mensajes se duplican, se retrasan o llegan fuera de orden.</a:t>
            </a:r>
          </a:p>
          <a:p>
            <a:pPr>
              <a:defRPr sz="1500">
                <a:solidFill>
                  <a:srgbClr val="262D36"/>
                </a:solidFill>
              </a:defRPr>
            </a:pPr>
            <a:r>
              <a:t>Por eso se necesitan idempotencia, reintentos controlados, trazabilidad y estrategias de compensacion. Sin esos mecanismos, la asincronia se convierte en fuente de errores silenciosos.</a:t>
            </a:r>
          </a:p>
          <a:p>
            <a:pPr>
              <a:defRPr sz="1500">
                <a:solidFill>
                  <a:srgbClr val="262D36"/>
                </a:solidFill>
              </a:defRPr>
            </a:pPr>
            <a:r>
              <a:t>Una buena arquitectura de eventos no promete ausencia de fallos; promete capacidad de detectar, aislar y corregir fallos sin colapsar el negocio.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Eventos, consistencia y recuperacion</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Por eso se necesitan idempotencia, reintentos controlados, trazabilidad y estrategias de compensacion. Sin esos mecanismos, la asincronia se convierte en fuente de errores silenciosos.</a:t>
            </a:r>
          </a:p>
          <a:p>
            <a:pPr>
              <a:defRPr sz="1400">
                <a:solidFill>
                  <a:srgbClr val="262D36"/>
                </a:solidFill>
              </a:defRPr>
            </a:pPr>
            <a:r>
              <a:t>Una buena arquitectura de eventos no promete ausencia de fallos; promete capacidad de detectar, aislar y corregir fallos sin colapsar el negocio.</a:t>
            </a:r>
          </a:p>
          <a:p>
            <a:pPr>
              <a:defRPr sz="1400">
                <a:solidFill>
                  <a:srgbClr val="262D36"/>
                </a:solidFill>
              </a:defRPr>
            </a:pPr>
            <a:r>
              <a:t>Caso transversal: Si pago confirma y ruteo falla, el sistema debe reintentar o compensar de forma automatizada con trazabilidad completa para soporte.</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6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pago confirma y ruteo falla, el sistema debe reintentar o compensar de forma automatizada con trazabilidad completa para soporte.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Eventos, consistencia y recuperacion</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Por eso se necesitan idempotencia, reintentos controlados, trazabilidad y estrategias de compensacion. Sin esos mecanismos, la asincronia se convierte en fuente de errores silenciosos.</a:t>
            </a:r>
          </a:p>
          <a:p>
            <a:pPr>
              <a:defRPr sz="1400">
                <a:solidFill>
                  <a:srgbClr val="262D36"/>
                </a:solidFill>
              </a:defRPr>
            </a:pPr>
            <a:r>
              <a:t>Una buena arquitectura de eventos no promete ausencia de fallos; promete capacidad de detectar, aislar y corregir fallos sin colapsar el negocio.</a:t>
            </a:r>
          </a:p>
          <a:p>
            <a:pPr>
              <a:defRPr sz="1400">
                <a:solidFill>
                  <a:srgbClr val="262D36"/>
                </a:solidFill>
              </a:defRPr>
            </a:pPr>
            <a:r>
              <a:t>Caso transversal: Si pago confirma y ruteo falla, el sistema debe reintentar o compensar de forma automatizada con trazabilidad completa para soporte.</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6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pago confirma y ruteo falla, el sistema debe reintentar o compensar de forma automatizada con trazabilidad completa para soporte.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Microservicios: criterio antes que entusiasmo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Microservicios pueden aportar autonomia y escalado selectivo, pero tambien elevan costos de observabilidad, despliegue, seguridad y coordinacion de equipos.</a:t>
            </a:r>
          </a:p>
          <a:p>
            <a:pPr>
              <a:defRPr sz="1500">
                <a:solidFill>
                  <a:srgbClr val="262D36"/>
                </a:solidFill>
              </a:defRPr>
            </a:pPr>
            <a:r>
              <a:t>Adoptarlos con baja madurez operativa genera sistemas distribuidos imposibles de gobernar. El resultado suele ser menos velocidad y mas incidentes.</a:t>
            </a:r>
          </a:p>
          <a:p>
            <a:pPr>
              <a:defRPr sz="1500">
                <a:solidFill>
                  <a:srgbClr val="262D36"/>
                </a:solidFill>
              </a:defRPr>
            </a:pPr>
            <a:r>
              <a:t>La decision correcta no es la mas moderna: es la que el contexto puede sostener con calidad.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Microservicios: criterio antes que entusiasmo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Adoptarlos con baja madurez operativa genera sistemas distribuidos imposibles de gobernar. El resultado suele ser menos velocidad y mas incidentes.</a:t>
            </a:r>
          </a:p>
          <a:p>
            <a:pPr>
              <a:defRPr sz="1400">
                <a:solidFill>
                  <a:srgbClr val="262D36"/>
                </a:solidFill>
              </a:defRPr>
            </a:pPr>
            <a:r>
              <a:t>La decision correcta no es la mas moderna: es la que el contexto puede sostener con calidad.</a:t>
            </a:r>
          </a:p>
          <a:p>
            <a:pPr>
              <a:defRPr sz="1400">
                <a:solidFill>
                  <a:srgbClr val="262D36"/>
                </a:solidFill>
              </a:defRPr>
            </a:pPr>
            <a:r>
              <a:t>Caso transversal: Si aun no existen metricas claras, pipelines confiables y ownership de dominios, conviene fortalecer base modular antes de fragmentar el sistema.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7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aun no existen metricas claras, pipelines confiables y ownership de dominios, conviene fortalecer base modular antes de fragmentar el sistema.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Microservicios: criterio antes que entusiasmo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Adoptarlos con baja madurez operativa genera sistemas distribuidos imposibles de gobernar. El resultado suele ser menos velocidad y mas incidentes.</a:t>
            </a:r>
          </a:p>
          <a:p>
            <a:pPr>
              <a:defRPr sz="1400">
                <a:solidFill>
                  <a:srgbClr val="262D36"/>
                </a:solidFill>
              </a:defRPr>
            </a:pPr>
            <a:r>
              <a:t>La decision correcta no es la mas moderna: es la que el contexto puede sostener con calidad.</a:t>
            </a:r>
          </a:p>
          <a:p>
            <a:pPr>
              <a:defRPr sz="1400">
                <a:solidFill>
                  <a:srgbClr val="262D36"/>
                </a:solidFill>
              </a:defRPr>
            </a:pPr>
            <a:r>
              <a:t>Caso transversal: Si aun no existen metricas claras, pipelines confiables y ownership de dominios, conviene fortalecer base modular antes de fragmentar el sistema.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7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aun no existen metricas claras, pipelines confiables y ownership de dominios, conviene fortalecer base modular antes de fragmentar el sistema.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SOLID como herramienta practica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SOLID no es una lista para memorizar, es un lente para detectar disenos fragiles. Aplicado con criterio, reduce impacto colateral, mejora testabilidad y acelera mantenimiento.</a:t>
            </a:r>
          </a:p>
          <a:p>
            <a:pPr>
              <a:defRPr sz="1500">
                <a:solidFill>
                  <a:srgbClr val="262D36"/>
                </a:solidFill>
              </a:defRPr>
            </a:pPr>
            <a:r>
              <a:t>Su valor real aparece cuando se conecta con problemas concretos: clases sobrecargadas, extensiones riesgosas o dependencias rigidas a implementaciones externas.</a:t>
            </a:r>
          </a:p>
          <a:p>
            <a:pPr>
              <a:defRPr sz="1500">
                <a:solidFill>
                  <a:srgbClr val="262D36"/>
                </a:solidFill>
              </a:defRPr>
            </a:pPr>
            <a:r>
              <a:t>Adoptarlo de forma pragmatica permite elevar calidad sin caer en ceremonias innecesarias.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SOLID como herramienta practica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Su valor real aparece cuando se conecta con problemas concretos: clases sobrecargadas, extensiones riesgosas o dependencias rigidas a implementaciones externas.</a:t>
            </a:r>
          </a:p>
          <a:p>
            <a:pPr>
              <a:defRPr sz="1400">
                <a:solidFill>
                  <a:srgbClr val="262D36"/>
                </a:solidFill>
              </a:defRPr>
            </a:pPr>
            <a:r>
              <a:t>Adoptarlo de forma pragmatica permite elevar calidad sin caer en ceremonias innecesarias.</a:t>
            </a:r>
          </a:p>
          <a:p>
            <a:pPr>
              <a:defRPr sz="1400">
                <a:solidFill>
                  <a:srgbClr val="262D36"/>
                </a:solidFill>
              </a:defRPr>
            </a:pPr>
            <a:r>
              <a:t>Caso transversal: Separar validacion de pedido, calculo de ruta y notific acion reduce acoplamiento y permite evolucion independiente de cada politica.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8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Separar validacion de pedido, calculo de ruta y notific acion reduce acoplamiento y permite evolucion independiente de cada politica.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SOLID como herramienta practica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Su valor real aparece cuando se conecta con problemas concretos: clases sobrecargadas, extensiones riesgosas o dependencias rigidas a implementaciones externas.</a:t>
            </a:r>
          </a:p>
          <a:p>
            <a:pPr>
              <a:defRPr sz="1400">
                <a:solidFill>
                  <a:srgbClr val="262D36"/>
                </a:solidFill>
              </a:defRPr>
            </a:pPr>
            <a:r>
              <a:t>Adoptarlo de forma pragmatica permite elevar calidad sin caer en ceremonias innecesarias.</a:t>
            </a:r>
          </a:p>
          <a:p>
            <a:pPr>
              <a:defRPr sz="1400">
                <a:solidFill>
                  <a:srgbClr val="262D36"/>
                </a:solidFill>
              </a:defRPr>
            </a:pPr>
            <a:r>
              <a:t>Caso transversal: Separar validacion de pedido, calculo de ruta y notific acion reduce acoplamiento y permite evolucion independiente de cada politica.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8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Separar validacion de pedido, calculo de ruta y notific acion reduce acoplamiento y permite evolucion independiente de cada politica.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Direccion de dependencias y limites del codigo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La direccion de dependencias define quien manda en el sistema. Cuando el dominio depende de tecnologia, cada cambio de plataforma impacta reglas de negocio.</a:t>
            </a:r>
          </a:p>
          <a:p>
            <a:pPr>
              <a:defRPr sz="1500">
                <a:solidFill>
                  <a:srgbClr val="262D36"/>
                </a:solidFill>
              </a:defRPr>
            </a:pPr>
            <a:r>
              <a:t>Con puertos y adaptadores, el dominio expresa necesidades y la infraestructura implementa detalles. Ese orden protege el nucleo frente a cambios externos.</a:t>
            </a:r>
          </a:p>
          <a:p>
            <a:pPr>
              <a:defRPr sz="1500">
                <a:solidFill>
                  <a:srgbClr val="262D36"/>
                </a:solidFill>
              </a:defRPr>
            </a:pPr>
            <a:r>
              <a:t>Este principio transforma arquitectura en una red de limites explicitos y evolutivos.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Direccion de dependencias y limites del codigo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Con puertos y adaptadores, el dominio expresa necesidades y la infraestructura implementa detalles. Ese orden protege el nucleo frente a cambios externos.</a:t>
            </a:r>
          </a:p>
          <a:p>
            <a:pPr>
              <a:defRPr sz="1400">
                <a:solidFill>
                  <a:srgbClr val="262D36"/>
                </a:solidFill>
              </a:defRPr>
            </a:pPr>
            <a:r>
              <a:t>Este principio transforma arquitectura en una red de limites explicitos y evolutivos.</a:t>
            </a:r>
          </a:p>
          <a:p>
            <a:pPr>
              <a:defRPr sz="1400">
                <a:solidFill>
                  <a:srgbClr val="262D36"/>
                </a:solidFill>
              </a:defRPr>
            </a:pPr>
            <a:r>
              <a:t>Caso transversal: El dominio solicita cobrar pedido por un puerto abstracto; un adaptador concreto integra el proveedor de pagos sin contaminar reglas centrales.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9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El dominio solicita cobrar pedido por un puerto abstracto; un adaptador concreto integra el proveedor de pagos sin contaminar reglas centrales.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Direccion de dependencias y limites del codigo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Con puertos y adaptadores, el dominio expresa necesidades y la infraestructura implementa detalles. Ese orden protege el nucleo frente a cambios externos.</a:t>
            </a:r>
          </a:p>
          <a:p>
            <a:pPr>
              <a:defRPr sz="1400">
                <a:solidFill>
                  <a:srgbClr val="262D36"/>
                </a:solidFill>
              </a:defRPr>
            </a:pPr>
            <a:r>
              <a:t>Este principio transforma arquitectura en una red de limites explicitos y evolutivos.</a:t>
            </a:r>
          </a:p>
          <a:p>
            <a:pPr>
              <a:defRPr sz="1400">
                <a:solidFill>
                  <a:srgbClr val="262D36"/>
                </a:solidFill>
              </a:defRPr>
            </a:pPr>
            <a:r>
              <a:t>Caso transversal: El dominio solicita cobrar pedido por un puerto abstracto; un adaptador concreto integra el proveedor de pagos sin contaminar reglas centrales.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19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El dominio solicita cobrar pedido por un puerto abstracto; un adaptador concreto integra el proveedor de pagos sin contaminar reglas centrales.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Patrones para problemas reales</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Un patron bien elegido reduce complejidad accidental. Un patron mal elegido agrega capas innecesarias y dificulta mantenimiento. La clave es partir del problema, no de la herramienta.</a:t>
            </a:r>
          </a:p>
          <a:p>
            <a:pPr>
              <a:defRPr sz="1500">
                <a:solidFill>
                  <a:srgbClr val="262D36"/>
                </a:solidFill>
              </a:defRPr>
            </a:pPr>
            <a:r>
              <a:t>Conviene comparar alternativa simple contra alternativa con patron y justificar el costo adicional solo cuando haya beneficio tangible en flexibilidad o estabilidad.</a:t>
            </a:r>
          </a:p>
          <a:p>
            <a:pPr>
              <a:defRPr sz="1500">
                <a:solidFill>
                  <a:srgbClr val="262D36"/>
                </a:solidFill>
              </a:defRPr>
            </a:pPr>
            <a:r>
              <a:t>La madurez arquitectonica no se mide por cantidad de patrones usados, sino por claridad de decisiones y capacidad de evolucion.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Patrones para problemas reales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Conviene comparar alternativa simple contra alternativa con patron y justificar el costo adicional solo cuando haya beneficio tangible en flexibilidad o estabilidad.</a:t>
            </a:r>
          </a:p>
          <a:p>
            <a:pPr>
              <a:defRPr sz="1400">
                <a:solidFill>
                  <a:srgbClr val="262D36"/>
                </a:solidFill>
              </a:defRPr>
            </a:pPr>
            <a:r>
              <a:t>La madurez arquitectonica no se mide por cantidad de patrones usados, sino por claridad de decisiones y capacidad de evolucion.</a:t>
            </a:r>
          </a:p>
          <a:p>
            <a:pPr>
              <a:defRPr sz="1400">
                <a:solidFill>
                  <a:srgbClr val="262D36"/>
                </a:solidFill>
              </a:defRPr>
            </a:pPr>
            <a:r>
              <a:t>Caso transversal: Adapter para aislar integraciones externas y Strategy para variar asignacion de rutas tienen sentido si realmente cambian politicas y proveedores con frecuencia.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20_slide_02.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Adapter para aislar integraciones externas y Strategy para variar asignacion de rutas tienen sentido si realmente cambian politicas y proveedores con frecuencia.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Patrones para problemas reales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Conviene comparar alternativa simple contra alternativa con patron y justificar el costo adicional solo cuando haya beneficio tangible en flexibilidad o estabilidad.</a:t>
            </a:r>
          </a:p>
          <a:p>
            <a:pPr>
              <a:defRPr sz="1400">
                <a:solidFill>
                  <a:srgbClr val="262D36"/>
                </a:solidFill>
              </a:defRPr>
            </a:pPr>
            <a:r>
              <a:t>La madurez arquitectonica no se mide por cantidad de patrones usados, sino por claridad de decisiones y capacidad de evolucion.</a:t>
            </a:r>
          </a:p>
          <a:p>
            <a:pPr>
              <a:defRPr sz="1400">
                <a:solidFill>
                  <a:srgbClr val="262D36"/>
                </a:solidFill>
              </a:defRPr>
            </a:pPr>
            <a:r>
              <a:t>Caso transversal: Adapter para aislar integraciones externas y Strategy para variar asignacion de rutas tienen sentido si realmente cambian politicas y proveedores con frecuencia.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20_slide_03.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Adapter para aislar integraciones externas y Strategy para variar asignacion de rutas tienen sentido si realmente cambian politicas y proveedores con frecuencia.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